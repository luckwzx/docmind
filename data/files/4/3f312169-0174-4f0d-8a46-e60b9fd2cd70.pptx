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embeddedFontLst>
    <p:embeddedFont>
      <p:font typeface="MiSans" pitchFamily="34" charset="-122"/>
      <p:regular r:id="rId34"/>
    </p:embeddedFont>
    <p:embeddedFont>
      <p:font typeface="MiSans" pitchFamily="34" charset="-120"/>
      <p:regular r:id="rId35"/>
    </p:embeddedFont>
    <p:embeddedFont>
      <p:font typeface="Noto Sans SC" panose="020B0200000000000000" pitchFamily="34" charset="-122"/>
      <p:regular r:id="rId36"/>
    </p:embeddedFont>
    <p:embeddedFont>
      <p:font typeface="Noto Sans SC" panose="020B0200000000000000" pitchFamily="34" charset="-120"/>
      <p:regular r:id="rId37"/>
    </p:embeddedFont>
    <p:embeddedFont>
      <p:font typeface="Liter" panose="02000503030000020004" pitchFamily="34" charset="0"/>
      <p:regular r:id="rId38"/>
    </p:embeddedFont>
    <p:embeddedFont>
      <p:font typeface="Liter" panose="02000503030000020004" pitchFamily="34" charset="-122"/>
      <p:regular r:id="rId39"/>
    </p:embeddedFont>
    <p:embeddedFont>
      <p:font typeface="Liter" panose="02000503030000020004" pitchFamily="34" charset="-120"/>
      <p:regular r:id="rId40"/>
    </p:embeddedFont>
    <p:embeddedFont>
      <p:font typeface="Calibri" panose="020F0502020204030204" charset="0"/>
      <p:regular r:id="rId41"/>
      <p:bold r:id="rId42"/>
      <p:italic r:id="rId43"/>
      <p:boldItalic r:id="rId44"/>
    </p:embeddedFont>
    <p:embeddedFont>
      <p:font typeface="微软雅黑" panose="020B0503020204020204" charset="-122"/>
      <p:regular r:id="rId45"/>
    </p:embeddedFont>
    <p:embeddedFont>
      <p:font typeface="微软雅黑" panose="020B0503020204020204" pitchFamily="34" charset="-120"/>
      <p:regular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font" Target="fonts/font13.fntdata"/><Relationship Id="rId45" Type="http://schemas.openxmlformats.org/officeDocument/2006/relationships/font" Target="fonts/font12.fntdata"/><Relationship Id="rId44" Type="http://schemas.openxmlformats.org/officeDocument/2006/relationships/font" Target="fonts/font11.fntdata"/><Relationship Id="rId43" Type="http://schemas.openxmlformats.org/officeDocument/2006/relationships/font" Target="fonts/font10.fntdata"/><Relationship Id="rId42" Type="http://schemas.openxmlformats.org/officeDocument/2006/relationships/font" Target="fonts/font9.fntdata"/><Relationship Id="rId41" Type="http://schemas.openxmlformats.org/officeDocument/2006/relationships/font" Target="fonts/font8.fntdata"/><Relationship Id="rId40" Type="http://schemas.openxmlformats.org/officeDocument/2006/relationships/font" Target="fonts/font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1" Type="http://schemas.openxmlformats.org/officeDocument/2006/relationships/notesSlide" Target="../notesSlides/notesSlide2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9-d2sggte1bb2p4onbon7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26745" y="6151880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魏正想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211695" y="6116955"/>
            <a:ext cx="4448810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汇报日期：2025/12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/29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1" name="Image 1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6745" y="2816860"/>
            <a:ext cx="7075805" cy="683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电商用户行为分析案例研究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4000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4000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609600" y="152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538163" y="15240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>
            <p:custDataLst>
              <p:tags r:id="rId6"/>
            </p:custDataLst>
          </p:nvPr>
        </p:nvSpPr>
        <p:spPr>
          <a:xfrm>
            <a:off x="1371600" y="1524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案例背景与业务挑战</a:t>
            </a:r>
            <a:endParaRPr lang="en-US" sz="1600" dirty="0"/>
          </a:p>
        </p:txBody>
      </p:sp>
      <p:sp>
        <p:nvSpPr>
          <p:cNvPr id="10" name="Text 7"/>
          <p:cNvSpPr/>
          <p:nvPr>
            <p:custDataLst>
              <p:tags r:id="rId7"/>
            </p:custDataLst>
          </p:nvPr>
        </p:nvSpPr>
        <p:spPr>
          <a:xfrm>
            <a:off x="1371600" y="1905000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电商平台用户行为分析需求与核心痛点</a:t>
            </a: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8"/>
            </p:custDataLst>
          </p:nvPr>
        </p:nvSpPr>
        <p:spPr>
          <a:xfrm>
            <a:off x="6191250" y="133350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9"/>
          <p:cNvSpPr/>
          <p:nvPr>
            <p:custDataLst>
              <p:tags r:id="rId9"/>
            </p:custDataLst>
          </p:nvPr>
        </p:nvSpPr>
        <p:spPr>
          <a:xfrm>
            <a:off x="6191250" y="133350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3" name="Shape 10"/>
          <p:cNvSpPr/>
          <p:nvPr>
            <p:custDataLst>
              <p:tags r:id="rId10"/>
            </p:custDataLst>
          </p:nvPr>
        </p:nvSpPr>
        <p:spPr>
          <a:xfrm>
            <a:off x="6400800" y="1524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4" name="Text 11"/>
          <p:cNvSpPr/>
          <p:nvPr>
            <p:custDataLst>
              <p:tags r:id="rId11"/>
            </p:custDataLst>
          </p:nvPr>
        </p:nvSpPr>
        <p:spPr>
          <a:xfrm>
            <a:off x="6329363" y="152400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>
            <p:custDataLst>
              <p:tags r:id="rId12"/>
            </p:custDataLst>
          </p:nvPr>
        </p:nvSpPr>
        <p:spPr>
          <a:xfrm>
            <a:off x="7162800" y="1524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算法选择与技术架构</a:t>
            </a:r>
            <a:endParaRPr lang="en-US" sz="1600" dirty="0"/>
          </a:p>
        </p:txBody>
      </p:sp>
      <p:sp>
        <p:nvSpPr>
          <p:cNvPr id="16" name="Text 13"/>
          <p:cNvSpPr/>
          <p:nvPr>
            <p:custDataLst>
              <p:tags r:id="rId13"/>
            </p:custDataLst>
          </p:nvPr>
        </p:nvSpPr>
        <p:spPr>
          <a:xfrm>
            <a:off x="7162800" y="1905000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三种算法的原理概述与技术方案设计</a:t>
            </a:r>
            <a:endParaRPr lang="en-US" sz="1600" dirty="0"/>
          </a:p>
        </p:txBody>
      </p:sp>
      <p:sp>
        <p:nvSpPr>
          <p:cNvPr id="17" name="Shape 14"/>
          <p:cNvSpPr/>
          <p:nvPr>
            <p:custDataLst>
              <p:tags r:id="rId14"/>
            </p:custDataLst>
          </p:nvPr>
        </p:nvSpPr>
        <p:spPr>
          <a:xfrm>
            <a:off x="4000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>
            <p:custDataLst>
              <p:tags r:id="rId15"/>
            </p:custDataLst>
          </p:nvPr>
        </p:nvSpPr>
        <p:spPr>
          <a:xfrm>
            <a:off x="4000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19" name="Shape 16"/>
          <p:cNvSpPr/>
          <p:nvPr>
            <p:custDataLst>
              <p:tags r:id="rId16"/>
            </p:custDataLst>
          </p:nvPr>
        </p:nvSpPr>
        <p:spPr>
          <a:xfrm>
            <a:off x="609600" y="28479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0" name="Text 17"/>
          <p:cNvSpPr/>
          <p:nvPr>
            <p:custDataLst>
              <p:tags r:id="rId17"/>
            </p:custDataLst>
          </p:nvPr>
        </p:nvSpPr>
        <p:spPr>
          <a:xfrm>
            <a:off x="538163" y="2847975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18"/>
            </p:custDataLst>
          </p:nvPr>
        </p:nvSpPr>
        <p:spPr>
          <a:xfrm>
            <a:off x="1371600" y="2847975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随机森林在推荐系统中的应用</a:t>
            </a:r>
            <a:endParaRPr lang="en-US" sz="1600" dirty="0"/>
          </a:p>
        </p:txBody>
      </p:sp>
      <p:sp>
        <p:nvSpPr>
          <p:cNvPr id="22" name="Text 19"/>
          <p:cNvSpPr/>
          <p:nvPr>
            <p:custDataLst>
              <p:tags r:id="rId19"/>
            </p:custDataLst>
          </p:nvPr>
        </p:nvSpPr>
        <p:spPr>
          <a:xfrm>
            <a:off x="1371600" y="3228975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个性化推荐系统的构建与效果评估</a:t>
            </a:r>
            <a:endParaRPr lang="en-US" sz="1600" dirty="0"/>
          </a:p>
        </p:txBody>
      </p:sp>
      <p:sp>
        <p:nvSpPr>
          <p:cNvPr id="23" name="Shape 20"/>
          <p:cNvSpPr/>
          <p:nvPr>
            <p:custDataLst>
              <p:tags r:id="rId20"/>
            </p:custDataLst>
          </p:nvPr>
        </p:nvSpPr>
        <p:spPr>
          <a:xfrm>
            <a:off x="6191250" y="265747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>
            <p:custDataLst>
              <p:tags r:id="rId21"/>
            </p:custDataLst>
          </p:nvPr>
        </p:nvSpPr>
        <p:spPr>
          <a:xfrm>
            <a:off x="6191250" y="265747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5" name="Shape 22"/>
          <p:cNvSpPr/>
          <p:nvPr>
            <p:custDataLst>
              <p:tags r:id="rId22"/>
            </p:custDataLst>
          </p:nvPr>
        </p:nvSpPr>
        <p:spPr>
          <a:xfrm>
            <a:off x="6400800" y="28479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6" name="Text 23"/>
          <p:cNvSpPr/>
          <p:nvPr>
            <p:custDataLst>
              <p:tags r:id="rId23"/>
            </p:custDataLst>
          </p:nvPr>
        </p:nvSpPr>
        <p:spPr>
          <a:xfrm>
            <a:off x="6329363" y="2847975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>
            <p:custDataLst>
              <p:tags r:id="rId24"/>
            </p:custDataLst>
          </p:nvPr>
        </p:nvSpPr>
        <p:spPr>
          <a:xfrm>
            <a:off x="7162800" y="2847975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SVM在用户异常检测中的应用</a:t>
            </a:r>
            <a:endParaRPr lang="en-US" sz="1600" dirty="0"/>
          </a:p>
        </p:txBody>
      </p:sp>
      <p:sp>
        <p:nvSpPr>
          <p:cNvPr id="28" name="Text 25"/>
          <p:cNvSpPr/>
          <p:nvPr>
            <p:custDataLst>
              <p:tags r:id="rId25"/>
            </p:custDataLst>
          </p:nvPr>
        </p:nvSpPr>
        <p:spPr>
          <a:xfrm>
            <a:off x="7162800" y="3228975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异常行为识别与安全防控</a:t>
            </a:r>
            <a:endParaRPr lang="en-US" sz="1600" dirty="0"/>
          </a:p>
        </p:txBody>
      </p:sp>
      <p:sp>
        <p:nvSpPr>
          <p:cNvPr id="29" name="Shape 26"/>
          <p:cNvSpPr/>
          <p:nvPr>
            <p:custDataLst>
              <p:tags r:id="rId26"/>
            </p:custDataLst>
          </p:nvPr>
        </p:nvSpPr>
        <p:spPr>
          <a:xfrm>
            <a:off x="4000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>
            <p:custDataLst>
              <p:tags r:id="rId27"/>
            </p:custDataLst>
          </p:nvPr>
        </p:nvSpPr>
        <p:spPr>
          <a:xfrm>
            <a:off x="4000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1" name="Shape 28"/>
          <p:cNvSpPr/>
          <p:nvPr>
            <p:custDataLst>
              <p:tags r:id="rId28"/>
            </p:custDataLst>
          </p:nvPr>
        </p:nvSpPr>
        <p:spPr>
          <a:xfrm>
            <a:off x="60960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2" name="Text 29"/>
          <p:cNvSpPr/>
          <p:nvPr>
            <p:custDataLst>
              <p:tags r:id="rId29"/>
            </p:custDataLst>
          </p:nvPr>
        </p:nvSpPr>
        <p:spPr>
          <a:xfrm>
            <a:off x="538163" y="41719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0"/>
          <p:cNvSpPr/>
          <p:nvPr>
            <p:custDataLst>
              <p:tags r:id="rId30"/>
            </p:custDataLst>
          </p:nvPr>
        </p:nvSpPr>
        <p:spPr>
          <a:xfrm>
            <a:off x="1371600" y="417195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神经网络在复购预测中的应用</a:t>
            </a:r>
            <a:endParaRPr lang="en-US" sz="1600" dirty="0"/>
          </a:p>
        </p:txBody>
      </p:sp>
      <p:sp>
        <p:nvSpPr>
          <p:cNvPr id="34" name="Text 31"/>
          <p:cNvSpPr/>
          <p:nvPr>
            <p:custDataLst>
              <p:tags r:id="rId31"/>
            </p:custDataLst>
          </p:nvPr>
        </p:nvSpPr>
        <p:spPr>
          <a:xfrm>
            <a:off x="1371600" y="4552950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用户复购意向预测与精准营销</a:t>
            </a:r>
            <a:endParaRPr lang="en-US" sz="1600" dirty="0"/>
          </a:p>
        </p:txBody>
      </p:sp>
      <p:sp>
        <p:nvSpPr>
          <p:cNvPr id="35" name="Shape 32"/>
          <p:cNvSpPr/>
          <p:nvPr>
            <p:custDataLst>
              <p:tags r:id="rId32"/>
            </p:custDataLst>
          </p:nvPr>
        </p:nvSpPr>
        <p:spPr>
          <a:xfrm>
            <a:off x="6191250" y="3981450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>
            <p:custDataLst>
              <p:tags r:id="rId33"/>
            </p:custDataLst>
          </p:nvPr>
        </p:nvSpPr>
        <p:spPr>
          <a:xfrm>
            <a:off x="6191250" y="3981450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7" name="Shape 34"/>
          <p:cNvSpPr/>
          <p:nvPr>
            <p:custDataLst>
              <p:tags r:id="rId34"/>
            </p:custDataLst>
          </p:nvPr>
        </p:nvSpPr>
        <p:spPr>
          <a:xfrm>
            <a:off x="640080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8" name="Text 35"/>
          <p:cNvSpPr/>
          <p:nvPr>
            <p:custDataLst>
              <p:tags r:id="rId35"/>
            </p:custDataLst>
          </p:nvPr>
        </p:nvSpPr>
        <p:spPr>
          <a:xfrm>
            <a:off x="6329363" y="4171950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6"/>
          <p:cNvSpPr/>
          <p:nvPr>
            <p:custDataLst>
              <p:tags r:id="rId36"/>
            </p:custDataLst>
          </p:nvPr>
        </p:nvSpPr>
        <p:spPr>
          <a:xfrm>
            <a:off x="7162800" y="417195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算法性能对比分析</a:t>
            </a:r>
            <a:endParaRPr lang="en-US" sz="1600" dirty="0"/>
          </a:p>
        </p:txBody>
      </p:sp>
      <p:sp>
        <p:nvSpPr>
          <p:cNvPr id="40" name="Text 37"/>
          <p:cNvSpPr/>
          <p:nvPr>
            <p:custDataLst>
              <p:tags r:id="rId37"/>
            </p:custDataLst>
          </p:nvPr>
        </p:nvSpPr>
        <p:spPr>
          <a:xfrm>
            <a:off x="7162800" y="4552950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三种算法的综合评估与适用场景</a:t>
            </a:r>
            <a:endParaRPr lang="en-US" sz="1600" dirty="0"/>
          </a:p>
        </p:txBody>
      </p:sp>
      <p:sp>
        <p:nvSpPr>
          <p:cNvPr id="41" name="Shape 38"/>
          <p:cNvSpPr/>
          <p:nvPr>
            <p:custDataLst>
              <p:tags r:id="rId38"/>
            </p:custDataLst>
          </p:nvPr>
        </p:nvSpPr>
        <p:spPr>
          <a:xfrm>
            <a:off x="400050" y="530542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39"/>
          <p:cNvSpPr/>
          <p:nvPr>
            <p:custDataLst>
              <p:tags r:id="rId39"/>
            </p:custDataLst>
          </p:nvPr>
        </p:nvSpPr>
        <p:spPr>
          <a:xfrm>
            <a:off x="400050" y="530542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3" name="Shape 40"/>
          <p:cNvSpPr/>
          <p:nvPr>
            <p:custDataLst>
              <p:tags r:id="rId40"/>
            </p:custDataLst>
          </p:nvPr>
        </p:nvSpPr>
        <p:spPr>
          <a:xfrm>
            <a:off x="609600" y="54959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4" name="Text 41"/>
          <p:cNvSpPr/>
          <p:nvPr>
            <p:custDataLst>
              <p:tags r:id="rId41"/>
            </p:custDataLst>
          </p:nvPr>
        </p:nvSpPr>
        <p:spPr>
          <a:xfrm>
            <a:off x="538163" y="5495925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2"/>
          <p:cNvSpPr/>
          <p:nvPr>
            <p:custDataLst>
              <p:tags r:id="rId42"/>
            </p:custDataLst>
          </p:nvPr>
        </p:nvSpPr>
        <p:spPr>
          <a:xfrm>
            <a:off x="1371600" y="5495925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技术实现细节</a:t>
            </a:r>
            <a:endParaRPr lang="en-US" sz="1600" dirty="0"/>
          </a:p>
        </p:txBody>
      </p:sp>
      <p:sp>
        <p:nvSpPr>
          <p:cNvPr id="46" name="Text 43"/>
          <p:cNvSpPr/>
          <p:nvPr>
            <p:custDataLst>
              <p:tags r:id="rId43"/>
            </p:custDataLst>
          </p:nvPr>
        </p:nvSpPr>
        <p:spPr>
          <a:xfrm>
            <a:off x="1371600" y="5876925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数据处理、模型训练与部署的关键要点</a:t>
            </a:r>
            <a:endParaRPr lang="en-US" sz="1600" dirty="0"/>
          </a:p>
        </p:txBody>
      </p:sp>
      <p:sp>
        <p:nvSpPr>
          <p:cNvPr id="47" name="Shape 44"/>
          <p:cNvSpPr/>
          <p:nvPr>
            <p:custDataLst>
              <p:tags r:id="rId44"/>
            </p:custDataLst>
          </p:nvPr>
        </p:nvSpPr>
        <p:spPr>
          <a:xfrm>
            <a:off x="6191250" y="5305425"/>
            <a:ext cx="5619750" cy="1171575"/>
          </a:xfrm>
          <a:custGeom>
            <a:avLst/>
            <a:gdLst/>
            <a:ahLst/>
            <a:cxnLst/>
            <a:rect l="l" t="t" r="r" b="b"/>
            <a:pathLst>
              <a:path w="5619750" h="1171575">
                <a:moveTo>
                  <a:pt x="3810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1057276"/>
                </a:lnTo>
                <a:cubicBezTo>
                  <a:pt x="5619750" y="1120402"/>
                  <a:pt x="5568577" y="1171575"/>
                  <a:pt x="5505451" y="1171575"/>
                </a:cubicBezTo>
                <a:lnTo>
                  <a:pt x="38100" y="1171575"/>
                </a:lnTo>
                <a:cubicBezTo>
                  <a:pt x="17058" y="1171575"/>
                  <a:pt x="0" y="1154517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5"/>
          <p:cNvSpPr/>
          <p:nvPr>
            <p:custDataLst>
              <p:tags r:id="rId45"/>
            </p:custDataLst>
          </p:nvPr>
        </p:nvSpPr>
        <p:spPr>
          <a:xfrm>
            <a:off x="6191250" y="5305425"/>
            <a:ext cx="38100" cy="1171575"/>
          </a:xfrm>
          <a:custGeom>
            <a:avLst/>
            <a:gdLst/>
            <a:ahLst/>
            <a:cxnLst/>
            <a:rect l="l" t="t" r="r" b="b"/>
            <a:pathLst>
              <a:path w="38100" h="1171575">
                <a:moveTo>
                  <a:pt x="38100" y="0"/>
                </a:moveTo>
                <a:lnTo>
                  <a:pt x="38100" y="0"/>
                </a:lnTo>
                <a:lnTo>
                  <a:pt x="38100" y="1171575"/>
                </a:lnTo>
                <a:lnTo>
                  <a:pt x="38100" y="1171575"/>
                </a:lnTo>
                <a:cubicBezTo>
                  <a:pt x="17072" y="1171575"/>
                  <a:pt x="0" y="1154503"/>
                  <a:pt x="0" y="11334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9" name="Shape 46"/>
          <p:cNvSpPr/>
          <p:nvPr>
            <p:custDataLst>
              <p:tags r:id="rId46"/>
            </p:custDataLst>
          </p:nvPr>
        </p:nvSpPr>
        <p:spPr>
          <a:xfrm>
            <a:off x="6400800" y="54959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0" name="Text 47"/>
          <p:cNvSpPr/>
          <p:nvPr>
            <p:custDataLst>
              <p:tags r:id="rId47"/>
            </p:custDataLst>
          </p:nvPr>
        </p:nvSpPr>
        <p:spPr>
          <a:xfrm>
            <a:off x="6329363" y="5495925"/>
            <a:ext cx="752475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8"/>
          <p:cNvSpPr/>
          <p:nvPr>
            <p:custDataLst>
              <p:tags r:id="rId48"/>
            </p:custDataLst>
          </p:nvPr>
        </p:nvSpPr>
        <p:spPr>
          <a:xfrm>
            <a:off x="7162800" y="5495925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业务价值与展望</a:t>
            </a:r>
            <a:endParaRPr lang="en-US" sz="1600" dirty="0"/>
          </a:p>
        </p:txBody>
      </p:sp>
      <p:sp>
        <p:nvSpPr>
          <p:cNvPr id="52" name="Text 49"/>
          <p:cNvSpPr/>
          <p:nvPr>
            <p:custDataLst>
              <p:tags r:id="rId49"/>
            </p:custDataLst>
          </p:nvPr>
        </p:nvSpPr>
        <p:spPr>
          <a:xfrm>
            <a:off x="7162800" y="5876925"/>
            <a:ext cx="453390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项目成果总结与未来发展方向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31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 案例背景与业务挑战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BUSINESS SCENARIOS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电商平台用户行为分析的核心场景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1238250"/>
            <a:ext cx="5619750" cy="2533650"/>
          </a:xfrm>
          <a:custGeom>
            <a:avLst/>
            <a:gdLst/>
            <a:ahLst/>
            <a:cxnLst/>
            <a:rect l="l" t="t" r="r" b="b"/>
            <a:pathLst>
              <a:path w="5619750" h="25336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419357"/>
                </a:lnTo>
                <a:cubicBezTo>
                  <a:pt x="5619750" y="2482479"/>
                  <a:pt x="5568579" y="2533650"/>
                  <a:pt x="55054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81000" y="12382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Shape 4"/>
          <p:cNvSpPr/>
          <p:nvPr/>
        </p:nvSpPr>
        <p:spPr>
          <a:xfrm>
            <a:off x="57150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" name="Shape 5"/>
          <p:cNvSpPr/>
          <p:nvPr/>
        </p:nvSpPr>
        <p:spPr>
          <a:xfrm>
            <a:off x="695325" y="1600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60722" y="57150"/>
                </a:moveTo>
                <a:cubicBezTo>
                  <a:pt x="60722" y="27579"/>
                  <a:pt x="84729" y="3572"/>
                  <a:pt x="114300" y="3572"/>
                </a:cubicBezTo>
                <a:cubicBezTo>
                  <a:pt x="143871" y="3572"/>
                  <a:pt x="167878" y="27579"/>
                  <a:pt x="167878" y="57150"/>
                </a:cubicBezTo>
                <a:cubicBezTo>
                  <a:pt x="167878" y="86721"/>
                  <a:pt x="143871" y="110728"/>
                  <a:pt x="114300" y="110728"/>
                </a:cubicBezTo>
                <a:cubicBezTo>
                  <a:pt x="84729" y="110728"/>
                  <a:pt x="60722" y="86721"/>
                  <a:pt x="60722" y="57150"/>
                </a:cubicBezTo>
                <a:close/>
                <a:moveTo>
                  <a:pt x="21431" y="215339"/>
                </a:moveTo>
                <a:cubicBezTo>
                  <a:pt x="21431" y="171361"/>
                  <a:pt x="57061" y="135731"/>
                  <a:pt x="101039" y="135731"/>
                </a:cubicBezTo>
                <a:lnTo>
                  <a:pt x="127561" y="135731"/>
                </a:lnTo>
                <a:cubicBezTo>
                  <a:pt x="171539" y="135731"/>
                  <a:pt x="207169" y="171361"/>
                  <a:pt x="207169" y="215339"/>
                </a:cubicBezTo>
                <a:cubicBezTo>
                  <a:pt x="207169" y="222662"/>
                  <a:pt x="201231" y="228600"/>
                  <a:pt x="193908" y="228600"/>
                </a:cubicBezTo>
                <a:lnTo>
                  <a:pt x="34692" y="228600"/>
                </a:lnTo>
                <a:cubicBezTo>
                  <a:pt x="27369" y="228600"/>
                  <a:pt x="21431" y="222662"/>
                  <a:pt x="21431" y="215339"/>
                </a:cubicBezTo>
                <a:close/>
                <a:moveTo>
                  <a:pt x="273427" y="59248"/>
                </a:moveTo>
                <a:lnTo>
                  <a:pt x="237708" y="116398"/>
                </a:lnTo>
                <a:cubicBezTo>
                  <a:pt x="235833" y="119390"/>
                  <a:pt x="232618" y="121265"/>
                  <a:pt x="229091" y="121444"/>
                </a:cubicBezTo>
                <a:cubicBezTo>
                  <a:pt x="225564" y="121622"/>
                  <a:pt x="222171" y="120015"/>
                  <a:pt x="220072" y="117157"/>
                </a:cubicBezTo>
                <a:lnTo>
                  <a:pt x="198641" y="88582"/>
                </a:lnTo>
                <a:cubicBezTo>
                  <a:pt x="195069" y="83850"/>
                  <a:pt x="196051" y="77152"/>
                  <a:pt x="200784" y="73581"/>
                </a:cubicBezTo>
                <a:cubicBezTo>
                  <a:pt x="205517" y="70009"/>
                  <a:pt x="212214" y="70991"/>
                  <a:pt x="215786" y="75724"/>
                </a:cubicBezTo>
                <a:lnTo>
                  <a:pt x="227841" y="91797"/>
                </a:lnTo>
                <a:lnTo>
                  <a:pt x="255255" y="47908"/>
                </a:lnTo>
                <a:cubicBezTo>
                  <a:pt x="258381" y="42907"/>
                  <a:pt x="264988" y="41344"/>
                  <a:pt x="270034" y="44514"/>
                </a:cubicBezTo>
                <a:cubicBezTo>
                  <a:pt x="275079" y="47685"/>
                  <a:pt x="276597" y="54248"/>
                  <a:pt x="273427" y="5929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1219200" y="15621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用户个性化推荐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2133600"/>
            <a:ext cx="531495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基于用户历史行为数据，构建个性化推荐系统，提升用户体验和转化率。通过机器学习算法分析用户的浏览、点击、购买等行为模式，预测用户对商品的兴趣程度。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1500" y="30289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571500" y="302895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协同过滤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485900" y="30289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1485900" y="302895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内容推荐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400300" y="30289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2400300" y="302895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1000" y="3943350"/>
            <a:ext cx="5619750" cy="2533650"/>
          </a:xfrm>
          <a:custGeom>
            <a:avLst/>
            <a:gdLst/>
            <a:ahLst/>
            <a:cxnLst/>
            <a:rect l="l" t="t" r="r" b="b"/>
            <a:pathLst>
              <a:path w="5619750" h="25336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419357"/>
                </a:lnTo>
                <a:cubicBezTo>
                  <a:pt x="5619750" y="2482479"/>
                  <a:pt x="5568579" y="2533650"/>
                  <a:pt x="5505457" y="2533650"/>
                </a:cubicBezTo>
                <a:lnTo>
                  <a:pt x="114293" y="2533650"/>
                </a:lnTo>
                <a:cubicBezTo>
                  <a:pt x="51171" y="2533650"/>
                  <a:pt x="0" y="2482479"/>
                  <a:pt x="0" y="241935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81000" y="39433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9" name="Shape 16"/>
          <p:cNvSpPr/>
          <p:nvPr/>
        </p:nvSpPr>
        <p:spPr>
          <a:xfrm>
            <a:off x="571500" y="4152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0" name="Shape 17"/>
          <p:cNvSpPr/>
          <p:nvPr/>
        </p:nvSpPr>
        <p:spPr>
          <a:xfrm>
            <a:off x="723900" y="4305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8"/>
          <p:cNvSpPr/>
          <p:nvPr/>
        </p:nvSpPr>
        <p:spPr>
          <a:xfrm>
            <a:off x="1219200" y="42672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异常行为识别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1500" y="4838700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识别刷单、虚假交易、账户盗用等异常行为，保障平台安全。通过异常检测算法实时监控用户行为，及时发现潜在风险，降低平台损失。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71500" y="54864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571500" y="54864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485900" y="54864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1485900" y="54864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风险控制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400300" y="54864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2400300" y="54864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91250" y="1238250"/>
            <a:ext cx="5619750" cy="2105025"/>
          </a:xfrm>
          <a:custGeom>
            <a:avLst/>
            <a:gdLst/>
            <a:ahLst/>
            <a:cxnLst/>
            <a:rect l="l" t="t" r="r" b="b"/>
            <a:pathLst>
              <a:path w="5619750" h="2105025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1990722"/>
                </a:lnTo>
                <a:cubicBezTo>
                  <a:pt x="5619750" y="2053808"/>
                  <a:pt x="5568533" y="2105025"/>
                  <a:pt x="5505447" y="2105025"/>
                </a:cubicBezTo>
                <a:lnTo>
                  <a:pt x="114303" y="2105025"/>
                </a:lnTo>
                <a:cubicBezTo>
                  <a:pt x="51217" y="2105025"/>
                  <a:pt x="0" y="2053808"/>
                  <a:pt x="0" y="199072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91250" y="12382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1" name="Shape 28"/>
          <p:cNvSpPr/>
          <p:nvPr/>
        </p:nvSpPr>
        <p:spPr>
          <a:xfrm>
            <a:off x="63817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2" name="Shape 29"/>
          <p:cNvSpPr/>
          <p:nvPr/>
        </p:nvSpPr>
        <p:spPr>
          <a:xfrm>
            <a:off x="653415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0"/>
          <p:cNvSpPr/>
          <p:nvPr/>
        </p:nvSpPr>
        <p:spPr>
          <a:xfrm>
            <a:off x="7029450" y="1562100"/>
            <a:ext cx="1485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复购行为预测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81750" y="2133600"/>
            <a:ext cx="5314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预测用户未来是否再次购买，制定精准营销策略提升客户留存。通过分析用户购买周期、行为偏好等特征，提前识别高价值用户和流失风险用户。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81750" y="27813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6381750" y="27813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购买预测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296150" y="27813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7296150" y="27813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客户留存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10550" y="27813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8210550" y="2781300"/>
            <a:ext cx="914400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精准营销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94425" y="3495676"/>
            <a:ext cx="5616575" cy="2978150"/>
          </a:xfrm>
          <a:custGeom>
            <a:avLst/>
            <a:gdLst/>
            <a:ahLst/>
            <a:cxnLst/>
            <a:rect l="l" t="t" r="r" b="b"/>
            <a:pathLst>
              <a:path w="5616575" h="2978150">
                <a:moveTo>
                  <a:pt x="114301" y="0"/>
                </a:moveTo>
                <a:lnTo>
                  <a:pt x="5502274" y="0"/>
                </a:lnTo>
                <a:cubicBezTo>
                  <a:pt x="5565401" y="0"/>
                  <a:pt x="5616575" y="51174"/>
                  <a:pt x="5616575" y="114301"/>
                </a:cubicBezTo>
                <a:lnTo>
                  <a:pt x="5616575" y="2863849"/>
                </a:lnTo>
                <a:cubicBezTo>
                  <a:pt x="5616575" y="2926976"/>
                  <a:pt x="5565401" y="2978150"/>
                  <a:pt x="5502274" y="2978150"/>
                </a:cubicBezTo>
                <a:lnTo>
                  <a:pt x="114301" y="2978150"/>
                </a:lnTo>
                <a:cubicBezTo>
                  <a:pt x="51174" y="2978150"/>
                  <a:pt x="0" y="2926976"/>
                  <a:pt x="0" y="2863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88100" y="3689352"/>
            <a:ext cx="5324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数据特点与挑战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422628" y="414655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4" name="Text 41"/>
          <p:cNvSpPr/>
          <p:nvPr/>
        </p:nvSpPr>
        <p:spPr>
          <a:xfrm>
            <a:off x="6716713" y="4108452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高维度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716713" y="4337052"/>
            <a:ext cx="3276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用户特征、商品特征、交互特征维度高达数百个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11913" y="47180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7097E5"/>
          </a:solidFill>
        </p:spPr>
      </p:sp>
      <p:sp>
        <p:nvSpPr>
          <p:cNvPr id="47" name="Text 44"/>
          <p:cNvSpPr/>
          <p:nvPr/>
        </p:nvSpPr>
        <p:spPr>
          <a:xfrm>
            <a:off x="6716713" y="4679952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大规模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716713" y="4908552"/>
            <a:ext cx="3581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日活跃用户千万级，行为数据亿级，需要分布式处理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411913" y="52895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8FA7D0"/>
          </a:solidFill>
        </p:spPr>
      </p:sp>
      <p:sp>
        <p:nvSpPr>
          <p:cNvPr id="50" name="Text 47"/>
          <p:cNvSpPr/>
          <p:nvPr/>
        </p:nvSpPr>
        <p:spPr>
          <a:xfrm>
            <a:off x="6716713" y="5251452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716713" y="5480052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用户行为模式复杂，需要非线性模型捕捉特征关系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11913" y="586105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3" name="Text 50"/>
          <p:cNvSpPr/>
          <p:nvPr/>
        </p:nvSpPr>
        <p:spPr>
          <a:xfrm>
            <a:off x="6716713" y="5822952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实时性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716713" y="6051552"/>
            <a:ext cx="2819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推荐系统毫秒级响应，异常检测实时监控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案例选择：三种算法的应用场景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375" y="1016000"/>
            <a:ext cx="6627813" cy="1730375"/>
          </a:xfrm>
          <a:custGeom>
            <a:avLst/>
            <a:gdLst/>
            <a:ahLst/>
            <a:cxnLst/>
            <a:rect l="l" t="t" r="r" b="b"/>
            <a:pathLst>
              <a:path w="6627813" h="1730375">
                <a:moveTo>
                  <a:pt x="31750" y="0"/>
                </a:moveTo>
                <a:lnTo>
                  <a:pt x="6532555" y="0"/>
                </a:lnTo>
                <a:cubicBezTo>
                  <a:pt x="6585164" y="0"/>
                  <a:pt x="6627813" y="42648"/>
                  <a:pt x="6627813" y="95257"/>
                </a:cubicBezTo>
                <a:lnTo>
                  <a:pt x="6627813" y="1635118"/>
                </a:lnTo>
                <a:cubicBezTo>
                  <a:pt x="6627813" y="1687727"/>
                  <a:pt x="6585164" y="1730375"/>
                  <a:pt x="6532555" y="1730375"/>
                </a:cubicBezTo>
                <a:lnTo>
                  <a:pt x="31750" y="1730375"/>
                </a:lnTo>
                <a:cubicBezTo>
                  <a:pt x="14215" y="1730375"/>
                  <a:pt x="0" y="1716160"/>
                  <a:pt x="0" y="1698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33375" y="1016000"/>
            <a:ext cx="31750" cy="1730375"/>
          </a:xfrm>
          <a:custGeom>
            <a:avLst/>
            <a:gdLst/>
            <a:ahLst/>
            <a:cxnLst/>
            <a:rect l="l" t="t" r="r" b="b"/>
            <a:pathLst>
              <a:path w="31750" h="1730375">
                <a:moveTo>
                  <a:pt x="31750" y="0"/>
                </a:moveTo>
                <a:lnTo>
                  <a:pt x="31750" y="0"/>
                </a:lnTo>
                <a:lnTo>
                  <a:pt x="31750" y="1730375"/>
                </a:lnTo>
                <a:lnTo>
                  <a:pt x="31750" y="1730375"/>
                </a:lnTo>
                <a:cubicBezTo>
                  <a:pt x="14227" y="1730375"/>
                  <a:pt x="0" y="1716148"/>
                  <a:pt x="0" y="16986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Shape 4"/>
          <p:cNvSpPr/>
          <p:nvPr/>
        </p:nvSpPr>
        <p:spPr>
          <a:xfrm>
            <a:off x="508000" y="1174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" name="Text 5"/>
          <p:cNvSpPr/>
          <p:nvPr/>
        </p:nvSpPr>
        <p:spPr>
          <a:xfrm>
            <a:off x="448469" y="1174750"/>
            <a:ext cx="62706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1174750"/>
            <a:ext cx="5754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 → 个性化推荐系统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1524000"/>
            <a:ext cx="5722938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基于用户历史行为数据，构建个性化推荐引擎，预测用户对商品的兴趣程度，实现精准推荐。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2032000"/>
            <a:ext cx="57229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核心优势：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处理高维数据能力强、无需特征选择、可解释性好、训练速度快，适合大规模推荐场景。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3000" y="2333625"/>
            <a:ext cx="825500" cy="254000"/>
          </a:xfrm>
          <a:custGeom>
            <a:avLst/>
            <a:gdLst/>
            <a:ahLst/>
            <a:cxnLst/>
            <a:rect l="l" t="t" r="r" b="b"/>
            <a:pathLst>
              <a:path w="825500" h="254000">
                <a:moveTo>
                  <a:pt x="127000" y="0"/>
                </a:moveTo>
                <a:lnTo>
                  <a:pt x="698500" y="0"/>
                </a:lnTo>
                <a:cubicBezTo>
                  <a:pt x="768593" y="0"/>
                  <a:pt x="825500" y="56907"/>
                  <a:pt x="825500" y="127000"/>
                </a:cubicBezTo>
                <a:lnTo>
                  <a:pt x="825500" y="127000"/>
                </a:lnTo>
                <a:cubicBezTo>
                  <a:pt x="825500" y="197093"/>
                  <a:pt x="768593" y="254000"/>
                  <a:pt x="6985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1143000" y="2333625"/>
            <a:ext cx="889000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准确率92%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029106" y="2333625"/>
            <a:ext cx="769938" cy="254000"/>
          </a:xfrm>
          <a:custGeom>
            <a:avLst/>
            <a:gdLst/>
            <a:ahLst/>
            <a:cxnLst/>
            <a:rect l="l" t="t" r="r" b="b"/>
            <a:pathLst>
              <a:path w="769938" h="254000">
                <a:moveTo>
                  <a:pt x="127000" y="0"/>
                </a:moveTo>
                <a:lnTo>
                  <a:pt x="642938" y="0"/>
                </a:lnTo>
                <a:cubicBezTo>
                  <a:pt x="713031" y="0"/>
                  <a:pt x="769938" y="56907"/>
                  <a:pt x="769938" y="127000"/>
                </a:cubicBezTo>
                <a:lnTo>
                  <a:pt x="769938" y="127000"/>
                </a:lnTo>
                <a:cubicBezTo>
                  <a:pt x="769938" y="197093"/>
                  <a:pt x="713031" y="254000"/>
                  <a:pt x="6429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2029106" y="2333625"/>
            <a:ext cx="833438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F1值0.758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3375" y="2873375"/>
            <a:ext cx="6627813" cy="1524000"/>
          </a:xfrm>
          <a:custGeom>
            <a:avLst/>
            <a:gdLst/>
            <a:ahLst/>
            <a:cxnLst/>
            <a:rect l="l" t="t" r="r" b="b"/>
            <a:pathLst>
              <a:path w="6627813" h="1524000">
                <a:moveTo>
                  <a:pt x="31750" y="0"/>
                </a:moveTo>
                <a:lnTo>
                  <a:pt x="6532563" y="0"/>
                </a:lnTo>
                <a:cubicBezTo>
                  <a:pt x="6585132" y="0"/>
                  <a:pt x="6627813" y="42680"/>
                  <a:pt x="6627813" y="95250"/>
                </a:cubicBezTo>
                <a:lnTo>
                  <a:pt x="6627813" y="1428750"/>
                </a:lnTo>
                <a:cubicBezTo>
                  <a:pt x="6627813" y="1481320"/>
                  <a:pt x="6585132" y="1524000"/>
                  <a:pt x="6532563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375" y="2873375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8" name="Shape 15"/>
          <p:cNvSpPr/>
          <p:nvPr/>
        </p:nvSpPr>
        <p:spPr>
          <a:xfrm>
            <a:off x="508000" y="30321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9" name="Text 16"/>
          <p:cNvSpPr/>
          <p:nvPr/>
        </p:nvSpPr>
        <p:spPr>
          <a:xfrm>
            <a:off x="448469" y="3032125"/>
            <a:ext cx="62706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SVM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43000" y="3032125"/>
            <a:ext cx="5754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支持向量机 → 异常行为检测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3381375"/>
            <a:ext cx="57229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识别刷单、虚假交易、账户盗用等异常行为，保障平台安全，降低经济损失。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43000" y="3683000"/>
            <a:ext cx="57229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核心优势：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适合高维数据、泛化能力强、对小样本学习效果好，通过核函数处理非线性问题。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43000" y="3984625"/>
            <a:ext cx="833438" cy="254000"/>
          </a:xfrm>
          <a:custGeom>
            <a:avLst/>
            <a:gdLst/>
            <a:ahLst/>
            <a:cxnLst/>
            <a:rect l="l" t="t" r="r" b="b"/>
            <a:pathLst>
              <a:path w="833438" h="254000">
                <a:moveTo>
                  <a:pt x="127000" y="0"/>
                </a:moveTo>
                <a:lnTo>
                  <a:pt x="706438" y="0"/>
                </a:lnTo>
                <a:cubicBezTo>
                  <a:pt x="776531" y="0"/>
                  <a:pt x="833438" y="56907"/>
                  <a:pt x="833438" y="127000"/>
                </a:cubicBezTo>
                <a:lnTo>
                  <a:pt x="833438" y="127000"/>
                </a:lnTo>
                <a:cubicBezTo>
                  <a:pt x="833438" y="197093"/>
                  <a:pt x="776531" y="254000"/>
                  <a:pt x="7064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1143000" y="3984625"/>
            <a:ext cx="896938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F1分数0.93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036630" y="3984625"/>
            <a:ext cx="825500" cy="254000"/>
          </a:xfrm>
          <a:custGeom>
            <a:avLst/>
            <a:gdLst/>
            <a:ahLst/>
            <a:cxnLst/>
            <a:rect l="l" t="t" r="r" b="b"/>
            <a:pathLst>
              <a:path w="825500" h="254000">
                <a:moveTo>
                  <a:pt x="127000" y="0"/>
                </a:moveTo>
                <a:lnTo>
                  <a:pt x="698500" y="0"/>
                </a:lnTo>
                <a:cubicBezTo>
                  <a:pt x="768593" y="0"/>
                  <a:pt x="825500" y="56907"/>
                  <a:pt x="825500" y="127000"/>
                </a:cubicBezTo>
                <a:lnTo>
                  <a:pt x="825500" y="127000"/>
                </a:lnTo>
                <a:cubicBezTo>
                  <a:pt x="825500" y="197093"/>
                  <a:pt x="768593" y="254000"/>
                  <a:pt x="6985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2036630" y="3984625"/>
            <a:ext cx="889000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精确率99%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33375" y="4524375"/>
            <a:ext cx="6627813" cy="1524000"/>
          </a:xfrm>
          <a:custGeom>
            <a:avLst/>
            <a:gdLst/>
            <a:ahLst/>
            <a:cxnLst/>
            <a:rect l="l" t="t" r="r" b="b"/>
            <a:pathLst>
              <a:path w="6627813" h="1524000">
                <a:moveTo>
                  <a:pt x="31750" y="0"/>
                </a:moveTo>
                <a:lnTo>
                  <a:pt x="6532563" y="0"/>
                </a:lnTo>
                <a:cubicBezTo>
                  <a:pt x="6585132" y="0"/>
                  <a:pt x="6627813" y="42680"/>
                  <a:pt x="6627813" y="95250"/>
                </a:cubicBezTo>
                <a:lnTo>
                  <a:pt x="6627813" y="1428750"/>
                </a:lnTo>
                <a:cubicBezTo>
                  <a:pt x="6627813" y="1481320"/>
                  <a:pt x="6585132" y="1524000"/>
                  <a:pt x="6532563" y="1524000"/>
                </a:cubicBezTo>
                <a:lnTo>
                  <a:pt x="31750" y="1524000"/>
                </a:lnTo>
                <a:cubicBezTo>
                  <a:pt x="14215" y="1524000"/>
                  <a:pt x="0" y="1509785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375" y="4524375"/>
            <a:ext cx="31750" cy="1524000"/>
          </a:xfrm>
          <a:custGeom>
            <a:avLst/>
            <a:gdLst/>
            <a:ahLst/>
            <a:cxnLst/>
            <a:rect l="l" t="t" r="r" b="b"/>
            <a:pathLst>
              <a:path w="31750" h="1524000">
                <a:moveTo>
                  <a:pt x="31750" y="0"/>
                </a:moveTo>
                <a:lnTo>
                  <a:pt x="31750" y="0"/>
                </a:lnTo>
                <a:lnTo>
                  <a:pt x="31750" y="1524000"/>
                </a:lnTo>
                <a:lnTo>
                  <a:pt x="31750" y="1524000"/>
                </a:lnTo>
                <a:cubicBezTo>
                  <a:pt x="14227" y="1524000"/>
                  <a:pt x="0" y="1509773"/>
                  <a:pt x="0" y="149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9" name="Shape 26"/>
          <p:cNvSpPr/>
          <p:nvPr/>
        </p:nvSpPr>
        <p:spPr>
          <a:xfrm>
            <a:off x="508000" y="4683125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0" name="Text 27"/>
          <p:cNvSpPr/>
          <p:nvPr/>
        </p:nvSpPr>
        <p:spPr>
          <a:xfrm>
            <a:off x="448469" y="4683125"/>
            <a:ext cx="627063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3000" y="4683125"/>
            <a:ext cx="5754688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 → 复购行为预测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43000" y="5032375"/>
            <a:ext cx="57229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应用场景：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预测用户未来是否再次购买，识别高价值用户和流失风险用户，制定精准营销策略。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143000" y="5334000"/>
            <a:ext cx="5722938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核心优势：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强大的非线性建模能力、自动特征学习、适合大规模数据，预测准确率最高。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143000" y="5635625"/>
            <a:ext cx="754063" cy="254000"/>
          </a:xfrm>
          <a:custGeom>
            <a:avLst/>
            <a:gdLst/>
            <a:ahLst/>
            <a:cxnLst/>
            <a:rect l="l" t="t" r="r" b="b"/>
            <a:pathLst>
              <a:path w="754063" h="254000">
                <a:moveTo>
                  <a:pt x="127000" y="0"/>
                </a:moveTo>
                <a:lnTo>
                  <a:pt x="627063" y="0"/>
                </a:lnTo>
                <a:cubicBezTo>
                  <a:pt x="697156" y="0"/>
                  <a:pt x="754063" y="56907"/>
                  <a:pt x="754063" y="127000"/>
                </a:cubicBezTo>
                <a:lnTo>
                  <a:pt x="754063" y="127000"/>
                </a:lnTo>
                <a:cubicBezTo>
                  <a:pt x="754063" y="197093"/>
                  <a:pt x="697156" y="254000"/>
                  <a:pt x="62706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1143000" y="5635625"/>
            <a:ext cx="817563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F1值0.841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962795" y="5635625"/>
            <a:ext cx="1079500" cy="254000"/>
          </a:xfrm>
          <a:custGeom>
            <a:avLst/>
            <a:gdLst/>
            <a:ahLst/>
            <a:cxnLst/>
            <a:rect l="l" t="t" r="r" b="b"/>
            <a:pathLst>
              <a:path w="1079500" h="254000">
                <a:moveTo>
                  <a:pt x="127000" y="0"/>
                </a:moveTo>
                <a:lnTo>
                  <a:pt x="952500" y="0"/>
                </a:lnTo>
                <a:cubicBezTo>
                  <a:pt x="1022593" y="0"/>
                  <a:pt x="1079500" y="56907"/>
                  <a:pt x="1079500" y="127000"/>
                </a:cubicBezTo>
                <a:lnTo>
                  <a:pt x="1079500" y="127000"/>
                </a:lnTo>
                <a:cubicBezTo>
                  <a:pt x="1079500" y="197093"/>
                  <a:pt x="1022593" y="254000"/>
                  <a:pt x="9525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1962795" y="5635625"/>
            <a:ext cx="1143000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复购率提升25%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121013" y="1018646"/>
            <a:ext cx="4751917" cy="5918729"/>
          </a:xfrm>
          <a:custGeom>
            <a:avLst/>
            <a:gdLst/>
            <a:ahLst/>
            <a:cxnLst/>
            <a:rect l="l" t="t" r="r" b="b"/>
            <a:pathLst>
              <a:path w="4751917" h="5918729">
                <a:moveTo>
                  <a:pt x="95228" y="0"/>
                </a:moveTo>
                <a:lnTo>
                  <a:pt x="4656688" y="0"/>
                </a:lnTo>
                <a:cubicBezTo>
                  <a:pt x="4709281" y="0"/>
                  <a:pt x="4751917" y="42635"/>
                  <a:pt x="4751917" y="95228"/>
                </a:cubicBezTo>
                <a:lnTo>
                  <a:pt x="4751917" y="5823501"/>
                </a:lnTo>
                <a:cubicBezTo>
                  <a:pt x="4751917" y="5876094"/>
                  <a:pt x="4709281" y="5918729"/>
                  <a:pt x="4656688" y="5918729"/>
                </a:cubicBezTo>
                <a:lnTo>
                  <a:pt x="95228" y="5918729"/>
                </a:lnTo>
                <a:cubicBezTo>
                  <a:pt x="42635" y="5918729"/>
                  <a:pt x="0" y="5876094"/>
                  <a:pt x="0" y="5823501"/>
                </a:cubicBezTo>
                <a:lnTo>
                  <a:pt x="0" y="95228"/>
                </a:lnTo>
                <a:cubicBezTo>
                  <a:pt x="0" y="42635"/>
                  <a:pt x="42635" y="0"/>
                  <a:pt x="95228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82408" y="1180042"/>
            <a:ext cx="45243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案例选择的合理性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282408" y="1592792"/>
            <a:ext cx="4429125" cy="730250"/>
          </a:xfrm>
          <a:custGeom>
            <a:avLst/>
            <a:gdLst/>
            <a:ahLst/>
            <a:cxnLst/>
            <a:rect l="l" t="t" r="r" b="b"/>
            <a:pathLst>
              <a:path w="4429125" h="730250">
                <a:moveTo>
                  <a:pt x="63503" y="0"/>
                </a:moveTo>
                <a:lnTo>
                  <a:pt x="4365622" y="0"/>
                </a:lnTo>
                <a:cubicBezTo>
                  <a:pt x="4400694" y="0"/>
                  <a:pt x="4429125" y="28431"/>
                  <a:pt x="4429125" y="63503"/>
                </a:cubicBezTo>
                <a:lnTo>
                  <a:pt x="4429125" y="666747"/>
                </a:lnTo>
                <a:cubicBezTo>
                  <a:pt x="4429125" y="701819"/>
                  <a:pt x="4400694" y="730250"/>
                  <a:pt x="4365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Shape 38"/>
          <p:cNvSpPr/>
          <p:nvPr/>
        </p:nvSpPr>
        <p:spPr>
          <a:xfrm>
            <a:off x="7429252" y="17515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2" name="Text 39"/>
          <p:cNvSpPr/>
          <p:nvPr/>
        </p:nvSpPr>
        <p:spPr>
          <a:xfrm>
            <a:off x="7671346" y="1719792"/>
            <a:ext cx="928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覆盖核心场景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09408" y="2005542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推荐、异常检测、复购预测代表了电商用户行为分析的核心需求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282408" y="2450042"/>
            <a:ext cx="4429125" cy="730250"/>
          </a:xfrm>
          <a:custGeom>
            <a:avLst/>
            <a:gdLst/>
            <a:ahLst/>
            <a:cxnLst/>
            <a:rect l="l" t="t" r="r" b="b"/>
            <a:pathLst>
              <a:path w="4429125" h="730250">
                <a:moveTo>
                  <a:pt x="63503" y="0"/>
                </a:moveTo>
                <a:lnTo>
                  <a:pt x="4365622" y="0"/>
                </a:lnTo>
                <a:cubicBezTo>
                  <a:pt x="4400694" y="0"/>
                  <a:pt x="4429125" y="28431"/>
                  <a:pt x="4429125" y="63503"/>
                </a:cubicBezTo>
                <a:lnTo>
                  <a:pt x="4429125" y="666747"/>
                </a:lnTo>
                <a:cubicBezTo>
                  <a:pt x="4429125" y="701819"/>
                  <a:pt x="4400694" y="730250"/>
                  <a:pt x="4365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5" name="Shape 42"/>
          <p:cNvSpPr/>
          <p:nvPr/>
        </p:nvSpPr>
        <p:spPr>
          <a:xfrm>
            <a:off x="7429252" y="26087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6" name="Text 43"/>
          <p:cNvSpPr/>
          <p:nvPr/>
        </p:nvSpPr>
        <p:spPr>
          <a:xfrm>
            <a:off x="7671346" y="2577042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算法互补性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409408" y="2862792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三种算法各有优势，适合不同场景，形成完整技术体系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282408" y="3307292"/>
            <a:ext cx="4429125" cy="730250"/>
          </a:xfrm>
          <a:custGeom>
            <a:avLst/>
            <a:gdLst/>
            <a:ahLst/>
            <a:cxnLst/>
            <a:rect l="l" t="t" r="r" b="b"/>
            <a:pathLst>
              <a:path w="4429125" h="730250">
                <a:moveTo>
                  <a:pt x="63503" y="0"/>
                </a:moveTo>
                <a:lnTo>
                  <a:pt x="4365622" y="0"/>
                </a:lnTo>
                <a:cubicBezTo>
                  <a:pt x="4400694" y="0"/>
                  <a:pt x="4429125" y="28431"/>
                  <a:pt x="4429125" y="63503"/>
                </a:cubicBezTo>
                <a:lnTo>
                  <a:pt x="4429125" y="666747"/>
                </a:lnTo>
                <a:cubicBezTo>
                  <a:pt x="4429125" y="701819"/>
                  <a:pt x="4400694" y="730250"/>
                  <a:pt x="4365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9" name="Shape 46"/>
          <p:cNvSpPr/>
          <p:nvPr/>
        </p:nvSpPr>
        <p:spPr>
          <a:xfrm>
            <a:off x="7429252" y="346604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0" name="Text 47"/>
          <p:cNvSpPr/>
          <p:nvPr/>
        </p:nvSpPr>
        <p:spPr>
          <a:xfrm>
            <a:off x="7671346" y="3434292"/>
            <a:ext cx="928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数据可获得性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409408" y="3720042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电商用户行为数据丰富，易于获取和处理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282408" y="4164542"/>
            <a:ext cx="4429125" cy="730250"/>
          </a:xfrm>
          <a:custGeom>
            <a:avLst/>
            <a:gdLst/>
            <a:ahLst/>
            <a:cxnLst/>
            <a:rect l="l" t="t" r="r" b="b"/>
            <a:pathLst>
              <a:path w="4429125" h="730250">
                <a:moveTo>
                  <a:pt x="63503" y="0"/>
                </a:moveTo>
                <a:lnTo>
                  <a:pt x="4365622" y="0"/>
                </a:lnTo>
                <a:cubicBezTo>
                  <a:pt x="4400694" y="0"/>
                  <a:pt x="4429125" y="28431"/>
                  <a:pt x="4429125" y="63503"/>
                </a:cubicBezTo>
                <a:lnTo>
                  <a:pt x="4429125" y="666747"/>
                </a:lnTo>
                <a:cubicBezTo>
                  <a:pt x="4429125" y="701819"/>
                  <a:pt x="4400694" y="730250"/>
                  <a:pt x="4365622" y="730250"/>
                </a:cubicBezTo>
                <a:lnTo>
                  <a:pt x="63503" y="730250"/>
                </a:lnTo>
                <a:cubicBezTo>
                  <a:pt x="28431" y="730250"/>
                  <a:pt x="0" y="701819"/>
                  <a:pt x="0" y="666747"/>
                </a:cubicBezTo>
                <a:lnTo>
                  <a:pt x="0" y="63503"/>
                </a:lnTo>
                <a:cubicBezTo>
                  <a:pt x="0" y="28455"/>
                  <a:pt x="28455" y="0"/>
                  <a:pt x="63503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3" name="Shape 50"/>
          <p:cNvSpPr/>
          <p:nvPr/>
        </p:nvSpPr>
        <p:spPr>
          <a:xfrm>
            <a:off x="7429252" y="432329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4" name="Text 51"/>
          <p:cNvSpPr/>
          <p:nvPr/>
        </p:nvSpPr>
        <p:spPr>
          <a:xfrm>
            <a:off x="7671346" y="4291542"/>
            <a:ext cx="78581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业务价值高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409408" y="4577292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直接关联营收、用户体验、平台安全等核心业务指标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31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 算法选择与技术架构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9341" y="349341"/>
            <a:ext cx="11554453" cy="174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5" b="1" kern="0" spc="96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49341" y="593880"/>
            <a:ext cx="11650521" cy="34934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随机森林算法原理与特点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6808" y="1117891"/>
            <a:ext cx="6209536" cy="3371140"/>
          </a:xfrm>
          <a:custGeom>
            <a:avLst/>
            <a:gdLst/>
            <a:ahLst/>
            <a:cxnLst/>
            <a:rect l="l" t="t" r="r" b="b"/>
            <a:pathLst>
              <a:path w="6209536" h="3371140">
                <a:moveTo>
                  <a:pt x="34934" y="0"/>
                </a:moveTo>
                <a:lnTo>
                  <a:pt x="6104727" y="0"/>
                </a:lnTo>
                <a:cubicBezTo>
                  <a:pt x="6162611" y="0"/>
                  <a:pt x="6209536" y="46924"/>
                  <a:pt x="6209536" y="104809"/>
                </a:cubicBezTo>
                <a:lnTo>
                  <a:pt x="6209536" y="3266332"/>
                </a:lnTo>
                <a:cubicBezTo>
                  <a:pt x="6209536" y="3324216"/>
                  <a:pt x="6162611" y="3371140"/>
                  <a:pt x="6104727" y="3371140"/>
                </a:cubicBezTo>
                <a:lnTo>
                  <a:pt x="34934" y="3371140"/>
                </a:lnTo>
                <a:cubicBezTo>
                  <a:pt x="15641" y="3371140"/>
                  <a:pt x="0" y="3355500"/>
                  <a:pt x="0" y="3336206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6808" y="1117891"/>
            <a:ext cx="34934" cy="3371140"/>
          </a:xfrm>
          <a:custGeom>
            <a:avLst/>
            <a:gdLst/>
            <a:ahLst/>
            <a:cxnLst/>
            <a:rect l="l" t="t" r="r" b="b"/>
            <a:pathLst>
              <a:path w="34934" h="3371140">
                <a:moveTo>
                  <a:pt x="34934" y="0"/>
                </a:moveTo>
                <a:lnTo>
                  <a:pt x="34934" y="0"/>
                </a:lnTo>
                <a:lnTo>
                  <a:pt x="34934" y="3371140"/>
                </a:lnTo>
                <a:lnTo>
                  <a:pt x="34934" y="3371140"/>
                </a:lnTo>
                <a:cubicBezTo>
                  <a:pt x="15641" y="3371140"/>
                  <a:pt x="0" y="3355500"/>
                  <a:pt x="0" y="3336206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Text 4"/>
          <p:cNvSpPr/>
          <p:nvPr/>
        </p:nvSpPr>
        <p:spPr>
          <a:xfrm>
            <a:off x="558946" y="1292562"/>
            <a:ext cx="5947530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946" y="1711771"/>
            <a:ext cx="5912596" cy="6812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随机森林是基于</a:t>
            </a: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Bagging集成学习</a:t>
            </a: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的算法，通过构建多棵决策树并集成其结果进行分类或回归。核心思想是随机选择样本和特征构建多棵决策树，最终通过投票（分类）或平均（回归）得到结果。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58946" y="2532722"/>
            <a:ext cx="2864596" cy="943221"/>
          </a:xfrm>
          <a:custGeom>
            <a:avLst/>
            <a:gdLst/>
            <a:ahLst/>
            <a:cxnLst/>
            <a:rect l="l" t="t" r="r" b="b"/>
            <a:pathLst>
              <a:path w="2864596" h="943221">
                <a:moveTo>
                  <a:pt x="69864" y="0"/>
                </a:moveTo>
                <a:lnTo>
                  <a:pt x="2794732" y="0"/>
                </a:lnTo>
                <a:cubicBezTo>
                  <a:pt x="2833317" y="0"/>
                  <a:pt x="2864596" y="31279"/>
                  <a:pt x="2864596" y="69864"/>
                </a:cubicBezTo>
                <a:lnTo>
                  <a:pt x="2864596" y="873356"/>
                </a:lnTo>
                <a:cubicBezTo>
                  <a:pt x="2864596" y="911941"/>
                  <a:pt x="2833317" y="943221"/>
                  <a:pt x="2794732" y="943221"/>
                </a:cubicBezTo>
                <a:lnTo>
                  <a:pt x="69864" y="943221"/>
                </a:lnTo>
                <a:cubicBezTo>
                  <a:pt x="31279" y="943221"/>
                  <a:pt x="0" y="911941"/>
                  <a:pt x="0" y="873356"/>
                </a:cubicBezTo>
                <a:lnTo>
                  <a:pt x="0" y="69864"/>
                </a:lnTo>
                <a:cubicBezTo>
                  <a:pt x="0" y="31305"/>
                  <a:pt x="31305" y="0"/>
                  <a:pt x="69864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663748" y="2637524"/>
            <a:ext cx="244539" cy="244539"/>
          </a:xfrm>
          <a:custGeom>
            <a:avLst/>
            <a:gdLst/>
            <a:ahLst/>
            <a:cxnLst/>
            <a:rect l="l" t="t" r="r" b="b"/>
            <a:pathLst>
              <a:path w="244539" h="244539">
                <a:moveTo>
                  <a:pt x="122269" y="0"/>
                </a:moveTo>
                <a:lnTo>
                  <a:pt x="122269" y="0"/>
                </a:lnTo>
                <a:cubicBezTo>
                  <a:pt x="189797" y="0"/>
                  <a:pt x="244539" y="54742"/>
                  <a:pt x="244539" y="122269"/>
                </a:cubicBezTo>
                <a:lnTo>
                  <a:pt x="244539" y="122269"/>
                </a:lnTo>
                <a:cubicBezTo>
                  <a:pt x="244539" y="189797"/>
                  <a:pt x="189797" y="244539"/>
                  <a:pt x="122269" y="244539"/>
                </a:cubicBezTo>
                <a:lnTo>
                  <a:pt x="122269" y="244539"/>
                </a:lnTo>
                <a:cubicBezTo>
                  <a:pt x="54742" y="244539"/>
                  <a:pt x="0" y="189797"/>
                  <a:pt x="0" y="122269"/>
                </a:cubicBezTo>
                <a:lnTo>
                  <a:pt x="0" y="122269"/>
                </a:lnTo>
                <a:cubicBezTo>
                  <a:pt x="0" y="54742"/>
                  <a:pt x="54742" y="0"/>
                  <a:pt x="122269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1" name="Text 8"/>
          <p:cNvSpPr/>
          <p:nvPr/>
        </p:nvSpPr>
        <p:spPr>
          <a:xfrm>
            <a:off x="633181" y="2637524"/>
            <a:ext cx="305673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78155" y="2654991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样本随机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3748" y="2951931"/>
            <a:ext cx="2724860" cy="4192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通过Bootstrap采样，每棵树使用不同的训练集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30709" y="2532722"/>
            <a:ext cx="2864596" cy="943221"/>
          </a:xfrm>
          <a:custGeom>
            <a:avLst/>
            <a:gdLst/>
            <a:ahLst/>
            <a:cxnLst/>
            <a:rect l="l" t="t" r="r" b="b"/>
            <a:pathLst>
              <a:path w="2864596" h="943221">
                <a:moveTo>
                  <a:pt x="69864" y="0"/>
                </a:moveTo>
                <a:lnTo>
                  <a:pt x="2794732" y="0"/>
                </a:lnTo>
                <a:cubicBezTo>
                  <a:pt x="2833317" y="0"/>
                  <a:pt x="2864596" y="31279"/>
                  <a:pt x="2864596" y="69864"/>
                </a:cubicBezTo>
                <a:lnTo>
                  <a:pt x="2864596" y="873356"/>
                </a:lnTo>
                <a:cubicBezTo>
                  <a:pt x="2864596" y="911941"/>
                  <a:pt x="2833317" y="943221"/>
                  <a:pt x="2794732" y="943221"/>
                </a:cubicBezTo>
                <a:lnTo>
                  <a:pt x="69864" y="943221"/>
                </a:lnTo>
                <a:cubicBezTo>
                  <a:pt x="31279" y="943221"/>
                  <a:pt x="0" y="911941"/>
                  <a:pt x="0" y="873356"/>
                </a:cubicBezTo>
                <a:lnTo>
                  <a:pt x="0" y="69864"/>
                </a:lnTo>
                <a:cubicBezTo>
                  <a:pt x="0" y="31305"/>
                  <a:pt x="31305" y="0"/>
                  <a:pt x="69864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3635512" y="2637524"/>
            <a:ext cx="244539" cy="244539"/>
          </a:xfrm>
          <a:custGeom>
            <a:avLst/>
            <a:gdLst/>
            <a:ahLst/>
            <a:cxnLst/>
            <a:rect l="l" t="t" r="r" b="b"/>
            <a:pathLst>
              <a:path w="244539" h="244539">
                <a:moveTo>
                  <a:pt x="122269" y="0"/>
                </a:moveTo>
                <a:lnTo>
                  <a:pt x="122269" y="0"/>
                </a:lnTo>
                <a:cubicBezTo>
                  <a:pt x="189797" y="0"/>
                  <a:pt x="244539" y="54742"/>
                  <a:pt x="244539" y="122269"/>
                </a:cubicBezTo>
                <a:lnTo>
                  <a:pt x="244539" y="122269"/>
                </a:lnTo>
                <a:cubicBezTo>
                  <a:pt x="244539" y="189797"/>
                  <a:pt x="189797" y="244539"/>
                  <a:pt x="122269" y="244539"/>
                </a:cubicBezTo>
                <a:lnTo>
                  <a:pt x="122269" y="244539"/>
                </a:lnTo>
                <a:cubicBezTo>
                  <a:pt x="54742" y="244539"/>
                  <a:pt x="0" y="189797"/>
                  <a:pt x="0" y="122269"/>
                </a:cubicBezTo>
                <a:lnTo>
                  <a:pt x="0" y="122269"/>
                </a:lnTo>
                <a:cubicBezTo>
                  <a:pt x="0" y="54742"/>
                  <a:pt x="54742" y="0"/>
                  <a:pt x="122269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6" name="Text 13"/>
          <p:cNvSpPr/>
          <p:nvPr/>
        </p:nvSpPr>
        <p:spPr>
          <a:xfrm>
            <a:off x="3604944" y="2637524"/>
            <a:ext cx="305673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49918" y="2654991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特征随机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635512" y="2951931"/>
            <a:ext cx="272486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每棵树随机选择部分特征进行分裂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8946" y="3580745"/>
            <a:ext cx="2864596" cy="733616"/>
          </a:xfrm>
          <a:custGeom>
            <a:avLst/>
            <a:gdLst/>
            <a:ahLst/>
            <a:cxnLst/>
            <a:rect l="l" t="t" r="r" b="b"/>
            <a:pathLst>
              <a:path w="2864596" h="733616">
                <a:moveTo>
                  <a:pt x="69870" y="0"/>
                </a:moveTo>
                <a:lnTo>
                  <a:pt x="2794726" y="0"/>
                </a:lnTo>
                <a:cubicBezTo>
                  <a:pt x="2833314" y="0"/>
                  <a:pt x="2864596" y="31282"/>
                  <a:pt x="2864596" y="69870"/>
                </a:cubicBezTo>
                <a:lnTo>
                  <a:pt x="2864596" y="663746"/>
                </a:lnTo>
                <a:cubicBezTo>
                  <a:pt x="2864596" y="702334"/>
                  <a:pt x="2833314" y="733616"/>
                  <a:pt x="2794726" y="733616"/>
                </a:cubicBezTo>
                <a:lnTo>
                  <a:pt x="69870" y="733616"/>
                </a:lnTo>
                <a:cubicBezTo>
                  <a:pt x="31282" y="733616"/>
                  <a:pt x="0" y="702334"/>
                  <a:pt x="0" y="663746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663748" y="3685547"/>
            <a:ext cx="244539" cy="244539"/>
          </a:xfrm>
          <a:custGeom>
            <a:avLst/>
            <a:gdLst/>
            <a:ahLst/>
            <a:cxnLst/>
            <a:rect l="l" t="t" r="r" b="b"/>
            <a:pathLst>
              <a:path w="244539" h="244539">
                <a:moveTo>
                  <a:pt x="122269" y="0"/>
                </a:moveTo>
                <a:lnTo>
                  <a:pt x="122269" y="0"/>
                </a:lnTo>
                <a:cubicBezTo>
                  <a:pt x="189797" y="0"/>
                  <a:pt x="244539" y="54742"/>
                  <a:pt x="244539" y="122269"/>
                </a:cubicBezTo>
                <a:lnTo>
                  <a:pt x="244539" y="122269"/>
                </a:lnTo>
                <a:cubicBezTo>
                  <a:pt x="244539" y="189797"/>
                  <a:pt x="189797" y="244539"/>
                  <a:pt x="122269" y="244539"/>
                </a:cubicBezTo>
                <a:lnTo>
                  <a:pt x="122269" y="244539"/>
                </a:lnTo>
                <a:cubicBezTo>
                  <a:pt x="54742" y="244539"/>
                  <a:pt x="0" y="189797"/>
                  <a:pt x="0" y="122269"/>
                </a:cubicBezTo>
                <a:lnTo>
                  <a:pt x="0" y="122269"/>
                </a:lnTo>
                <a:cubicBezTo>
                  <a:pt x="0" y="54742"/>
                  <a:pt x="54742" y="0"/>
                  <a:pt x="122269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1" name="Text 18"/>
          <p:cNvSpPr/>
          <p:nvPr/>
        </p:nvSpPr>
        <p:spPr>
          <a:xfrm>
            <a:off x="633181" y="3685547"/>
            <a:ext cx="305673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78155" y="3703014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集成决策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3748" y="3999954"/>
            <a:ext cx="272486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多棵树投票或平均，提升稳定性和准确性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30709" y="3580745"/>
            <a:ext cx="2864596" cy="733616"/>
          </a:xfrm>
          <a:custGeom>
            <a:avLst/>
            <a:gdLst/>
            <a:ahLst/>
            <a:cxnLst/>
            <a:rect l="l" t="t" r="r" b="b"/>
            <a:pathLst>
              <a:path w="2864596" h="733616">
                <a:moveTo>
                  <a:pt x="69870" y="0"/>
                </a:moveTo>
                <a:lnTo>
                  <a:pt x="2794726" y="0"/>
                </a:lnTo>
                <a:cubicBezTo>
                  <a:pt x="2833314" y="0"/>
                  <a:pt x="2864596" y="31282"/>
                  <a:pt x="2864596" y="69870"/>
                </a:cubicBezTo>
                <a:lnTo>
                  <a:pt x="2864596" y="663746"/>
                </a:lnTo>
                <a:cubicBezTo>
                  <a:pt x="2864596" y="702334"/>
                  <a:pt x="2833314" y="733616"/>
                  <a:pt x="2794726" y="733616"/>
                </a:cubicBezTo>
                <a:lnTo>
                  <a:pt x="69870" y="733616"/>
                </a:lnTo>
                <a:cubicBezTo>
                  <a:pt x="31282" y="733616"/>
                  <a:pt x="0" y="702334"/>
                  <a:pt x="0" y="663746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3635512" y="3685547"/>
            <a:ext cx="244539" cy="244539"/>
          </a:xfrm>
          <a:custGeom>
            <a:avLst/>
            <a:gdLst/>
            <a:ahLst/>
            <a:cxnLst/>
            <a:rect l="l" t="t" r="r" b="b"/>
            <a:pathLst>
              <a:path w="244539" h="244539">
                <a:moveTo>
                  <a:pt x="122269" y="0"/>
                </a:moveTo>
                <a:lnTo>
                  <a:pt x="122269" y="0"/>
                </a:lnTo>
                <a:cubicBezTo>
                  <a:pt x="189797" y="0"/>
                  <a:pt x="244539" y="54742"/>
                  <a:pt x="244539" y="122269"/>
                </a:cubicBezTo>
                <a:lnTo>
                  <a:pt x="244539" y="122269"/>
                </a:lnTo>
                <a:cubicBezTo>
                  <a:pt x="244539" y="189797"/>
                  <a:pt x="189797" y="244539"/>
                  <a:pt x="122269" y="244539"/>
                </a:cubicBezTo>
                <a:lnTo>
                  <a:pt x="122269" y="244539"/>
                </a:lnTo>
                <a:cubicBezTo>
                  <a:pt x="54742" y="244539"/>
                  <a:pt x="0" y="189797"/>
                  <a:pt x="0" y="122269"/>
                </a:cubicBezTo>
                <a:lnTo>
                  <a:pt x="0" y="122269"/>
                </a:lnTo>
                <a:cubicBezTo>
                  <a:pt x="0" y="54742"/>
                  <a:pt x="54742" y="0"/>
                  <a:pt x="122269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6" name="Text 23"/>
          <p:cNvSpPr/>
          <p:nvPr/>
        </p:nvSpPr>
        <p:spPr>
          <a:xfrm>
            <a:off x="3604944" y="3685547"/>
            <a:ext cx="305673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949918" y="3703014"/>
            <a:ext cx="663748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OOB验证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635512" y="3999954"/>
            <a:ext cx="272486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利用未使用的样本进行模型验证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6808" y="4628768"/>
            <a:ext cx="6209536" cy="1886441"/>
          </a:xfrm>
          <a:custGeom>
            <a:avLst/>
            <a:gdLst/>
            <a:ahLst/>
            <a:cxnLst/>
            <a:rect l="l" t="t" r="r" b="b"/>
            <a:pathLst>
              <a:path w="6209536" h="1886441">
                <a:moveTo>
                  <a:pt x="34934" y="0"/>
                </a:moveTo>
                <a:lnTo>
                  <a:pt x="6104725" y="0"/>
                </a:lnTo>
                <a:cubicBezTo>
                  <a:pt x="6162610" y="0"/>
                  <a:pt x="6209536" y="46925"/>
                  <a:pt x="6209536" y="104811"/>
                </a:cubicBezTo>
                <a:lnTo>
                  <a:pt x="6209536" y="1781631"/>
                </a:lnTo>
                <a:cubicBezTo>
                  <a:pt x="6209536" y="1839516"/>
                  <a:pt x="6162610" y="1886441"/>
                  <a:pt x="6104725" y="1886441"/>
                </a:cubicBezTo>
                <a:lnTo>
                  <a:pt x="34934" y="1886441"/>
                </a:lnTo>
                <a:cubicBezTo>
                  <a:pt x="15641" y="1886441"/>
                  <a:pt x="0" y="1870801"/>
                  <a:pt x="0" y="185150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6808" y="4628768"/>
            <a:ext cx="34934" cy="1886441"/>
          </a:xfrm>
          <a:custGeom>
            <a:avLst/>
            <a:gdLst/>
            <a:ahLst/>
            <a:cxnLst/>
            <a:rect l="l" t="t" r="r" b="b"/>
            <a:pathLst>
              <a:path w="34934" h="1886441">
                <a:moveTo>
                  <a:pt x="34934" y="0"/>
                </a:moveTo>
                <a:lnTo>
                  <a:pt x="34934" y="0"/>
                </a:lnTo>
                <a:lnTo>
                  <a:pt x="34934" y="1886441"/>
                </a:lnTo>
                <a:lnTo>
                  <a:pt x="34934" y="1886441"/>
                </a:lnTo>
                <a:cubicBezTo>
                  <a:pt x="15641" y="1886441"/>
                  <a:pt x="0" y="1870801"/>
                  <a:pt x="0" y="1851507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1" name="Text 28"/>
          <p:cNvSpPr/>
          <p:nvPr/>
        </p:nvSpPr>
        <p:spPr>
          <a:xfrm>
            <a:off x="558946" y="4803438"/>
            <a:ext cx="5947530" cy="2794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关键特点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80779" y="5248848"/>
            <a:ext cx="157203" cy="157203"/>
          </a:xfrm>
          <a:custGeom>
            <a:avLst/>
            <a:gdLst/>
            <a:ahLst/>
            <a:cxnLst/>
            <a:rect l="l" t="t" r="r" b="b"/>
            <a:pathLst>
              <a:path w="157203" h="157203">
                <a:moveTo>
                  <a:pt x="78602" y="157203"/>
                </a:moveTo>
                <a:cubicBezTo>
                  <a:pt x="121983" y="157203"/>
                  <a:pt x="157203" y="121983"/>
                  <a:pt x="157203" y="78602"/>
                </a:cubicBezTo>
                <a:cubicBezTo>
                  <a:pt x="157203" y="35220"/>
                  <a:pt x="121983" y="0"/>
                  <a:pt x="78602" y="0"/>
                </a:cubicBezTo>
                <a:cubicBezTo>
                  <a:pt x="35220" y="0"/>
                  <a:pt x="0" y="35220"/>
                  <a:pt x="0" y="78602"/>
                </a:cubicBezTo>
                <a:cubicBezTo>
                  <a:pt x="0" y="121983"/>
                  <a:pt x="35220" y="157203"/>
                  <a:pt x="78602" y="157203"/>
                </a:cubicBezTo>
                <a:close/>
                <a:moveTo>
                  <a:pt x="104516" y="65307"/>
                </a:moveTo>
                <a:lnTo>
                  <a:pt x="79953" y="104608"/>
                </a:lnTo>
                <a:cubicBezTo>
                  <a:pt x="78663" y="106665"/>
                  <a:pt x="76452" y="107955"/>
                  <a:pt x="74027" y="108077"/>
                </a:cubicBezTo>
                <a:cubicBezTo>
                  <a:pt x="71601" y="108200"/>
                  <a:pt x="69268" y="107095"/>
                  <a:pt x="67825" y="105130"/>
                </a:cubicBezTo>
                <a:lnTo>
                  <a:pt x="53087" y="85479"/>
                </a:lnTo>
                <a:cubicBezTo>
                  <a:pt x="50631" y="82225"/>
                  <a:pt x="51306" y="77619"/>
                  <a:pt x="54561" y="75163"/>
                </a:cubicBezTo>
                <a:cubicBezTo>
                  <a:pt x="57815" y="72707"/>
                  <a:pt x="62421" y="73382"/>
                  <a:pt x="64877" y="76637"/>
                </a:cubicBezTo>
                <a:lnTo>
                  <a:pt x="73167" y="87690"/>
                </a:lnTo>
                <a:lnTo>
                  <a:pt x="92019" y="57508"/>
                </a:lnTo>
                <a:cubicBezTo>
                  <a:pt x="94169" y="54069"/>
                  <a:pt x="98713" y="52995"/>
                  <a:pt x="102182" y="55175"/>
                </a:cubicBezTo>
                <a:cubicBezTo>
                  <a:pt x="105652" y="57355"/>
                  <a:pt x="106696" y="61868"/>
                  <a:pt x="104516" y="65338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3" name="Text 30"/>
          <p:cNvSpPr/>
          <p:nvPr/>
        </p:nvSpPr>
        <p:spPr>
          <a:xfrm>
            <a:off x="825318" y="5222648"/>
            <a:ext cx="90828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处理高维数据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58946" y="5502120"/>
            <a:ext cx="2916997" cy="209605"/>
          </a:xfrm>
          <a:prstGeom prst="rect">
            <a:avLst/>
          </a:prstGeom>
          <a:noFill/>
        </p:spPr>
        <p:txBody>
          <a:bodyPr wrap="square" lIns="244539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无需特征选择，自动处理大量特征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570010" y="5248848"/>
            <a:ext cx="157203" cy="157203"/>
          </a:xfrm>
          <a:custGeom>
            <a:avLst/>
            <a:gdLst/>
            <a:ahLst/>
            <a:cxnLst/>
            <a:rect l="l" t="t" r="r" b="b"/>
            <a:pathLst>
              <a:path w="157203" h="157203">
                <a:moveTo>
                  <a:pt x="78602" y="157203"/>
                </a:moveTo>
                <a:cubicBezTo>
                  <a:pt x="121983" y="157203"/>
                  <a:pt x="157203" y="121983"/>
                  <a:pt x="157203" y="78602"/>
                </a:cubicBezTo>
                <a:cubicBezTo>
                  <a:pt x="157203" y="35220"/>
                  <a:pt x="121983" y="0"/>
                  <a:pt x="78602" y="0"/>
                </a:cubicBezTo>
                <a:cubicBezTo>
                  <a:pt x="35220" y="0"/>
                  <a:pt x="0" y="35220"/>
                  <a:pt x="0" y="78602"/>
                </a:cubicBezTo>
                <a:cubicBezTo>
                  <a:pt x="0" y="121983"/>
                  <a:pt x="35220" y="157203"/>
                  <a:pt x="78602" y="157203"/>
                </a:cubicBezTo>
                <a:close/>
                <a:moveTo>
                  <a:pt x="104516" y="65307"/>
                </a:moveTo>
                <a:lnTo>
                  <a:pt x="79953" y="104608"/>
                </a:lnTo>
                <a:cubicBezTo>
                  <a:pt x="78663" y="106665"/>
                  <a:pt x="76452" y="107955"/>
                  <a:pt x="74027" y="108077"/>
                </a:cubicBezTo>
                <a:cubicBezTo>
                  <a:pt x="71601" y="108200"/>
                  <a:pt x="69268" y="107095"/>
                  <a:pt x="67825" y="105130"/>
                </a:cubicBezTo>
                <a:lnTo>
                  <a:pt x="53087" y="85479"/>
                </a:lnTo>
                <a:cubicBezTo>
                  <a:pt x="50631" y="82225"/>
                  <a:pt x="51306" y="77619"/>
                  <a:pt x="54561" y="75163"/>
                </a:cubicBezTo>
                <a:cubicBezTo>
                  <a:pt x="57815" y="72707"/>
                  <a:pt x="62421" y="73382"/>
                  <a:pt x="64877" y="76637"/>
                </a:cubicBezTo>
                <a:lnTo>
                  <a:pt x="73167" y="87690"/>
                </a:lnTo>
                <a:lnTo>
                  <a:pt x="92019" y="57508"/>
                </a:lnTo>
                <a:cubicBezTo>
                  <a:pt x="94169" y="54069"/>
                  <a:pt x="98713" y="52995"/>
                  <a:pt x="102182" y="55175"/>
                </a:cubicBezTo>
                <a:cubicBezTo>
                  <a:pt x="105652" y="57355"/>
                  <a:pt x="106696" y="61868"/>
                  <a:pt x="104516" y="65338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6" name="Text 33"/>
          <p:cNvSpPr/>
          <p:nvPr/>
        </p:nvSpPr>
        <p:spPr>
          <a:xfrm>
            <a:off x="3814549" y="5222648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抗过拟合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548176" y="5502120"/>
            <a:ext cx="2916997" cy="209605"/>
          </a:xfrm>
          <a:prstGeom prst="rect">
            <a:avLst/>
          </a:prstGeom>
          <a:noFill/>
        </p:spPr>
        <p:txBody>
          <a:bodyPr wrap="square" lIns="244539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集成多棵树，减少过拟合风险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80779" y="5877662"/>
            <a:ext cx="157203" cy="157203"/>
          </a:xfrm>
          <a:custGeom>
            <a:avLst/>
            <a:gdLst/>
            <a:ahLst/>
            <a:cxnLst/>
            <a:rect l="l" t="t" r="r" b="b"/>
            <a:pathLst>
              <a:path w="157203" h="157203">
                <a:moveTo>
                  <a:pt x="78602" y="157203"/>
                </a:moveTo>
                <a:cubicBezTo>
                  <a:pt x="121983" y="157203"/>
                  <a:pt x="157203" y="121983"/>
                  <a:pt x="157203" y="78602"/>
                </a:cubicBezTo>
                <a:cubicBezTo>
                  <a:pt x="157203" y="35220"/>
                  <a:pt x="121983" y="0"/>
                  <a:pt x="78602" y="0"/>
                </a:cubicBezTo>
                <a:cubicBezTo>
                  <a:pt x="35220" y="0"/>
                  <a:pt x="0" y="35220"/>
                  <a:pt x="0" y="78602"/>
                </a:cubicBezTo>
                <a:cubicBezTo>
                  <a:pt x="0" y="121983"/>
                  <a:pt x="35220" y="157203"/>
                  <a:pt x="78602" y="157203"/>
                </a:cubicBezTo>
                <a:close/>
                <a:moveTo>
                  <a:pt x="104516" y="65307"/>
                </a:moveTo>
                <a:lnTo>
                  <a:pt x="79953" y="104608"/>
                </a:lnTo>
                <a:cubicBezTo>
                  <a:pt x="78663" y="106665"/>
                  <a:pt x="76452" y="107955"/>
                  <a:pt x="74027" y="108077"/>
                </a:cubicBezTo>
                <a:cubicBezTo>
                  <a:pt x="71601" y="108200"/>
                  <a:pt x="69268" y="107095"/>
                  <a:pt x="67825" y="105130"/>
                </a:cubicBezTo>
                <a:lnTo>
                  <a:pt x="53087" y="85479"/>
                </a:lnTo>
                <a:cubicBezTo>
                  <a:pt x="50631" y="82225"/>
                  <a:pt x="51306" y="77619"/>
                  <a:pt x="54561" y="75163"/>
                </a:cubicBezTo>
                <a:cubicBezTo>
                  <a:pt x="57815" y="72707"/>
                  <a:pt x="62421" y="73382"/>
                  <a:pt x="64877" y="76637"/>
                </a:cubicBezTo>
                <a:lnTo>
                  <a:pt x="73167" y="87690"/>
                </a:lnTo>
                <a:lnTo>
                  <a:pt x="92019" y="57508"/>
                </a:lnTo>
                <a:cubicBezTo>
                  <a:pt x="94169" y="54069"/>
                  <a:pt x="98713" y="52995"/>
                  <a:pt x="102182" y="55175"/>
                </a:cubicBezTo>
                <a:cubicBezTo>
                  <a:pt x="105652" y="57355"/>
                  <a:pt x="106696" y="61868"/>
                  <a:pt x="104516" y="65338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9" name="Text 36"/>
          <p:cNvSpPr/>
          <p:nvPr/>
        </p:nvSpPr>
        <p:spPr>
          <a:xfrm>
            <a:off x="825318" y="5851461"/>
            <a:ext cx="76855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特征重要性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58946" y="6130934"/>
            <a:ext cx="2916997" cy="209605"/>
          </a:xfrm>
          <a:prstGeom prst="rect">
            <a:avLst/>
          </a:prstGeom>
          <a:noFill/>
        </p:spPr>
        <p:txBody>
          <a:bodyPr wrap="square" lIns="244539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可输出特征重要性，便于解释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570010" y="5877662"/>
            <a:ext cx="157203" cy="157203"/>
          </a:xfrm>
          <a:custGeom>
            <a:avLst/>
            <a:gdLst/>
            <a:ahLst/>
            <a:cxnLst/>
            <a:rect l="l" t="t" r="r" b="b"/>
            <a:pathLst>
              <a:path w="157203" h="157203">
                <a:moveTo>
                  <a:pt x="78602" y="157203"/>
                </a:moveTo>
                <a:cubicBezTo>
                  <a:pt x="121983" y="157203"/>
                  <a:pt x="157203" y="121983"/>
                  <a:pt x="157203" y="78602"/>
                </a:cubicBezTo>
                <a:cubicBezTo>
                  <a:pt x="157203" y="35220"/>
                  <a:pt x="121983" y="0"/>
                  <a:pt x="78602" y="0"/>
                </a:cubicBezTo>
                <a:cubicBezTo>
                  <a:pt x="35220" y="0"/>
                  <a:pt x="0" y="35220"/>
                  <a:pt x="0" y="78602"/>
                </a:cubicBezTo>
                <a:cubicBezTo>
                  <a:pt x="0" y="121983"/>
                  <a:pt x="35220" y="157203"/>
                  <a:pt x="78602" y="157203"/>
                </a:cubicBezTo>
                <a:close/>
                <a:moveTo>
                  <a:pt x="104516" y="65307"/>
                </a:moveTo>
                <a:lnTo>
                  <a:pt x="79953" y="104608"/>
                </a:lnTo>
                <a:cubicBezTo>
                  <a:pt x="78663" y="106665"/>
                  <a:pt x="76452" y="107955"/>
                  <a:pt x="74027" y="108077"/>
                </a:cubicBezTo>
                <a:cubicBezTo>
                  <a:pt x="71601" y="108200"/>
                  <a:pt x="69268" y="107095"/>
                  <a:pt x="67825" y="105130"/>
                </a:cubicBezTo>
                <a:lnTo>
                  <a:pt x="53087" y="85479"/>
                </a:lnTo>
                <a:cubicBezTo>
                  <a:pt x="50631" y="82225"/>
                  <a:pt x="51306" y="77619"/>
                  <a:pt x="54561" y="75163"/>
                </a:cubicBezTo>
                <a:cubicBezTo>
                  <a:pt x="57815" y="72707"/>
                  <a:pt x="62421" y="73382"/>
                  <a:pt x="64877" y="76637"/>
                </a:cubicBezTo>
                <a:lnTo>
                  <a:pt x="73167" y="87690"/>
                </a:lnTo>
                <a:lnTo>
                  <a:pt x="92019" y="57508"/>
                </a:lnTo>
                <a:cubicBezTo>
                  <a:pt x="94169" y="54069"/>
                  <a:pt x="98713" y="52995"/>
                  <a:pt x="102182" y="55175"/>
                </a:cubicBezTo>
                <a:cubicBezTo>
                  <a:pt x="105652" y="57355"/>
                  <a:pt x="106696" y="61868"/>
                  <a:pt x="104516" y="65338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2" name="Text 39"/>
          <p:cNvSpPr/>
          <p:nvPr/>
        </p:nvSpPr>
        <p:spPr>
          <a:xfrm>
            <a:off x="3814549" y="5851461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并行训练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548176" y="6130934"/>
            <a:ext cx="2916997" cy="209605"/>
          </a:xfrm>
          <a:prstGeom prst="rect">
            <a:avLst/>
          </a:prstGeom>
          <a:noFill/>
        </p:spPr>
        <p:txBody>
          <a:bodyPr wrap="square" lIns="244539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各树独立训练，适合并行计算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47103" y="1117891"/>
            <a:ext cx="5091645" cy="3633146"/>
          </a:xfrm>
          <a:custGeom>
            <a:avLst/>
            <a:gdLst/>
            <a:ahLst/>
            <a:cxnLst/>
            <a:rect l="l" t="t" r="r" b="b"/>
            <a:pathLst>
              <a:path w="5091645" h="3633146">
                <a:moveTo>
                  <a:pt x="104816" y="0"/>
                </a:moveTo>
                <a:lnTo>
                  <a:pt x="4986828" y="0"/>
                </a:lnTo>
                <a:cubicBezTo>
                  <a:pt x="5044717" y="0"/>
                  <a:pt x="5091645" y="46928"/>
                  <a:pt x="5091645" y="104816"/>
                </a:cubicBezTo>
                <a:lnTo>
                  <a:pt x="5091645" y="3528330"/>
                </a:lnTo>
                <a:cubicBezTo>
                  <a:pt x="5091645" y="3586218"/>
                  <a:pt x="5044717" y="3633146"/>
                  <a:pt x="4986828" y="3633146"/>
                </a:cubicBezTo>
                <a:lnTo>
                  <a:pt x="104816" y="3633146"/>
                </a:lnTo>
                <a:cubicBezTo>
                  <a:pt x="46928" y="3633146"/>
                  <a:pt x="0" y="3586218"/>
                  <a:pt x="0" y="3528330"/>
                </a:cubicBezTo>
                <a:lnTo>
                  <a:pt x="0" y="104816"/>
                </a:lnTo>
                <a:cubicBezTo>
                  <a:pt x="0" y="46967"/>
                  <a:pt x="46967" y="0"/>
                  <a:pt x="1048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921773" y="1292562"/>
            <a:ext cx="4829639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电商推荐应用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921773" y="1676837"/>
            <a:ext cx="4812172" cy="4541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在电商推荐中，随机森林可以分析用户历史行为数据，预测用户对商品的兴趣程度，实现个性化推荐。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921773" y="2270716"/>
            <a:ext cx="4742304" cy="698682"/>
          </a:xfrm>
          <a:custGeom>
            <a:avLst/>
            <a:gdLst/>
            <a:ahLst/>
            <a:cxnLst/>
            <a:rect l="l" t="t" r="r" b="b"/>
            <a:pathLst>
              <a:path w="4742304" h="698682">
                <a:moveTo>
                  <a:pt x="69868" y="0"/>
                </a:moveTo>
                <a:lnTo>
                  <a:pt x="4672436" y="0"/>
                </a:lnTo>
                <a:cubicBezTo>
                  <a:pt x="4711023" y="0"/>
                  <a:pt x="4742304" y="31281"/>
                  <a:pt x="4742304" y="69868"/>
                </a:cubicBezTo>
                <a:lnTo>
                  <a:pt x="4742304" y="628814"/>
                </a:lnTo>
                <a:cubicBezTo>
                  <a:pt x="4742304" y="667401"/>
                  <a:pt x="4711023" y="698682"/>
                  <a:pt x="4672436" y="698682"/>
                </a:cubicBezTo>
                <a:lnTo>
                  <a:pt x="69868" y="698682"/>
                </a:lnTo>
                <a:cubicBezTo>
                  <a:pt x="31281" y="698682"/>
                  <a:pt x="0" y="667401"/>
                  <a:pt x="0" y="628814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7026576" y="2375519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输入特征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026576" y="2654991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用户特征、商品特征、交互特征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921773" y="3074201"/>
            <a:ext cx="4742304" cy="698682"/>
          </a:xfrm>
          <a:custGeom>
            <a:avLst/>
            <a:gdLst/>
            <a:ahLst/>
            <a:cxnLst/>
            <a:rect l="l" t="t" r="r" b="b"/>
            <a:pathLst>
              <a:path w="4742304" h="698682">
                <a:moveTo>
                  <a:pt x="69868" y="0"/>
                </a:moveTo>
                <a:lnTo>
                  <a:pt x="4672436" y="0"/>
                </a:lnTo>
                <a:cubicBezTo>
                  <a:pt x="4711023" y="0"/>
                  <a:pt x="4742304" y="31281"/>
                  <a:pt x="4742304" y="69868"/>
                </a:cubicBezTo>
                <a:lnTo>
                  <a:pt x="4742304" y="628814"/>
                </a:lnTo>
                <a:cubicBezTo>
                  <a:pt x="4742304" y="667401"/>
                  <a:pt x="4711023" y="698682"/>
                  <a:pt x="4672436" y="698682"/>
                </a:cubicBezTo>
                <a:lnTo>
                  <a:pt x="69868" y="698682"/>
                </a:lnTo>
                <a:cubicBezTo>
                  <a:pt x="31281" y="698682"/>
                  <a:pt x="0" y="667401"/>
                  <a:pt x="0" y="628814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7026576" y="3179003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预测目标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026576" y="3458476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用户是否点击/购买商品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921773" y="3877685"/>
            <a:ext cx="4742304" cy="698682"/>
          </a:xfrm>
          <a:custGeom>
            <a:avLst/>
            <a:gdLst/>
            <a:ahLst/>
            <a:cxnLst/>
            <a:rect l="l" t="t" r="r" b="b"/>
            <a:pathLst>
              <a:path w="4742304" h="698682">
                <a:moveTo>
                  <a:pt x="69868" y="0"/>
                </a:moveTo>
                <a:lnTo>
                  <a:pt x="4672436" y="0"/>
                </a:lnTo>
                <a:cubicBezTo>
                  <a:pt x="4711023" y="0"/>
                  <a:pt x="4742304" y="31281"/>
                  <a:pt x="4742304" y="69868"/>
                </a:cubicBezTo>
                <a:lnTo>
                  <a:pt x="4742304" y="628814"/>
                </a:lnTo>
                <a:cubicBezTo>
                  <a:pt x="4742304" y="667401"/>
                  <a:pt x="4711023" y="698682"/>
                  <a:pt x="4672436" y="698682"/>
                </a:cubicBezTo>
                <a:lnTo>
                  <a:pt x="69868" y="698682"/>
                </a:lnTo>
                <a:cubicBezTo>
                  <a:pt x="31281" y="698682"/>
                  <a:pt x="0" y="667401"/>
                  <a:pt x="0" y="628814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7026576" y="3982487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输出结果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026576" y="4261960"/>
            <a:ext cx="4602567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推荐分数，按分数排序推荐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750014" y="4893685"/>
            <a:ext cx="5088734" cy="1962132"/>
          </a:xfrm>
          <a:custGeom>
            <a:avLst/>
            <a:gdLst/>
            <a:ahLst/>
            <a:cxnLst/>
            <a:rect l="l" t="t" r="r" b="b"/>
            <a:pathLst>
              <a:path w="5088734" h="1962132">
                <a:moveTo>
                  <a:pt x="104797" y="0"/>
                </a:moveTo>
                <a:lnTo>
                  <a:pt x="4983936" y="0"/>
                </a:lnTo>
                <a:cubicBezTo>
                  <a:pt x="5041814" y="0"/>
                  <a:pt x="5088734" y="46919"/>
                  <a:pt x="5088734" y="104797"/>
                </a:cubicBezTo>
                <a:lnTo>
                  <a:pt x="5088734" y="1857334"/>
                </a:lnTo>
                <a:cubicBezTo>
                  <a:pt x="5088734" y="1915212"/>
                  <a:pt x="5041814" y="1962132"/>
                  <a:pt x="4983936" y="1962132"/>
                </a:cubicBezTo>
                <a:lnTo>
                  <a:pt x="104797" y="1962132"/>
                </a:lnTo>
                <a:cubicBezTo>
                  <a:pt x="46919" y="1962132"/>
                  <a:pt x="0" y="1915212"/>
                  <a:pt x="0" y="1857334"/>
                </a:cubicBezTo>
                <a:lnTo>
                  <a:pt x="0" y="104797"/>
                </a:lnTo>
                <a:cubicBezTo>
                  <a:pt x="0" y="46919"/>
                  <a:pt x="46919" y="0"/>
                  <a:pt x="104797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92661" y="5036331"/>
            <a:ext cx="4882040" cy="2445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典型参数配置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892661" y="5420606"/>
            <a:ext cx="76855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决策树数量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1253419" y="5385672"/>
            <a:ext cx="436676" cy="279473"/>
          </a:xfrm>
          <a:custGeom>
            <a:avLst/>
            <a:gdLst/>
            <a:ahLst/>
            <a:cxnLst/>
            <a:rect l="l" t="t" r="r" b="b"/>
            <a:pathLst>
              <a:path w="436676" h="279473">
                <a:moveTo>
                  <a:pt x="139736" y="0"/>
                </a:moveTo>
                <a:lnTo>
                  <a:pt x="296940" y="0"/>
                </a:lnTo>
                <a:cubicBezTo>
                  <a:pt x="374062" y="0"/>
                  <a:pt x="436676" y="62614"/>
                  <a:pt x="436676" y="139736"/>
                </a:cubicBezTo>
                <a:lnTo>
                  <a:pt x="436676" y="139736"/>
                </a:lnTo>
                <a:cubicBezTo>
                  <a:pt x="436676" y="216859"/>
                  <a:pt x="374062" y="279473"/>
                  <a:pt x="296940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0" name="Text 57"/>
          <p:cNvSpPr/>
          <p:nvPr/>
        </p:nvSpPr>
        <p:spPr>
          <a:xfrm>
            <a:off x="11253419" y="5385672"/>
            <a:ext cx="506544" cy="279473"/>
          </a:xfrm>
          <a:prstGeom prst="rect">
            <a:avLst/>
          </a:prstGeom>
          <a:noFill/>
        </p:spPr>
        <p:txBody>
          <a:bodyPr wrap="square" lIns="104802" tIns="34934" rIns="104802" bIns="34934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892661" y="5769947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分裂准则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11232677" y="5735013"/>
            <a:ext cx="462877" cy="279473"/>
          </a:xfrm>
          <a:custGeom>
            <a:avLst/>
            <a:gdLst/>
            <a:ahLst/>
            <a:cxnLst/>
            <a:rect l="l" t="t" r="r" b="b"/>
            <a:pathLst>
              <a:path w="462877" h="279473">
                <a:moveTo>
                  <a:pt x="139736" y="0"/>
                </a:moveTo>
                <a:lnTo>
                  <a:pt x="323140" y="0"/>
                </a:lnTo>
                <a:cubicBezTo>
                  <a:pt x="400263" y="0"/>
                  <a:pt x="462877" y="62614"/>
                  <a:pt x="462877" y="139736"/>
                </a:cubicBezTo>
                <a:lnTo>
                  <a:pt x="462877" y="139736"/>
                </a:lnTo>
                <a:cubicBezTo>
                  <a:pt x="462877" y="216859"/>
                  <a:pt x="400263" y="279473"/>
                  <a:pt x="323140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63" name="Text 60"/>
          <p:cNvSpPr/>
          <p:nvPr/>
        </p:nvSpPr>
        <p:spPr>
          <a:xfrm>
            <a:off x="11232677" y="5735013"/>
            <a:ext cx="532745" cy="279473"/>
          </a:xfrm>
          <a:prstGeom prst="rect">
            <a:avLst/>
          </a:prstGeom>
          <a:noFill/>
        </p:spPr>
        <p:txBody>
          <a:bodyPr wrap="square" lIns="104802" tIns="34934" rIns="104802" bIns="34934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Gini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6892661" y="6119288"/>
            <a:ext cx="628814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最大深度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11346486" y="6084354"/>
            <a:ext cx="349341" cy="279473"/>
          </a:xfrm>
          <a:custGeom>
            <a:avLst/>
            <a:gdLst/>
            <a:ahLst/>
            <a:cxnLst/>
            <a:rect l="l" t="t" r="r" b="b"/>
            <a:pathLst>
              <a:path w="349341" h="279473">
                <a:moveTo>
                  <a:pt x="139736" y="0"/>
                </a:moveTo>
                <a:lnTo>
                  <a:pt x="209605" y="0"/>
                </a:lnTo>
                <a:cubicBezTo>
                  <a:pt x="286727" y="0"/>
                  <a:pt x="349341" y="62614"/>
                  <a:pt x="349341" y="139736"/>
                </a:cubicBezTo>
                <a:lnTo>
                  <a:pt x="349341" y="139736"/>
                </a:lnTo>
                <a:cubicBezTo>
                  <a:pt x="349341" y="216859"/>
                  <a:pt x="286727" y="279473"/>
                  <a:pt x="209605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6" name="Text 63"/>
          <p:cNvSpPr/>
          <p:nvPr/>
        </p:nvSpPr>
        <p:spPr>
          <a:xfrm>
            <a:off x="11346486" y="6084354"/>
            <a:ext cx="419209" cy="279473"/>
          </a:xfrm>
          <a:prstGeom prst="rect">
            <a:avLst/>
          </a:prstGeom>
          <a:noFill/>
        </p:spPr>
        <p:txBody>
          <a:bodyPr wrap="square" lIns="104802" tIns="34934" rIns="104802" bIns="34934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6892661" y="6468629"/>
            <a:ext cx="768550" cy="209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最小样本数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11262517" y="6433695"/>
            <a:ext cx="427943" cy="279473"/>
          </a:xfrm>
          <a:custGeom>
            <a:avLst/>
            <a:gdLst/>
            <a:ahLst/>
            <a:cxnLst/>
            <a:rect l="l" t="t" r="r" b="b"/>
            <a:pathLst>
              <a:path w="427943" h="279473">
                <a:moveTo>
                  <a:pt x="139736" y="0"/>
                </a:moveTo>
                <a:lnTo>
                  <a:pt x="288206" y="0"/>
                </a:lnTo>
                <a:cubicBezTo>
                  <a:pt x="365329" y="0"/>
                  <a:pt x="427943" y="62614"/>
                  <a:pt x="427943" y="139736"/>
                </a:cubicBezTo>
                <a:lnTo>
                  <a:pt x="427943" y="139736"/>
                </a:lnTo>
                <a:cubicBezTo>
                  <a:pt x="427943" y="216859"/>
                  <a:pt x="365329" y="279473"/>
                  <a:pt x="28820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9" name="Text 66"/>
          <p:cNvSpPr/>
          <p:nvPr/>
        </p:nvSpPr>
        <p:spPr>
          <a:xfrm>
            <a:off x="11262517" y="6433695"/>
            <a:ext cx="497811" cy="279473"/>
          </a:xfrm>
          <a:prstGeom prst="rect">
            <a:avLst/>
          </a:prstGeom>
          <a:noFill/>
        </p:spPr>
        <p:txBody>
          <a:bodyPr wrap="square" lIns="104802" tIns="34934" rIns="104802" bIns="34934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SUPPORT VECTOR MACHINE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支持向量机(SVM)算法原理与特点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219200"/>
            <a:ext cx="7553325" cy="2247900"/>
          </a:xfrm>
          <a:custGeom>
            <a:avLst/>
            <a:gdLst/>
            <a:ahLst/>
            <a:cxnLst/>
            <a:rect l="l" t="t" r="r" b="b"/>
            <a:pathLst>
              <a:path w="7553325" h="2247900">
                <a:moveTo>
                  <a:pt x="38100" y="0"/>
                </a:moveTo>
                <a:lnTo>
                  <a:pt x="7439019" y="0"/>
                </a:lnTo>
                <a:cubicBezTo>
                  <a:pt x="7502149" y="0"/>
                  <a:pt x="7553325" y="51176"/>
                  <a:pt x="7553325" y="114306"/>
                </a:cubicBezTo>
                <a:lnTo>
                  <a:pt x="7553325" y="2133594"/>
                </a:lnTo>
                <a:cubicBezTo>
                  <a:pt x="7553325" y="2196724"/>
                  <a:pt x="7502149" y="2247900"/>
                  <a:pt x="7439019" y="2247900"/>
                </a:cubicBez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219200"/>
            <a:ext cx="38100" cy="2247900"/>
          </a:xfrm>
          <a:custGeom>
            <a:avLst/>
            <a:gdLst/>
            <a:ahLst/>
            <a:cxnLst/>
            <a:rect l="l" t="t" r="r" b="b"/>
            <a:pathLst>
              <a:path w="38100" h="2247900">
                <a:moveTo>
                  <a:pt x="38100" y="0"/>
                </a:moveTo>
                <a:lnTo>
                  <a:pt x="38100" y="0"/>
                </a:lnTo>
                <a:lnTo>
                  <a:pt x="38100" y="2247900"/>
                </a:lnTo>
                <a:lnTo>
                  <a:pt x="38100" y="2247900"/>
                </a:lnTo>
                <a:cubicBezTo>
                  <a:pt x="17072" y="2247900"/>
                  <a:pt x="0" y="2230828"/>
                  <a:pt x="0" y="2209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" name="Text 4"/>
          <p:cNvSpPr/>
          <p:nvPr/>
        </p:nvSpPr>
        <p:spPr>
          <a:xfrm>
            <a:off x="609600" y="1409700"/>
            <a:ext cx="7267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1866900"/>
            <a:ext cx="72294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SVM是一种二分类模型，其核心思想是找到一个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最优超平面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将不同类别的样本分开，并使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间隔(Margin)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最大化。通过核函数技巧可以处理非线性问题。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09600" y="2514600"/>
            <a:ext cx="2305050" cy="762000"/>
          </a:xfrm>
          <a:custGeom>
            <a:avLst/>
            <a:gdLst/>
            <a:ahLst/>
            <a:cxnLst/>
            <a:rect l="l" t="t" r="r" b="b"/>
            <a:pathLst>
              <a:path w="2305050" h="762000">
                <a:moveTo>
                  <a:pt x="76200" y="0"/>
                </a:moveTo>
                <a:lnTo>
                  <a:pt x="2228850" y="0"/>
                </a:lnTo>
                <a:cubicBezTo>
                  <a:pt x="2270906" y="0"/>
                  <a:pt x="2305050" y="34144"/>
                  <a:pt x="2305050" y="76200"/>
                </a:cubicBezTo>
                <a:lnTo>
                  <a:pt x="2305050" y="685800"/>
                </a:lnTo>
                <a:cubicBezTo>
                  <a:pt x="2305050" y="727856"/>
                  <a:pt x="2270906" y="762000"/>
                  <a:pt x="2228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723900" y="26289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线性可分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2933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找到最大间隔超平面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31034" y="2514600"/>
            <a:ext cx="2305050" cy="762000"/>
          </a:xfrm>
          <a:custGeom>
            <a:avLst/>
            <a:gdLst/>
            <a:ahLst/>
            <a:cxnLst/>
            <a:rect l="l" t="t" r="r" b="b"/>
            <a:pathLst>
              <a:path w="2305050" h="762000">
                <a:moveTo>
                  <a:pt x="76200" y="0"/>
                </a:moveTo>
                <a:lnTo>
                  <a:pt x="2228850" y="0"/>
                </a:lnTo>
                <a:cubicBezTo>
                  <a:pt x="2270906" y="0"/>
                  <a:pt x="2305050" y="34144"/>
                  <a:pt x="2305050" y="76200"/>
                </a:cubicBezTo>
                <a:lnTo>
                  <a:pt x="2305050" y="685800"/>
                </a:lnTo>
                <a:cubicBezTo>
                  <a:pt x="2305050" y="727856"/>
                  <a:pt x="2270906" y="762000"/>
                  <a:pt x="2228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3145334" y="26289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核函数技巧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145334" y="2933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映射到高维空间线性可分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52467" y="2514600"/>
            <a:ext cx="2305050" cy="762000"/>
          </a:xfrm>
          <a:custGeom>
            <a:avLst/>
            <a:gdLst/>
            <a:ahLst/>
            <a:cxnLst/>
            <a:rect l="l" t="t" r="r" b="b"/>
            <a:pathLst>
              <a:path w="2305050" h="762000">
                <a:moveTo>
                  <a:pt x="76200" y="0"/>
                </a:moveTo>
                <a:lnTo>
                  <a:pt x="2228850" y="0"/>
                </a:lnTo>
                <a:cubicBezTo>
                  <a:pt x="2270906" y="0"/>
                  <a:pt x="2305050" y="34144"/>
                  <a:pt x="2305050" y="76200"/>
                </a:cubicBezTo>
                <a:lnTo>
                  <a:pt x="2305050" y="685800"/>
                </a:lnTo>
                <a:cubicBezTo>
                  <a:pt x="2305050" y="727856"/>
                  <a:pt x="2270906" y="762000"/>
                  <a:pt x="2228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5566767" y="26289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支持向量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66767" y="2933700"/>
            <a:ext cx="2152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决定边界的少数样本点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3619500"/>
            <a:ext cx="3686175" cy="3124200"/>
          </a:xfrm>
          <a:custGeom>
            <a:avLst/>
            <a:gdLst/>
            <a:ahLst/>
            <a:cxnLst/>
            <a:rect l="l" t="t" r="r" b="b"/>
            <a:pathLst>
              <a:path w="3686175" h="3124200">
                <a:moveTo>
                  <a:pt x="38100" y="0"/>
                </a:moveTo>
                <a:lnTo>
                  <a:pt x="3571861" y="0"/>
                </a:lnTo>
                <a:cubicBezTo>
                  <a:pt x="3634995" y="0"/>
                  <a:pt x="3686175" y="51180"/>
                  <a:pt x="3686175" y="114314"/>
                </a:cubicBezTo>
                <a:lnTo>
                  <a:pt x="3686175" y="3009886"/>
                </a:lnTo>
                <a:cubicBezTo>
                  <a:pt x="3686175" y="3073020"/>
                  <a:pt x="3634995" y="3124200"/>
                  <a:pt x="3571861" y="3124200"/>
                </a:cubicBez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0050" y="3619500"/>
            <a:ext cx="38100" cy="3124200"/>
          </a:xfrm>
          <a:custGeom>
            <a:avLst/>
            <a:gdLst/>
            <a:ahLst/>
            <a:cxnLst/>
            <a:rect l="l" t="t" r="r" b="b"/>
            <a:pathLst>
              <a:path w="38100" h="3124200">
                <a:moveTo>
                  <a:pt x="38100" y="0"/>
                </a:moveTo>
                <a:lnTo>
                  <a:pt x="38100" y="0"/>
                </a:lnTo>
                <a:lnTo>
                  <a:pt x="38100" y="3124200"/>
                </a:ln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0" name="Text 17"/>
          <p:cNvSpPr/>
          <p:nvPr/>
        </p:nvSpPr>
        <p:spPr>
          <a:xfrm>
            <a:off x="609600" y="3810000"/>
            <a:ext cx="3381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关键特点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33413" y="4267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2" name="Text 19"/>
          <p:cNvSpPr/>
          <p:nvPr/>
        </p:nvSpPr>
        <p:spPr>
          <a:xfrm>
            <a:off x="900113" y="42291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适合高维数据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0113" y="445770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在高维空间中表现优异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3413" y="4838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5" name="Text 22"/>
          <p:cNvSpPr/>
          <p:nvPr/>
        </p:nvSpPr>
        <p:spPr>
          <a:xfrm>
            <a:off x="900113" y="48006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泛化能力强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00113" y="5029200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最大化间隔提升泛化能力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3413" y="541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8" name="Text 25"/>
          <p:cNvSpPr/>
          <p:nvPr/>
        </p:nvSpPr>
        <p:spPr>
          <a:xfrm>
            <a:off x="900113" y="53721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对小样本友好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00113" y="56007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样本数量不敏感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60850" y="3619500"/>
            <a:ext cx="3686175" cy="3124200"/>
          </a:xfrm>
          <a:custGeom>
            <a:avLst/>
            <a:gdLst/>
            <a:ahLst/>
            <a:cxnLst/>
            <a:rect l="l" t="t" r="r" b="b"/>
            <a:pathLst>
              <a:path w="3686175" h="3124200">
                <a:moveTo>
                  <a:pt x="38100" y="0"/>
                </a:moveTo>
                <a:lnTo>
                  <a:pt x="3571861" y="0"/>
                </a:lnTo>
                <a:cubicBezTo>
                  <a:pt x="3634995" y="0"/>
                  <a:pt x="3686175" y="51180"/>
                  <a:pt x="3686175" y="114314"/>
                </a:cubicBezTo>
                <a:lnTo>
                  <a:pt x="3686175" y="3009886"/>
                </a:lnTo>
                <a:cubicBezTo>
                  <a:pt x="3686175" y="3073020"/>
                  <a:pt x="3634995" y="3124200"/>
                  <a:pt x="3571861" y="3124200"/>
                </a:cubicBez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260850" y="3619500"/>
            <a:ext cx="38100" cy="3124200"/>
          </a:xfrm>
          <a:custGeom>
            <a:avLst/>
            <a:gdLst/>
            <a:ahLst/>
            <a:cxnLst/>
            <a:rect l="l" t="t" r="r" b="b"/>
            <a:pathLst>
              <a:path w="38100" h="3124200">
                <a:moveTo>
                  <a:pt x="38100" y="0"/>
                </a:moveTo>
                <a:lnTo>
                  <a:pt x="38100" y="0"/>
                </a:lnTo>
                <a:lnTo>
                  <a:pt x="38100" y="3124200"/>
                </a:lnTo>
                <a:lnTo>
                  <a:pt x="38100" y="3124200"/>
                </a:lnTo>
                <a:cubicBezTo>
                  <a:pt x="17072" y="3124200"/>
                  <a:pt x="0" y="3107128"/>
                  <a:pt x="0" y="3086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2" name="Text 29"/>
          <p:cNvSpPr/>
          <p:nvPr/>
        </p:nvSpPr>
        <p:spPr>
          <a:xfrm>
            <a:off x="4470400" y="3810000"/>
            <a:ext cx="3381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核函数选择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470400" y="4229100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76198" y="0"/>
                </a:moveTo>
                <a:lnTo>
                  <a:pt x="3209927" y="0"/>
                </a:lnTo>
                <a:cubicBezTo>
                  <a:pt x="3251982" y="0"/>
                  <a:pt x="3286125" y="34143"/>
                  <a:pt x="3286125" y="76198"/>
                </a:cubicBezTo>
                <a:lnTo>
                  <a:pt x="3286125" y="647702"/>
                </a:lnTo>
                <a:cubicBezTo>
                  <a:pt x="3286125" y="689757"/>
                  <a:pt x="3251982" y="723900"/>
                  <a:pt x="3209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4584700" y="43434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线性核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584700" y="46101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适合线性可分数据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470400" y="5029200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76198" y="0"/>
                </a:moveTo>
                <a:lnTo>
                  <a:pt x="3209927" y="0"/>
                </a:lnTo>
                <a:cubicBezTo>
                  <a:pt x="3251982" y="0"/>
                  <a:pt x="3286125" y="34143"/>
                  <a:pt x="3286125" y="76198"/>
                </a:cubicBezTo>
                <a:lnTo>
                  <a:pt x="3286125" y="647702"/>
                </a:lnTo>
                <a:cubicBezTo>
                  <a:pt x="3286125" y="689757"/>
                  <a:pt x="3251982" y="723900"/>
                  <a:pt x="3209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4584700" y="51435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多项式核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584700" y="54102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适合多项式关系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470400" y="5829300"/>
            <a:ext cx="3286125" cy="723900"/>
          </a:xfrm>
          <a:custGeom>
            <a:avLst/>
            <a:gdLst/>
            <a:ahLst/>
            <a:cxnLst/>
            <a:rect l="l" t="t" r="r" b="b"/>
            <a:pathLst>
              <a:path w="3286125" h="723900">
                <a:moveTo>
                  <a:pt x="76198" y="0"/>
                </a:moveTo>
                <a:lnTo>
                  <a:pt x="3209927" y="0"/>
                </a:lnTo>
                <a:cubicBezTo>
                  <a:pt x="3251982" y="0"/>
                  <a:pt x="3286125" y="34143"/>
                  <a:pt x="3286125" y="76198"/>
                </a:cubicBezTo>
                <a:lnTo>
                  <a:pt x="3286125" y="647702"/>
                </a:lnTo>
                <a:cubicBezTo>
                  <a:pt x="3286125" y="689757"/>
                  <a:pt x="3251982" y="723900"/>
                  <a:pt x="3209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4584700" y="59436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RBF核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584700" y="6210300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适合非线性问题，最常用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02600" y="1219200"/>
            <a:ext cx="3705225" cy="5524500"/>
          </a:xfrm>
          <a:custGeom>
            <a:avLst/>
            <a:gdLst/>
            <a:ahLst/>
            <a:cxnLst/>
            <a:rect l="l" t="t" r="r" b="b"/>
            <a:pathLst>
              <a:path w="3705225" h="55245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5410194"/>
                </a:lnTo>
                <a:cubicBezTo>
                  <a:pt x="3705225" y="5473323"/>
                  <a:pt x="3654048" y="5524500"/>
                  <a:pt x="3590919" y="5524500"/>
                </a:cubicBezTo>
                <a:lnTo>
                  <a:pt x="114306" y="5524500"/>
                </a:lnTo>
                <a:cubicBezTo>
                  <a:pt x="51177" y="5524500"/>
                  <a:pt x="0" y="5473323"/>
                  <a:pt x="0" y="54101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293100" y="1409700"/>
            <a:ext cx="3419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SVM异常检测应用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293100" y="1828800"/>
            <a:ext cx="3400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在电商异常检测中，SVM可以识别用户的异常购买行为、刷单行为、欺诈行为等。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293100" y="2476500"/>
            <a:ext cx="3324225" cy="1562100"/>
          </a:xfrm>
          <a:custGeom>
            <a:avLst/>
            <a:gdLst/>
            <a:ahLst/>
            <a:cxnLst/>
            <a:rect l="l" t="t" r="r" b="b"/>
            <a:pathLst>
              <a:path w="3324225" h="1562100">
                <a:moveTo>
                  <a:pt x="76199" y="0"/>
                </a:moveTo>
                <a:lnTo>
                  <a:pt x="3248026" y="0"/>
                </a:lnTo>
                <a:cubicBezTo>
                  <a:pt x="3290109" y="0"/>
                  <a:pt x="3324225" y="34116"/>
                  <a:pt x="3324225" y="76199"/>
                </a:cubicBezTo>
                <a:lnTo>
                  <a:pt x="3324225" y="1485901"/>
                </a:lnTo>
                <a:cubicBezTo>
                  <a:pt x="3324225" y="1527984"/>
                  <a:pt x="3290109" y="1562100"/>
                  <a:pt x="324802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8407400" y="25908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异常行为类型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8407400" y="28956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短时间内大量购买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407400" y="31623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异常高价商品购买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407400" y="34290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设备指纹异常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407400" y="36957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地理位置异常登录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93100" y="4152900"/>
            <a:ext cx="3324225" cy="1485900"/>
          </a:xfrm>
          <a:custGeom>
            <a:avLst/>
            <a:gdLst/>
            <a:ahLst/>
            <a:cxnLst/>
            <a:rect l="l" t="t" r="r" b="b"/>
            <a:pathLst>
              <a:path w="3324225" h="1485900">
                <a:moveTo>
                  <a:pt x="76197" y="0"/>
                </a:moveTo>
                <a:lnTo>
                  <a:pt x="3248028" y="0"/>
                </a:lnTo>
                <a:cubicBezTo>
                  <a:pt x="3290110" y="0"/>
                  <a:pt x="3324225" y="34115"/>
                  <a:pt x="3324225" y="76197"/>
                </a:cubicBezTo>
                <a:lnTo>
                  <a:pt x="3324225" y="1409703"/>
                </a:lnTo>
                <a:cubicBezTo>
                  <a:pt x="3324225" y="1451785"/>
                  <a:pt x="3290110" y="1485900"/>
                  <a:pt x="3248028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2" name="Text 49"/>
          <p:cNvSpPr/>
          <p:nvPr/>
        </p:nvSpPr>
        <p:spPr>
          <a:xfrm>
            <a:off x="8407400" y="4267200"/>
            <a:ext cx="3171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典型参数配置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407400" y="4572000"/>
            <a:ext cx="533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核函数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11105754" y="4572000"/>
            <a:ext cx="400050" cy="266700"/>
          </a:xfrm>
          <a:custGeom>
            <a:avLst/>
            <a:gdLst/>
            <a:ahLst/>
            <a:cxnLst/>
            <a:rect l="l" t="t" r="r" b="b"/>
            <a:pathLst>
              <a:path w="400050" h="26670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5" name="Text 52"/>
          <p:cNvSpPr/>
          <p:nvPr/>
        </p:nvSpPr>
        <p:spPr>
          <a:xfrm>
            <a:off x="11105754" y="4572000"/>
            <a:ext cx="4667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RBF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407400" y="4914900"/>
            <a:ext cx="790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惩罚系数C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1301314" y="4914900"/>
            <a:ext cx="209550" cy="266700"/>
          </a:xfrm>
          <a:custGeom>
            <a:avLst/>
            <a:gdLst/>
            <a:ahLst/>
            <a:cxnLst/>
            <a:rect l="l" t="t" r="r" b="b"/>
            <a:pathLst>
              <a:path w="209550" h="266700">
                <a:moveTo>
                  <a:pt x="38100" y="0"/>
                </a:moveTo>
                <a:lnTo>
                  <a:pt x="171450" y="0"/>
                </a:lnTo>
                <a:cubicBezTo>
                  <a:pt x="192492" y="0"/>
                  <a:pt x="209550" y="17058"/>
                  <a:pt x="209550" y="38100"/>
                </a:cubicBezTo>
                <a:lnTo>
                  <a:pt x="209550" y="228600"/>
                </a:lnTo>
                <a:cubicBezTo>
                  <a:pt x="209550" y="249642"/>
                  <a:pt x="192492" y="266700"/>
                  <a:pt x="17145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8" name="Text 55"/>
          <p:cNvSpPr/>
          <p:nvPr/>
        </p:nvSpPr>
        <p:spPr>
          <a:xfrm>
            <a:off x="11301314" y="4914900"/>
            <a:ext cx="2762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407400" y="5257800"/>
            <a:ext cx="685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多类策略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11078071" y="5257800"/>
            <a:ext cx="428625" cy="266700"/>
          </a:xfrm>
          <a:custGeom>
            <a:avLst/>
            <a:gdLst/>
            <a:ahLst/>
            <a:cxnLst/>
            <a:rect l="l" t="t" r="r" b="b"/>
            <a:pathLst>
              <a:path w="428625" h="2667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228599"/>
                </a:lnTo>
                <a:cubicBezTo>
                  <a:pt x="428625" y="249642"/>
                  <a:pt x="411567" y="266700"/>
                  <a:pt x="3905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1" name="Text 58"/>
          <p:cNvSpPr/>
          <p:nvPr/>
        </p:nvSpPr>
        <p:spPr>
          <a:xfrm>
            <a:off x="11078071" y="5257800"/>
            <a:ext cx="4953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OVR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495" y="337495"/>
            <a:ext cx="11576072" cy="1687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kern="0" spc="93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NEURAL NETWORK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7495" y="573741"/>
            <a:ext cx="11668883" cy="3374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神经网络算法原理与特点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54370" y="1046234"/>
            <a:ext cx="5678350" cy="2632460"/>
          </a:xfrm>
          <a:custGeom>
            <a:avLst/>
            <a:gdLst/>
            <a:ahLst/>
            <a:cxnLst/>
            <a:rect l="l" t="t" r="r" b="b"/>
            <a:pathLst>
              <a:path w="5678350" h="2632460">
                <a:moveTo>
                  <a:pt x="33749" y="0"/>
                </a:moveTo>
                <a:lnTo>
                  <a:pt x="5577106" y="0"/>
                </a:lnTo>
                <a:cubicBezTo>
                  <a:pt x="5633022" y="0"/>
                  <a:pt x="5678350" y="45329"/>
                  <a:pt x="5678350" y="101244"/>
                </a:cubicBezTo>
                <a:lnTo>
                  <a:pt x="5678350" y="2531215"/>
                </a:lnTo>
                <a:cubicBezTo>
                  <a:pt x="5678350" y="2587131"/>
                  <a:pt x="5633022" y="2632460"/>
                  <a:pt x="5577106" y="2632460"/>
                </a:cubicBezTo>
                <a:lnTo>
                  <a:pt x="33749" y="2632460"/>
                </a:lnTo>
                <a:cubicBezTo>
                  <a:pt x="15110" y="2632460"/>
                  <a:pt x="0" y="2617349"/>
                  <a:pt x="0" y="2598710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561" dist="843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4370" y="1046234"/>
            <a:ext cx="33749" cy="2632460"/>
          </a:xfrm>
          <a:custGeom>
            <a:avLst/>
            <a:gdLst/>
            <a:ahLst/>
            <a:cxnLst/>
            <a:rect l="l" t="t" r="r" b="b"/>
            <a:pathLst>
              <a:path w="33749" h="2632460">
                <a:moveTo>
                  <a:pt x="33749" y="0"/>
                </a:moveTo>
                <a:lnTo>
                  <a:pt x="33749" y="0"/>
                </a:lnTo>
                <a:lnTo>
                  <a:pt x="33749" y="2632460"/>
                </a:lnTo>
                <a:lnTo>
                  <a:pt x="33749" y="2632460"/>
                </a:lnTo>
                <a:cubicBezTo>
                  <a:pt x="15110" y="2632460"/>
                  <a:pt x="0" y="2617349"/>
                  <a:pt x="0" y="2598710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" name="Text 4"/>
          <p:cNvSpPr/>
          <p:nvPr/>
        </p:nvSpPr>
        <p:spPr>
          <a:xfrm>
            <a:off x="506242" y="1181232"/>
            <a:ext cx="5492728" cy="269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6242" y="1552476"/>
            <a:ext cx="5458979" cy="438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神经网络是模拟人脑神经元连接的计算模型，通过</a:t>
            </a: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多层感知器(MLP)</a:t>
            </a: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或深度学习网络学习数据的复杂模式。BP神经网络采用</a:t>
            </a: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反向传播算法</a:t>
            </a: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调整权重。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6242" y="2092468"/>
            <a:ext cx="2640897" cy="674990"/>
          </a:xfrm>
          <a:custGeom>
            <a:avLst/>
            <a:gdLst/>
            <a:ahLst/>
            <a:cxnLst/>
            <a:rect l="l" t="t" r="r" b="b"/>
            <a:pathLst>
              <a:path w="2640897" h="674990">
                <a:moveTo>
                  <a:pt x="67499" y="0"/>
                </a:moveTo>
                <a:lnTo>
                  <a:pt x="2573398" y="0"/>
                </a:lnTo>
                <a:cubicBezTo>
                  <a:pt x="2610677" y="0"/>
                  <a:pt x="2640897" y="30220"/>
                  <a:pt x="2640897" y="67499"/>
                </a:cubicBezTo>
                <a:lnTo>
                  <a:pt x="2640897" y="607491"/>
                </a:lnTo>
                <a:cubicBezTo>
                  <a:pt x="2640897" y="644744"/>
                  <a:pt x="2610652" y="674990"/>
                  <a:pt x="2573398" y="674990"/>
                </a:cubicBezTo>
                <a:lnTo>
                  <a:pt x="67499" y="674990"/>
                </a:lnTo>
                <a:cubicBezTo>
                  <a:pt x="30220" y="674990"/>
                  <a:pt x="0" y="644769"/>
                  <a:pt x="0" y="607491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0" name="Text 7"/>
          <p:cNvSpPr/>
          <p:nvPr/>
        </p:nvSpPr>
        <p:spPr>
          <a:xfrm>
            <a:off x="607491" y="2193716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前向传播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7491" y="2463712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输入数据通过网络层层传递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51200" y="2092468"/>
            <a:ext cx="2640897" cy="674990"/>
          </a:xfrm>
          <a:custGeom>
            <a:avLst/>
            <a:gdLst/>
            <a:ahLst/>
            <a:cxnLst/>
            <a:rect l="l" t="t" r="r" b="b"/>
            <a:pathLst>
              <a:path w="2640897" h="674990">
                <a:moveTo>
                  <a:pt x="67499" y="0"/>
                </a:moveTo>
                <a:lnTo>
                  <a:pt x="2573398" y="0"/>
                </a:lnTo>
                <a:cubicBezTo>
                  <a:pt x="2610677" y="0"/>
                  <a:pt x="2640897" y="30220"/>
                  <a:pt x="2640897" y="67499"/>
                </a:cubicBezTo>
                <a:lnTo>
                  <a:pt x="2640897" y="607491"/>
                </a:lnTo>
                <a:cubicBezTo>
                  <a:pt x="2640897" y="644744"/>
                  <a:pt x="2610652" y="674990"/>
                  <a:pt x="2573398" y="674990"/>
                </a:cubicBezTo>
                <a:lnTo>
                  <a:pt x="67499" y="674990"/>
                </a:lnTo>
                <a:cubicBezTo>
                  <a:pt x="30220" y="674990"/>
                  <a:pt x="0" y="644769"/>
                  <a:pt x="0" y="607491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3352449" y="2193716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反向传播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352449" y="2463712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根据误差反向调整权重参数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6242" y="2868706"/>
            <a:ext cx="2640897" cy="674990"/>
          </a:xfrm>
          <a:custGeom>
            <a:avLst/>
            <a:gdLst/>
            <a:ahLst/>
            <a:cxnLst/>
            <a:rect l="l" t="t" r="r" b="b"/>
            <a:pathLst>
              <a:path w="2640897" h="674990">
                <a:moveTo>
                  <a:pt x="67499" y="0"/>
                </a:moveTo>
                <a:lnTo>
                  <a:pt x="2573398" y="0"/>
                </a:lnTo>
                <a:cubicBezTo>
                  <a:pt x="2610677" y="0"/>
                  <a:pt x="2640897" y="30220"/>
                  <a:pt x="2640897" y="67499"/>
                </a:cubicBezTo>
                <a:lnTo>
                  <a:pt x="2640897" y="607491"/>
                </a:lnTo>
                <a:cubicBezTo>
                  <a:pt x="2640897" y="644744"/>
                  <a:pt x="2610652" y="674990"/>
                  <a:pt x="2573398" y="674990"/>
                </a:cubicBezTo>
                <a:lnTo>
                  <a:pt x="67499" y="674990"/>
                </a:lnTo>
                <a:cubicBezTo>
                  <a:pt x="30220" y="674990"/>
                  <a:pt x="0" y="644769"/>
                  <a:pt x="0" y="607491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607491" y="2969954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7491" y="3239950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引入非线性，提升表达能力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51200" y="2868706"/>
            <a:ext cx="2640897" cy="674990"/>
          </a:xfrm>
          <a:custGeom>
            <a:avLst/>
            <a:gdLst/>
            <a:ahLst/>
            <a:cxnLst/>
            <a:rect l="l" t="t" r="r" b="b"/>
            <a:pathLst>
              <a:path w="2640897" h="674990">
                <a:moveTo>
                  <a:pt x="67499" y="0"/>
                </a:moveTo>
                <a:lnTo>
                  <a:pt x="2573398" y="0"/>
                </a:lnTo>
                <a:cubicBezTo>
                  <a:pt x="2610677" y="0"/>
                  <a:pt x="2640897" y="30220"/>
                  <a:pt x="2640897" y="67499"/>
                </a:cubicBezTo>
                <a:lnTo>
                  <a:pt x="2640897" y="607491"/>
                </a:lnTo>
                <a:cubicBezTo>
                  <a:pt x="2640897" y="644744"/>
                  <a:pt x="2610652" y="674990"/>
                  <a:pt x="2573398" y="674990"/>
                </a:cubicBezTo>
                <a:lnTo>
                  <a:pt x="67499" y="674990"/>
                </a:lnTo>
                <a:cubicBezTo>
                  <a:pt x="30220" y="674990"/>
                  <a:pt x="0" y="644769"/>
                  <a:pt x="0" y="607491"/>
                </a:cubicBezTo>
                <a:lnTo>
                  <a:pt x="0" y="67499"/>
                </a:lnTo>
                <a:cubicBezTo>
                  <a:pt x="0" y="30220"/>
                  <a:pt x="30220" y="0"/>
                  <a:pt x="6749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9" name="Text 16"/>
          <p:cNvSpPr/>
          <p:nvPr/>
        </p:nvSpPr>
        <p:spPr>
          <a:xfrm>
            <a:off x="3352449" y="2969954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梯度下降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352449" y="3239950"/>
            <a:ext cx="250589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优化损失函数，找到最优解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4370" y="3779942"/>
            <a:ext cx="5678350" cy="1687474"/>
          </a:xfrm>
          <a:custGeom>
            <a:avLst/>
            <a:gdLst/>
            <a:ahLst/>
            <a:cxnLst/>
            <a:rect l="l" t="t" r="r" b="b"/>
            <a:pathLst>
              <a:path w="5678350" h="1687474">
                <a:moveTo>
                  <a:pt x="33749" y="0"/>
                </a:moveTo>
                <a:lnTo>
                  <a:pt x="5577102" y="0"/>
                </a:lnTo>
                <a:cubicBezTo>
                  <a:pt x="5633020" y="0"/>
                  <a:pt x="5678350" y="45330"/>
                  <a:pt x="5678350" y="101248"/>
                </a:cubicBezTo>
                <a:lnTo>
                  <a:pt x="5678350" y="1586226"/>
                </a:lnTo>
                <a:cubicBezTo>
                  <a:pt x="5678350" y="1642144"/>
                  <a:pt x="5633020" y="1687474"/>
                  <a:pt x="5577102" y="1687474"/>
                </a:cubicBezTo>
                <a:lnTo>
                  <a:pt x="33749" y="1687474"/>
                </a:lnTo>
                <a:cubicBezTo>
                  <a:pt x="15110" y="1687474"/>
                  <a:pt x="0" y="1672364"/>
                  <a:pt x="0" y="1653725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561" dist="843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54370" y="3779942"/>
            <a:ext cx="33749" cy="1687474"/>
          </a:xfrm>
          <a:custGeom>
            <a:avLst/>
            <a:gdLst/>
            <a:ahLst/>
            <a:cxnLst/>
            <a:rect l="l" t="t" r="r" b="b"/>
            <a:pathLst>
              <a:path w="33749" h="1687474">
                <a:moveTo>
                  <a:pt x="33749" y="0"/>
                </a:moveTo>
                <a:lnTo>
                  <a:pt x="33749" y="0"/>
                </a:lnTo>
                <a:lnTo>
                  <a:pt x="33749" y="1687474"/>
                </a:lnTo>
                <a:lnTo>
                  <a:pt x="33749" y="1687474"/>
                </a:lnTo>
                <a:cubicBezTo>
                  <a:pt x="15110" y="1687474"/>
                  <a:pt x="0" y="1672364"/>
                  <a:pt x="0" y="1653725"/>
                </a:cubicBezTo>
                <a:lnTo>
                  <a:pt x="0" y="33749"/>
                </a:lnTo>
                <a:cubicBezTo>
                  <a:pt x="0" y="15110"/>
                  <a:pt x="15110" y="0"/>
                  <a:pt x="33749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3" name="Text 20"/>
          <p:cNvSpPr/>
          <p:nvPr/>
        </p:nvSpPr>
        <p:spPr>
          <a:xfrm>
            <a:off x="506242" y="3914940"/>
            <a:ext cx="5492728" cy="2699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关键特点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27336" y="4311496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75936" y="151873"/>
                </a:moveTo>
                <a:cubicBezTo>
                  <a:pt x="117847" y="151873"/>
                  <a:pt x="151873" y="117847"/>
                  <a:pt x="151873" y="75936"/>
                </a:cubicBezTo>
                <a:cubicBezTo>
                  <a:pt x="151873" y="34026"/>
                  <a:pt x="117847" y="0"/>
                  <a:pt x="75936" y="0"/>
                </a:cubicBezTo>
                <a:cubicBezTo>
                  <a:pt x="34026" y="0"/>
                  <a:pt x="0" y="34026"/>
                  <a:pt x="0" y="75936"/>
                </a:cubicBezTo>
                <a:cubicBezTo>
                  <a:pt x="0" y="117847"/>
                  <a:pt x="34026" y="151873"/>
                  <a:pt x="75936" y="151873"/>
                </a:cubicBezTo>
                <a:close/>
                <a:moveTo>
                  <a:pt x="100972" y="63092"/>
                </a:moveTo>
                <a:lnTo>
                  <a:pt x="77241" y="101061"/>
                </a:lnTo>
                <a:cubicBezTo>
                  <a:pt x="75996" y="103048"/>
                  <a:pt x="73860" y="104294"/>
                  <a:pt x="71517" y="104412"/>
                </a:cubicBezTo>
                <a:cubicBezTo>
                  <a:pt x="69173" y="104531"/>
                  <a:pt x="66919" y="103463"/>
                  <a:pt x="65525" y="101565"/>
                </a:cubicBezTo>
                <a:lnTo>
                  <a:pt x="51287" y="82581"/>
                </a:lnTo>
                <a:cubicBezTo>
                  <a:pt x="48914" y="79437"/>
                  <a:pt x="49566" y="74987"/>
                  <a:pt x="52710" y="72614"/>
                </a:cubicBezTo>
                <a:cubicBezTo>
                  <a:pt x="55855" y="70241"/>
                  <a:pt x="60304" y="70894"/>
                  <a:pt x="62677" y="74038"/>
                </a:cubicBezTo>
                <a:lnTo>
                  <a:pt x="70686" y="84716"/>
                </a:lnTo>
                <a:lnTo>
                  <a:pt x="88899" y="55558"/>
                </a:lnTo>
                <a:cubicBezTo>
                  <a:pt x="90975" y="52236"/>
                  <a:pt x="95365" y="51198"/>
                  <a:pt x="98717" y="53304"/>
                </a:cubicBezTo>
                <a:cubicBezTo>
                  <a:pt x="102069" y="55410"/>
                  <a:pt x="103078" y="59770"/>
                  <a:pt x="100972" y="63122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5" name="Text 22"/>
          <p:cNvSpPr/>
          <p:nvPr/>
        </p:nvSpPr>
        <p:spPr>
          <a:xfrm>
            <a:off x="763582" y="4286184"/>
            <a:ext cx="74248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非线性建模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06242" y="4556180"/>
            <a:ext cx="2708396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强大的非线性关系捕捉能力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272294" y="4311496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75936" y="151873"/>
                </a:moveTo>
                <a:cubicBezTo>
                  <a:pt x="117847" y="151873"/>
                  <a:pt x="151873" y="117847"/>
                  <a:pt x="151873" y="75936"/>
                </a:cubicBezTo>
                <a:cubicBezTo>
                  <a:pt x="151873" y="34026"/>
                  <a:pt x="117847" y="0"/>
                  <a:pt x="75936" y="0"/>
                </a:cubicBezTo>
                <a:cubicBezTo>
                  <a:pt x="34026" y="0"/>
                  <a:pt x="0" y="34026"/>
                  <a:pt x="0" y="75936"/>
                </a:cubicBezTo>
                <a:cubicBezTo>
                  <a:pt x="0" y="117847"/>
                  <a:pt x="34026" y="151873"/>
                  <a:pt x="75936" y="151873"/>
                </a:cubicBezTo>
                <a:close/>
                <a:moveTo>
                  <a:pt x="100972" y="63092"/>
                </a:moveTo>
                <a:lnTo>
                  <a:pt x="77241" y="101061"/>
                </a:lnTo>
                <a:cubicBezTo>
                  <a:pt x="75996" y="103048"/>
                  <a:pt x="73860" y="104294"/>
                  <a:pt x="71517" y="104412"/>
                </a:cubicBezTo>
                <a:cubicBezTo>
                  <a:pt x="69173" y="104531"/>
                  <a:pt x="66919" y="103463"/>
                  <a:pt x="65525" y="101565"/>
                </a:cubicBezTo>
                <a:lnTo>
                  <a:pt x="51287" y="82581"/>
                </a:lnTo>
                <a:cubicBezTo>
                  <a:pt x="48914" y="79437"/>
                  <a:pt x="49566" y="74987"/>
                  <a:pt x="52710" y="72614"/>
                </a:cubicBezTo>
                <a:cubicBezTo>
                  <a:pt x="55855" y="70241"/>
                  <a:pt x="60304" y="70894"/>
                  <a:pt x="62677" y="74038"/>
                </a:cubicBezTo>
                <a:lnTo>
                  <a:pt x="70686" y="84716"/>
                </a:lnTo>
                <a:lnTo>
                  <a:pt x="88899" y="55558"/>
                </a:lnTo>
                <a:cubicBezTo>
                  <a:pt x="90975" y="52236"/>
                  <a:pt x="95365" y="51198"/>
                  <a:pt x="98717" y="53304"/>
                </a:cubicBezTo>
                <a:cubicBezTo>
                  <a:pt x="102069" y="55410"/>
                  <a:pt x="103078" y="59770"/>
                  <a:pt x="100972" y="63122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8" name="Text 25"/>
          <p:cNvSpPr/>
          <p:nvPr/>
        </p:nvSpPr>
        <p:spPr>
          <a:xfrm>
            <a:off x="3508540" y="4286184"/>
            <a:ext cx="877487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自动特征学习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251200" y="4556180"/>
            <a:ext cx="2708396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自动学习特征组合和表示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27336" y="4885237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75936" y="151873"/>
                </a:moveTo>
                <a:cubicBezTo>
                  <a:pt x="117847" y="151873"/>
                  <a:pt x="151873" y="117847"/>
                  <a:pt x="151873" y="75936"/>
                </a:cubicBezTo>
                <a:cubicBezTo>
                  <a:pt x="151873" y="34026"/>
                  <a:pt x="117847" y="0"/>
                  <a:pt x="75936" y="0"/>
                </a:cubicBezTo>
                <a:cubicBezTo>
                  <a:pt x="34026" y="0"/>
                  <a:pt x="0" y="34026"/>
                  <a:pt x="0" y="75936"/>
                </a:cubicBezTo>
                <a:cubicBezTo>
                  <a:pt x="0" y="117847"/>
                  <a:pt x="34026" y="151873"/>
                  <a:pt x="75936" y="151873"/>
                </a:cubicBezTo>
                <a:close/>
                <a:moveTo>
                  <a:pt x="100972" y="63092"/>
                </a:moveTo>
                <a:lnTo>
                  <a:pt x="77241" y="101061"/>
                </a:lnTo>
                <a:cubicBezTo>
                  <a:pt x="75996" y="103048"/>
                  <a:pt x="73860" y="104294"/>
                  <a:pt x="71517" y="104412"/>
                </a:cubicBezTo>
                <a:cubicBezTo>
                  <a:pt x="69173" y="104531"/>
                  <a:pt x="66919" y="103463"/>
                  <a:pt x="65525" y="101565"/>
                </a:cubicBezTo>
                <a:lnTo>
                  <a:pt x="51287" y="82581"/>
                </a:lnTo>
                <a:cubicBezTo>
                  <a:pt x="48914" y="79437"/>
                  <a:pt x="49566" y="74987"/>
                  <a:pt x="52710" y="72614"/>
                </a:cubicBezTo>
                <a:cubicBezTo>
                  <a:pt x="55855" y="70241"/>
                  <a:pt x="60304" y="70894"/>
                  <a:pt x="62677" y="74038"/>
                </a:cubicBezTo>
                <a:lnTo>
                  <a:pt x="70686" y="84716"/>
                </a:lnTo>
                <a:lnTo>
                  <a:pt x="88899" y="55558"/>
                </a:lnTo>
                <a:cubicBezTo>
                  <a:pt x="90975" y="52236"/>
                  <a:pt x="95365" y="51198"/>
                  <a:pt x="98717" y="53304"/>
                </a:cubicBezTo>
                <a:cubicBezTo>
                  <a:pt x="102069" y="55410"/>
                  <a:pt x="103078" y="59770"/>
                  <a:pt x="100972" y="63122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1" name="Text 28"/>
          <p:cNvSpPr/>
          <p:nvPr/>
        </p:nvSpPr>
        <p:spPr>
          <a:xfrm>
            <a:off x="763582" y="4859925"/>
            <a:ext cx="1012484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适合大规模数据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6242" y="5129921"/>
            <a:ext cx="2708396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数据量越大，性能越好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3272294" y="4885237"/>
            <a:ext cx="151873" cy="151873"/>
          </a:xfrm>
          <a:custGeom>
            <a:avLst/>
            <a:gdLst/>
            <a:ahLst/>
            <a:cxnLst/>
            <a:rect l="l" t="t" r="r" b="b"/>
            <a:pathLst>
              <a:path w="151873" h="151873">
                <a:moveTo>
                  <a:pt x="75936" y="0"/>
                </a:moveTo>
                <a:cubicBezTo>
                  <a:pt x="80297" y="0"/>
                  <a:pt x="84301" y="2403"/>
                  <a:pt x="86378" y="6229"/>
                </a:cubicBezTo>
                <a:lnTo>
                  <a:pt x="150449" y="124880"/>
                </a:lnTo>
                <a:cubicBezTo>
                  <a:pt x="152436" y="128558"/>
                  <a:pt x="152347" y="133007"/>
                  <a:pt x="150212" y="136596"/>
                </a:cubicBezTo>
                <a:cubicBezTo>
                  <a:pt x="148076" y="140186"/>
                  <a:pt x="144190" y="142381"/>
                  <a:pt x="140008" y="142381"/>
                </a:cubicBezTo>
                <a:lnTo>
                  <a:pt x="11865" y="142381"/>
                </a:lnTo>
                <a:cubicBezTo>
                  <a:pt x="7683" y="142381"/>
                  <a:pt x="3826" y="140186"/>
                  <a:pt x="1661" y="136596"/>
                </a:cubicBezTo>
                <a:cubicBezTo>
                  <a:pt x="-504" y="133007"/>
                  <a:pt x="-564" y="128558"/>
                  <a:pt x="1424" y="124880"/>
                </a:cubicBezTo>
                <a:lnTo>
                  <a:pt x="65495" y="6229"/>
                </a:lnTo>
                <a:cubicBezTo>
                  <a:pt x="67571" y="2403"/>
                  <a:pt x="71576" y="0"/>
                  <a:pt x="75936" y="0"/>
                </a:cubicBezTo>
                <a:close/>
                <a:moveTo>
                  <a:pt x="75936" y="49833"/>
                </a:moveTo>
                <a:cubicBezTo>
                  <a:pt x="71991" y="49833"/>
                  <a:pt x="68817" y="53007"/>
                  <a:pt x="68817" y="56952"/>
                </a:cubicBezTo>
                <a:lnTo>
                  <a:pt x="68817" y="90174"/>
                </a:lnTo>
                <a:cubicBezTo>
                  <a:pt x="68817" y="94120"/>
                  <a:pt x="71991" y="97293"/>
                  <a:pt x="75936" y="97293"/>
                </a:cubicBezTo>
                <a:cubicBezTo>
                  <a:pt x="79881" y="97293"/>
                  <a:pt x="83055" y="94120"/>
                  <a:pt x="83055" y="90174"/>
                </a:cubicBezTo>
                <a:lnTo>
                  <a:pt x="83055" y="56952"/>
                </a:lnTo>
                <a:cubicBezTo>
                  <a:pt x="83055" y="53007"/>
                  <a:pt x="79881" y="49833"/>
                  <a:pt x="75936" y="49833"/>
                </a:cubicBezTo>
                <a:close/>
                <a:moveTo>
                  <a:pt x="83856" y="113904"/>
                </a:moveTo>
                <a:cubicBezTo>
                  <a:pt x="84036" y="110965"/>
                  <a:pt x="82570" y="108168"/>
                  <a:pt x="80050" y="106643"/>
                </a:cubicBezTo>
                <a:cubicBezTo>
                  <a:pt x="77530" y="105119"/>
                  <a:pt x="74372" y="105119"/>
                  <a:pt x="71852" y="106643"/>
                </a:cubicBezTo>
                <a:cubicBezTo>
                  <a:pt x="69332" y="108168"/>
                  <a:pt x="67866" y="110965"/>
                  <a:pt x="68046" y="113904"/>
                </a:cubicBezTo>
                <a:cubicBezTo>
                  <a:pt x="67866" y="116844"/>
                  <a:pt x="69332" y="119641"/>
                  <a:pt x="71852" y="121166"/>
                </a:cubicBezTo>
                <a:cubicBezTo>
                  <a:pt x="74372" y="122690"/>
                  <a:pt x="77530" y="122690"/>
                  <a:pt x="80050" y="121166"/>
                </a:cubicBezTo>
                <a:cubicBezTo>
                  <a:pt x="82570" y="119641"/>
                  <a:pt x="84036" y="116844"/>
                  <a:pt x="83856" y="113904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4" name="Text 31"/>
          <p:cNvSpPr/>
          <p:nvPr/>
        </p:nvSpPr>
        <p:spPr>
          <a:xfrm>
            <a:off x="3508540" y="4859925"/>
            <a:ext cx="607491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黑盒模型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251200" y="5129921"/>
            <a:ext cx="2708396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可解释性差，训练时间长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64905" y="1046234"/>
            <a:ext cx="5695225" cy="4184936"/>
          </a:xfrm>
          <a:custGeom>
            <a:avLst/>
            <a:gdLst/>
            <a:ahLst/>
            <a:cxnLst/>
            <a:rect l="l" t="t" r="r" b="b"/>
            <a:pathLst>
              <a:path w="5695225" h="4184936">
                <a:moveTo>
                  <a:pt x="101234" y="0"/>
                </a:moveTo>
                <a:lnTo>
                  <a:pt x="5593991" y="0"/>
                </a:lnTo>
                <a:cubicBezTo>
                  <a:pt x="5649901" y="0"/>
                  <a:pt x="5695225" y="45324"/>
                  <a:pt x="5695225" y="101234"/>
                </a:cubicBezTo>
                <a:lnTo>
                  <a:pt x="5695225" y="4083702"/>
                </a:lnTo>
                <a:cubicBezTo>
                  <a:pt x="5695225" y="4139612"/>
                  <a:pt x="5649901" y="4184936"/>
                  <a:pt x="5593991" y="4184936"/>
                </a:cubicBezTo>
                <a:lnTo>
                  <a:pt x="101234" y="4184936"/>
                </a:lnTo>
                <a:cubicBezTo>
                  <a:pt x="45324" y="4184936"/>
                  <a:pt x="0" y="4139612"/>
                  <a:pt x="0" y="4083702"/>
                </a:cubicBezTo>
                <a:lnTo>
                  <a:pt x="0" y="101234"/>
                </a:lnTo>
                <a:cubicBezTo>
                  <a:pt x="0" y="45324"/>
                  <a:pt x="45324" y="0"/>
                  <a:pt x="1012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561" dist="8437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299903" y="1181232"/>
            <a:ext cx="5509603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神经网络复购预测应用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299903" y="1518727"/>
            <a:ext cx="5492728" cy="43874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在电商复购预测中，神经网络可以学习用户的历史购买序列、浏览行为、商品偏好等特征，预测用户是否会在未来一段时间内再次购买。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299903" y="2058718"/>
            <a:ext cx="5425229" cy="2024969"/>
          </a:xfrm>
          <a:custGeom>
            <a:avLst/>
            <a:gdLst/>
            <a:ahLst/>
            <a:cxnLst/>
            <a:rect l="l" t="t" r="r" b="b"/>
            <a:pathLst>
              <a:path w="5425229" h="2024969">
                <a:moveTo>
                  <a:pt x="67492" y="0"/>
                </a:moveTo>
                <a:lnTo>
                  <a:pt x="5357737" y="0"/>
                </a:lnTo>
                <a:cubicBezTo>
                  <a:pt x="5395012" y="0"/>
                  <a:pt x="5425229" y="30217"/>
                  <a:pt x="5425229" y="67492"/>
                </a:cubicBezTo>
                <a:lnTo>
                  <a:pt x="5425229" y="1957477"/>
                </a:lnTo>
                <a:cubicBezTo>
                  <a:pt x="5425229" y="1994752"/>
                  <a:pt x="5395012" y="2024969"/>
                  <a:pt x="5357737" y="2024969"/>
                </a:cubicBezTo>
                <a:lnTo>
                  <a:pt x="67492" y="2024969"/>
                </a:lnTo>
                <a:cubicBezTo>
                  <a:pt x="30217" y="2024969"/>
                  <a:pt x="0" y="1994752"/>
                  <a:pt x="0" y="1957477"/>
                </a:cubicBezTo>
                <a:lnTo>
                  <a:pt x="0" y="67492"/>
                </a:lnTo>
                <a:cubicBezTo>
                  <a:pt x="0" y="30242"/>
                  <a:pt x="30242" y="0"/>
                  <a:pt x="6749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6367402" y="2126217"/>
            <a:ext cx="5357730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网络结构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367402" y="2396213"/>
            <a:ext cx="472493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11114829" y="2396213"/>
            <a:ext cx="607491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特征维度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25215" y="2598710"/>
            <a:ext cx="5374605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67402" y="2851831"/>
            <a:ext cx="523117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隐藏层1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1333410" y="2834956"/>
            <a:ext cx="320620" cy="236246"/>
          </a:xfrm>
          <a:custGeom>
            <a:avLst/>
            <a:gdLst/>
            <a:ahLst/>
            <a:cxnLst/>
            <a:rect l="l" t="t" r="r" b="b"/>
            <a:pathLst>
              <a:path w="320620" h="236246">
                <a:moveTo>
                  <a:pt x="33750" y="0"/>
                </a:moveTo>
                <a:lnTo>
                  <a:pt x="286870" y="0"/>
                </a:lnTo>
                <a:cubicBezTo>
                  <a:pt x="305497" y="0"/>
                  <a:pt x="320620" y="15123"/>
                  <a:pt x="320620" y="33750"/>
                </a:cubicBezTo>
                <a:lnTo>
                  <a:pt x="320620" y="202496"/>
                </a:lnTo>
                <a:cubicBezTo>
                  <a:pt x="320620" y="221123"/>
                  <a:pt x="305497" y="236246"/>
                  <a:pt x="286870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46" name="Text 43"/>
          <p:cNvSpPr/>
          <p:nvPr/>
        </p:nvSpPr>
        <p:spPr>
          <a:xfrm>
            <a:off x="11333410" y="2834956"/>
            <a:ext cx="379682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128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325215" y="3071203"/>
            <a:ext cx="5374605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367402" y="3324324"/>
            <a:ext cx="548429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隐藏层2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379552" y="3307449"/>
            <a:ext cx="278433" cy="236246"/>
          </a:xfrm>
          <a:custGeom>
            <a:avLst/>
            <a:gdLst/>
            <a:ahLst/>
            <a:cxnLst/>
            <a:rect l="l" t="t" r="r" b="b"/>
            <a:pathLst>
              <a:path w="278433" h="236246">
                <a:moveTo>
                  <a:pt x="33750" y="0"/>
                </a:moveTo>
                <a:lnTo>
                  <a:pt x="244683" y="0"/>
                </a:lnTo>
                <a:cubicBezTo>
                  <a:pt x="263310" y="0"/>
                  <a:pt x="278433" y="15123"/>
                  <a:pt x="278433" y="33750"/>
                </a:cubicBezTo>
                <a:lnTo>
                  <a:pt x="278433" y="202496"/>
                </a:lnTo>
                <a:cubicBezTo>
                  <a:pt x="278433" y="221123"/>
                  <a:pt x="263310" y="236246"/>
                  <a:pt x="244683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0" name="Text 47"/>
          <p:cNvSpPr/>
          <p:nvPr/>
        </p:nvSpPr>
        <p:spPr>
          <a:xfrm>
            <a:off x="11379552" y="3307449"/>
            <a:ext cx="337495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64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325215" y="3543696"/>
            <a:ext cx="5374605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367402" y="3796817"/>
            <a:ext cx="472493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输出层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1453379" y="3779942"/>
            <a:ext cx="202497" cy="236246"/>
          </a:xfrm>
          <a:custGeom>
            <a:avLst/>
            <a:gdLst/>
            <a:ahLst/>
            <a:cxnLst/>
            <a:rect l="l" t="t" r="r" b="b"/>
            <a:pathLst>
              <a:path w="202497" h="236246">
                <a:moveTo>
                  <a:pt x="33750" y="0"/>
                </a:moveTo>
                <a:lnTo>
                  <a:pt x="168747" y="0"/>
                </a:lnTo>
                <a:cubicBezTo>
                  <a:pt x="187374" y="0"/>
                  <a:pt x="202497" y="15123"/>
                  <a:pt x="202497" y="33750"/>
                </a:cubicBezTo>
                <a:lnTo>
                  <a:pt x="202497" y="202496"/>
                </a:lnTo>
                <a:cubicBezTo>
                  <a:pt x="202497" y="221123"/>
                  <a:pt x="187374" y="236246"/>
                  <a:pt x="168747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4" name="Text 51"/>
          <p:cNvSpPr/>
          <p:nvPr/>
        </p:nvSpPr>
        <p:spPr>
          <a:xfrm>
            <a:off x="11453379" y="3779942"/>
            <a:ext cx="261558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299903" y="4151186"/>
            <a:ext cx="5425229" cy="944985"/>
          </a:xfrm>
          <a:custGeom>
            <a:avLst/>
            <a:gdLst/>
            <a:ahLst/>
            <a:cxnLst/>
            <a:rect l="l" t="t" r="r" b="b"/>
            <a:pathLst>
              <a:path w="5425229" h="944985">
                <a:moveTo>
                  <a:pt x="67500" y="0"/>
                </a:moveTo>
                <a:lnTo>
                  <a:pt x="5357729" y="0"/>
                </a:lnTo>
                <a:cubicBezTo>
                  <a:pt x="5395008" y="0"/>
                  <a:pt x="5425229" y="30221"/>
                  <a:pt x="5425229" y="67500"/>
                </a:cubicBezTo>
                <a:lnTo>
                  <a:pt x="5425229" y="877485"/>
                </a:lnTo>
                <a:cubicBezTo>
                  <a:pt x="5425229" y="914765"/>
                  <a:pt x="5395008" y="944985"/>
                  <a:pt x="5357729" y="944985"/>
                </a:cubicBezTo>
                <a:lnTo>
                  <a:pt x="67500" y="944985"/>
                </a:lnTo>
                <a:cubicBezTo>
                  <a:pt x="30246" y="944985"/>
                  <a:pt x="0" y="914740"/>
                  <a:pt x="0" y="877485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6" name="Text 53"/>
          <p:cNvSpPr/>
          <p:nvPr/>
        </p:nvSpPr>
        <p:spPr>
          <a:xfrm>
            <a:off x="6367402" y="4218685"/>
            <a:ext cx="5357730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典型参数配置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367402" y="4488681"/>
            <a:ext cx="607491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553384" y="4488681"/>
            <a:ext cx="421869" cy="236246"/>
          </a:xfrm>
          <a:custGeom>
            <a:avLst/>
            <a:gdLst/>
            <a:ahLst/>
            <a:cxnLst/>
            <a:rect l="l" t="t" r="r" b="b"/>
            <a:pathLst>
              <a:path w="421869" h="236246">
                <a:moveTo>
                  <a:pt x="33750" y="0"/>
                </a:moveTo>
                <a:lnTo>
                  <a:pt x="388118" y="0"/>
                </a:lnTo>
                <a:cubicBezTo>
                  <a:pt x="406746" y="0"/>
                  <a:pt x="421869" y="15123"/>
                  <a:pt x="421869" y="33750"/>
                </a:cubicBezTo>
                <a:lnTo>
                  <a:pt x="421869" y="202496"/>
                </a:lnTo>
                <a:cubicBezTo>
                  <a:pt x="421869" y="221123"/>
                  <a:pt x="406746" y="236246"/>
                  <a:pt x="388118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9" name="Text 56"/>
          <p:cNvSpPr/>
          <p:nvPr/>
        </p:nvSpPr>
        <p:spPr>
          <a:xfrm>
            <a:off x="8553384" y="4488681"/>
            <a:ext cx="480930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ReLU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044861" y="4488681"/>
            <a:ext cx="472493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优化器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1204125" y="4488681"/>
            <a:ext cx="447181" cy="236246"/>
          </a:xfrm>
          <a:custGeom>
            <a:avLst/>
            <a:gdLst/>
            <a:ahLst/>
            <a:cxnLst/>
            <a:rect l="l" t="t" r="r" b="b"/>
            <a:pathLst>
              <a:path w="447181" h="236246">
                <a:moveTo>
                  <a:pt x="33750" y="0"/>
                </a:moveTo>
                <a:lnTo>
                  <a:pt x="413430" y="0"/>
                </a:lnTo>
                <a:cubicBezTo>
                  <a:pt x="432058" y="0"/>
                  <a:pt x="447181" y="15123"/>
                  <a:pt x="447181" y="33750"/>
                </a:cubicBezTo>
                <a:lnTo>
                  <a:pt x="447181" y="202496"/>
                </a:lnTo>
                <a:cubicBezTo>
                  <a:pt x="447181" y="221123"/>
                  <a:pt x="432058" y="236246"/>
                  <a:pt x="413430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62" name="Text 59"/>
          <p:cNvSpPr/>
          <p:nvPr/>
        </p:nvSpPr>
        <p:spPr>
          <a:xfrm>
            <a:off x="11204125" y="4488681"/>
            <a:ext cx="506242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Adam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367402" y="4792426"/>
            <a:ext cx="472493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学习率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8468571" y="4792426"/>
            <a:ext cx="506242" cy="236246"/>
          </a:xfrm>
          <a:custGeom>
            <a:avLst/>
            <a:gdLst/>
            <a:ahLst/>
            <a:cxnLst/>
            <a:rect l="l" t="t" r="r" b="b"/>
            <a:pathLst>
              <a:path w="506242" h="236246">
                <a:moveTo>
                  <a:pt x="33750" y="0"/>
                </a:moveTo>
                <a:lnTo>
                  <a:pt x="472492" y="0"/>
                </a:lnTo>
                <a:cubicBezTo>
                  <a:pt x="491119" y="0"/>
                  <a:pt x="506242" y="15123"/>
                  <a:pt x="506242" y="33750"/>
                </a:cubicBezTo>
                <a:lnTo>
                  <a:pt x="506242" y="202496"/>
                </a:lnTo>
                <a:cubicBezTo>
                  <a:pt x="506242" y="221123"/>
                  <a:pt x="491119" y="236246"/>
                  <a:pt x="472492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5" name="Text 62"/>
          <p:cNvSpPr/>
          <p:nvPr/>
        </p:nvSpPr>
        <p:spPr>
          <a:xfrm>
            <a:off x="8468571" y="4792426"/>
            <a:ext cx="565304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0.0001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044861" y="4792426"/>
            <a:ext cx="607491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迭代次数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11302473" y="4792426"/>
            <a:ext cx="354370" cy="236246"/>
          </a:xfrm>
          <a:custGeom>
            <a:avLst/>
            <a:gdLst/>
            <a:ahLst/>
            <a:cxnLst/>
            <a:rect l="l" t="t" r="r" b="b"/>
            <a:pathLst>
              <a:path w="354370" h="236246">
                <a:moveTo>
                  <a:pt x="33750" y="0"/>
                </a:moveTo>
                <a:lnTo>
                  <a:pt x="320619" y="0"/>
                </a:lnTo>
                <a:cubicBezTo>
                  <a:pt x="339247" y="0"/>
                  <a:pt x="354370" y="15123"/>
                  <a:pt x="354370" y="33750"/>
                </a:cubicBezTo>
                <a:lnTo>
                  <a:pt x="354370" y="202496"/>
                </a:lnTo>
                <a:cubicBezTo>
                  <a:pt x="354370" y="221123"/>
                  <a:pt x="339247" y="236246"/>
                  <a:pt x="320619" y="236246"/>
                </a:cubicBezTo>
                <a:lnTo>
                  <a:pt x="33750" y="236246"/>
                </a:lnTo>
                <a:cubicBezTo>
                  <a:pt x="15123" y="236246"/>
                  <a:pt x="0" y="221123"/>
                  <a:pt x="0" y="202496"/>
                </a:cubicBezTo>
                <a:lnTo>
                  <a:pt x="0" y="33750"/>
                </a:lnTo>
                <a:cubicBezTo>
                  <a:pt x="0" y="15123"/>
                  <a:pt x="15123" y="0"/>
                  <a:pt x="33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8" name="Text 65"/>
          <p:cNvSpPr/>
          <p:nvPr/>
        </p:nvSpPr>
        <p:spPr>
          <a:xfrm>
            <a:off x="11302473" y="4792426"/>
            <a:ext cx="413431" cy="236246"/>
          </a:xfrm>
          <a:prstGeom prst="rect">
            <a:avLst/>
          </a:prstGeom>
          <a:noFill/>
        </p:spPr>
        <p:txBody>
          <a:bodyPr wrap="square" lIns="67499" tIns="33749" rIns="67499" bIns="33749" rtlCol="0" anchor="ctr"/>
          <a:lstStyle/>
          <a:p>
            <a:pPr>
              <a:lnSpc>
                <a:spcPct val="120000"/>
              </a:lnSpc>
            </a:pPr>
            <a:r>
              <a:rPr lang="en-US" sz="93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400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6167718" y="5335230"/>
            <a:ext cx="5683975" cy="1524352"/>
          </a:xfrm>
          <a:custGeom>
            <a:avLst/>
            <a:gdLst/>
            <a:ahLst/>
            <a:cxnLst/>
            <a:rect l="l" t="t" r="r" b="b"/>
            <a:pathLst>
              <a:path w="5683975" h="1524352">
                <a:moveTo>
                  <a:pt x="101247" y="0"/>
                </a:moveTo>
                <a:lnTo>
                  <a:pt x="5582728" y="0"/>
                </a:lnTo>
                <a:cubicBezTo>
                  <a:pt x="5638645" y="0"/>
                  <a:pt x="5683975" y="45330"/>
                  <a:pt x="5683975" y="101247"/>
                </a:cubicBezTo>
                <a:lnTo>
                  <a:pt x="5683975" y="1423104"/>
                </a:lnTo>
                <a:cubicBezTo>
                  <a:pt x="5683975" y="1479022"/>
                  <a:pt x="5638645" y="1524352"/>
                  <a:pt x="5582728" y="1524352"/>
                </a:cubicBezTo>
                <a:lnTo>
                  <a:pt x="101247" y="1524352"/>
                </a:lnTo>
                <a:cubicBezTo>
                  <a:pt x="45330" y="1524352"/>
                  <a:pt x="0" y="1479022"/>
                  <a:pt x="0" y="1423104"/>
                </a:cubicBezTo>
                <a:lnTo>
                  <a:pt x="0" y="101247"/>
                </a:lnTo>
                <a:cubicBezTo>
                  <a:pt x="0" y="45367"/>
                  <a:pt x="45367" y="0"/>
                  <a:pt x="101247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  <a:ln w="8467">
            <a:solidFill>
              <a:srgbClr val="8FA7D0">
                <a:alpha val="2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271779" y="5439290"/>
            <a:ext cx="5551790" cy="23624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输入特征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6271779" y="5743035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用户ID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9044861" y="5743035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注册时间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271779" y="6013031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会员等级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9044861" y="6013031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历史购买次数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6271779" y="6283027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商品ID</a:t>
            </a:r>
            <a:endParaRPr lang="en-US" sz="1600" dirty="0"/>
          </a:p>
        </p:txBody>
      </p:sp>
      <p:sp>
        <p:nvSpPr>
          <p:cNvPr id="76" name="Text 73"/>
          <p:cNvSpPr/>
          <p:nvPr/>
        </p:nvSpPr>
        <p:spPr>
          <a:xfrm>
            <a:off x="9044861" y="6283027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类别/品牌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6271779" y="6553023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价格区间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9044861" y="6553023"/>
            <a:ext cx="2775895" cy="2024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最近浏览时间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31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 随机森林在推荐系统中的应用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1354" y="351359"/>
            <a:ext cx="11550778" cy="17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kern="0" spc="97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51354" y="597307"/>
            <a:ext cx="11647401" cy="3513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推荐系统特征工程与模型构建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8922" y="1089203"/>
            <a:ext cx="7598040" cy="2108127"/>
          </a:xfrm>
          <a:custGeom>
            <a:avLst/>
            <a:gdLst/>
            <a:ahLst/>
            <a:cxnLst/>
            <a:rect l="l" t="t" r="r" b="b"/>
            <a:pathLst>
              <a:path w="7598040" h="2108127">
                <a:moveTo>
                  <a:pt x="35135" y="0"/>
                </a:moveTo>
                <a:lnTo>
                  <a:pt x="7492634" y="0"/>
                </a:lnTo>
                <a:cubicBezTo>
                  <a:pt x="7550848" y="0"/>
                  <a:pt x="7598040" y="47192"/>
                  <a:pt x="7598040" y="105406"/>
                </a:cubicBezTo>
                <a:lnTo>
                  <a:pt x="7598040" y="2002720"/>
                </a:lnTo>
                <a:cubicBezTo>
                  <a:pt x="7598040" y="2060935"/>
                  <a:pt x="7550848" y="2108127"/>
                  <a:pt x="7492634" y="2108127"/>
                </a:cubicBezTo>
                <a:lnTo>
                  <a:pt x="35135" y="2108127"/>
                </a:lnTo>
                <a:cubicBezTo>
                  <a:pt x="15731" y="2108127"/>
                  <a:pt x="0" y="2092396"/>
                  <a:pt x="0" y="2072991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758" dist="878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8922" y="1089203"/>
            <a:ext cx="35135" cy="2108127"/>
          </a:xfrm>
          <a:custGeom>
            <a:avLst/>
            <a:gdLst/>
            <a:ahLst/>
            <a:cxnLst/>
            <a:rect l="l" t="t" r="r" b="b"/>
            <a:pathLst>
              <a:path w="35135" h="2108127">
                <a:moveTo>
                  <a:pt x="35135" y="0"/>
                </a:moveTo>
                <a:lnTo>
                  <a:pt x="35135" y="0"/>
                </a:lnTo>
                <a:lnTo>
                  <a:pt x="35135" y="2108127"/>
                </a:lnTo>
                <a:lnTo>
                  <a:pt x="35135" y="2108127"/>
                </a:lnTo>
                <a:cubicBezTo>
                  <a:pt x="15731" y="2108127"/>
                  <a:pt x="0" y="2092396"/>
                  <a:pt x="0" y="2072991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Text 4"/>
          <p:cNvSpPr/>
          <p:nvPr/>
        </p:nvSpPr>
        <p:spPr>
          <a:xfrm>
            <a:off x="527032" y="1229745"/>
            <a:ext cx="7404795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特征工程方案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7032" y="1616235"/>
            <a:ext cx="2362859" cy="1440553"/>
          </a:xfrm>
          <a:custGeom>
            <a:avLst/>
            <a:gdLst/>
            <a:ahLst/>
            <a:cxnLst/>
            <a:rect l="l" t="t" r="r" b="b"/>
            <a:pathLst>
              <a:path w="2362859" h="1440553">
                <a:moveTo>
                  <a:pt x="70270" y="0"/>
                </a:moveTo>
                <a:lnTo>
                  <a:pt x="2292589" y="0"/>
                </a:lnTo>
                <a:cubicBezTo>
                  <a:pt x="2331398" y="0"/>
                  <a:pt x="2362859" y="31461"/>
                  <a:pt x="2362859" y="70270"/>
                </a:cubicBezTo>
                <a:lnTo>
                  <a:pt x="2362859" y="1370283"/>
                </a:lnTo>
                <a:cubicBezTo>
                  <a:pt x="2362859" y="1409092"/>
                  <a:pt x="2331398" y="1440553"/>
                  <a:pt x="2292589" y="1440553"/>
                </a:cubicBezTo>
                <a:lnTo>
                  <a:pt x="70270" y="1440553"/>
                </a:lnTo>
                <a:cubicBezTo>
                  <a:pt x="31461" y="1440553"/>
                  <a:pt x="0" y="1409092"/>
                  <a:pt x="0" y="1370283"/>
                </a:cubicBezTo>
                <a:lnTo>
                  <a:pt x="0" y="70270"/>
                </a:lnTo>
                <a:cubicBezTo>
                  <a:pt x="0" y="31461"/>
                  <a:pt x="31461" y="0"/>
                  <a:pt x="7027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64280" y="1747993"/>
            <a:ext cx="138346" cy="158110"/>
          </a:xfrm>
          <a:custGeom>
            <a:avLst/>
            <a:gdLst/>
            <a:ahLst/>
            <a:cxnLst/>
            <a:rect l="l" t="t" r="r" b="b"/>
            <a:pathLst>
              <a:path w="138346" h="158110">
                <a:moveTo>
                  <a:pt x="69173" y="76584"/>
                </a:moveTo>
                <a:cubicBezTo>
                  <a:pt x="89625" y="76584"/>
                  <a:pt x="106230" y="59980"/>
                  <a:pt x="106230" y="39527"/>
                </a:cubicBezTo>
                <a:cubicBezTo>
                  <a:pt x="106230" y="19075"/>
                  <a:pt x="89625" y="2470"/>
                  <a:pt x="69173" y="2470"/>
                </a:cubicBezTo>
                <a:cubicBezTo>
                  <a:pt x="48721" y="2470"/>
                  <a:pt x="32116" y="19075"/>
                  <a:pt x="32116" y="39527"/>
                </a:cubicBezTo>
                <a:cubicBezTo>
                  <a:pt x="32116" y="59980"/>
                  <a:pt x="48721" y="76584"/>
                  <a:pt x="69173" y="76584"/>
                </a:cubicBezTo>
                <a:close/>
                <a:moveTo>
                  <a:pt x="60001" y="93878"/>
                </a:moveTo>
                <a:cubicBezTo>
                  <a:pt x="29584" y="93878"/>
                  <a:pt x="4941" y="118520"/>
                  <a:pt x="4941" y="148938"/>
                </a:cubicBezTo>
                <a:cubicBezTo>
                  <a:pt x="4941" y="154002"/>
                  <a:pt x="9048" y="158110"/>
                  <a:pt x="14113" y="158110"/>
                </a:cubicBezTo>
                <a:lnTo>
                  <a:pt x="124233" y="158110"/>
                </a:lnTo>
                <a:cubicBezTo>
                  <a:pt x="129298" y="158110"/>
                  <a:pt x="133405" y="154002"/>
                  <a:pt x="133405" y="148938"/>
                </a:cubicBezTo>
                <a:cubicBezTo>
                  <a:pt x="133405" y="118520"/>
                  <a:pt x="108762" y="93878"/>
                  <a:pt x="78344" y="93878"/>
                </a:cubicBezTo>
                <a:lnTo>
                  <a:pt x="60001" y="93878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10" name="Text 7"/>
          <p:cNvSpPr/>
          <p:nvPr/>
        </p:nvSpPr>
        <p:spPr>
          <a:xfrm>
            <a:off x="900346" y="1721641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用户特征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2438" y="2002725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年龄、性别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2438" y="2248673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地域、城市等级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2438" y="2494621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会员等级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2438" y="2740569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注册时长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995114" y="1616235"/>
            <a:ext cx="2362859" cy="1440553"/>
          </a:xfrm>
          <a:custGeom>
            <a:avLst/>
            <a:gdLst/>
            <a:ahLst/>
            <a:cxnLst/>
            <a:rect l="l" t="t" r="r" b="b"/>
            <a:pathLst>
              <a:path w="2362859" h="1440553">
                <a:moveTo>
                  <a:pt x="70270" y="0"/>
                </a:moveTo>
                <a:lnTo>
                  <a:pt x="2292589" y="0"/>
                </a:lnTo>
                <a:cubicBezTo>
                  <a:pt x="2331398" y="0"/>
                  <a:pt x="2362859" y="31461"/>
                  <a:pt x="2362859" y="70270"/>
                </a:cubicBezTo>
                <a:lnTo>
                  <a:pt x="2362859" y="1370283"/>
                </a:lnTo>
                <a:cubicBezTo>
                  <a:pt x="2362859" y="1409092"/>
                  <a:pt x="2331398" y="1440553"/>
                  <a:pt x="2292589" y="1440553"/>
                </a:cubicBezTo>
                <a:lnTo>
                  <a:pt x="70270" y="1440553"/>
                </a:lnTo>
                <a:cubicBezTo>
                  <a:pt x="31461" y="1440553"/>
                  <a:pt x="0" y="1409092"/>
                  <a:pt x="0" y="1370283"/>
                </a:cubicBezTo>
                <a:lnTo>
                  <a:pt x="0" y="70270"/>
                </a:lnTo>
                <a:cubicBezTo>
                  <a:pt x="0" y="31461"/>
                  <a:pt x="31461" y="0"/>
                  <a:pt x="7027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3132362" y="1747993"/>
            <a:ext cx="138346" cy="158110"/>
          </a:xfrm>
          <a:custGeom>
            <a:avLst/>
            <a:gdLst/>
            <a:ahLst/>
            <a:cxnLst/>
            <a:rect l="l" t="t" r="r" b="b"/>
            <a:pathLst>
              <a:path w="138346" h="158110">
                <a:moveTo>
                  <a:pt x="114074" y="39527"/>
                </a:moveTo>
                <a:lnTo>
                  <a:pt x="103481" y="24705"/>
                </a:lnTo>
                <a:lnTo>
                  <a:pt x="34895" y="24705"/>
                </a:lnTo>
                <a:lnTo>
                  <a:pt x="24303" y="39527"/>
                </a:lnTo>
                <a:lnTo>
                  <a:pt x="114074" y="39527"/>
                </a:lnTo>
                <a:close/>
                <a:moveTo>
                  <a:pt x="0" y="45858"/>
                </a:moveTo>
                <a:cubicBezTo>
                  <a:pt x="0" y="41751"/>
                  <a:pt x="1297" y="37736"/>
                  <a:pt x="3675" y="34370"/>
                </a:cubicBezTo>
                <a:lnTo>
                  <a:pt x="18806" y="13217"/>
                </a:lnTo>
                <a:cubicBezTo>
                  <a:pt x="22512" y="8029"/>
                  <a:pt x="28503" y="4941"/>
                  <a:pt x="34864" y="4941"/>
                </a:cubicBezTo>
                <a:lnTo>
                  <a:pt x="103451" y="4941"/>
                </a:lnTo>
                <a:cubicBezTo>
                  <a:pt x="109843" y="4941"/>
                  <a:pt x="115834" y="8029"/>
                  <a:pt x="119539" y="13217"/>
                </a:cubicBezTo>
                <a:lnTo>
                  <a:pt x="134640" y="34370"/>
                </a:lnTo>
                <a:cubicBezTo>
                  <a:pt x="137049" y="37736"/>
                  <a:pt x="138315" y="41751"/>
                  <a:pt x="138315" y="45858"/>
                </a:cubicBezTo>
                <a:lnTo>
                  <a:pt x="138346" y="128464"/>
                </a:lnTo>
                <a:cubicBezTo>
                  <a:pt x="138346" y="139365"/>
                  <a:pt x="129483" y="148228"/>
                  <a:pt x="118582" y="148228"/>
                </a:cubicBezTo>
                <a:lnTo>
                  <a:pt x="19764" y="148228"/>
                </a:lnTo>
                <a:cubicBezTo>
                  <a:pt x="8863" y="148228"/>
                  <a:pt x="0" y="139365"/>
                  <a:pt x="0" y="128464"/>
                </a:cubicBezTo>
                <a:lnTo>
                  <a:pt x="0" y="45858"/>
                </a:lnTo>
                <a:close/>
              </a:path>
            </a:pathLst>
          </a:custGeom>
          <a:solidFill>
            <a:srgbClr val="7097E5"/>
          </a:solidFill>
        </p:spPr>
      </p:sp>
      <p:sp>
        <p:nvSpPr>
          <p:cNvPr id="17" name="Text 14"/>
          <p:cNvSpPr/>
          <p:nvPr/>
        </p:nvSpPr>
        <p:spPr>
          <a:xfrm>
            <a:off x="3368428" y="1721641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商品特征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00520" y="2002725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类别、品牌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00520" y="2248673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价格、折扣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00520" y="2494621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评分、热度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100520" y="2740569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库存状态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463287" y="1616235"/>
            <a:ext cx="2362859" cy="1440553"/>
          </a:xfrm>
          <a:custGeom>
            <a:avLst/>
            <a:gdLst/>
            <a:ahLst/>
            <a:cxnLst/>
            <a:rect l="l" t="t" r="r" b="b"/>
            <a:pathLst>
              <a:path w="2362859" h="1440553">
                <a:moveTo>
                  <a:pt x="70270" y="0"/>
                </a:moveTo>
                <a:lnTo>
                  <a:pt x="2292589" y="0"/>
                </a:lnTo>
                <a:cubicBezTo>
                  <a:pt x="2331398" y="0"/>
                  <a:pt x="2362859" y="31461"/>
                  <a:pt x="2362859" y="70270"/>
                </a:cubicBezTo>
                <a:lnTo>
                  <a:pt x="2362859" y="1370283"/>
                </a:lnTo>
                <a:cubicBezTo>
                  <a:pt x="2362859" y="1409092"/>
                  <a:pt x="2331398" y="1440553"/>
                  <a:pt x="2292589" y="1440553"/>
                </a:cubicBezTo>
                <a:lnTo>
                  <a:pt x="70270" y="1440553"/>
                </a:lnTo>
                <a:cubicBezTo>
                  <a:pt x="31461" y="1440553"/>
                  <a:pt x="0" y="1409092"/>
                  <a:pt x="0" y="1370283"/>
                </a:cubicBezTo>
                <a:lnTo>
                  <a:pt x="0" y="70270"/>
                </a:lnTo>
                <a:cubicBezTo>
                  <a:pt x="0" y="31461"/>
                  <a:pt x="31461" y="0"/>
                  <a:pt x="7027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5600535" y="1747993"/>
            <a:ext cx="138346" cy="158110"/>
          </a:xfrm>
          <a:custGeom>
            <a:avLst/>
            <a:gdLst/>
            <a:ahLst/>
            <a:cxnLst/>
            <a:rect l="l" t="t" r="r" b="b"/>
            <a:pathLst>
              <a:path w="138346" h="158110">
                <a:moveTo>
                  <a:pt x="23871" y="772"/>
                </a:moveTo>
                <a:cubicBezTo>
                  <a:pt x="26372" y="-494"/>
                  <a:pt x="29398" y="-216"/>
                  <a:pt x="31622" y="1482"/>
                </a:cubicBezTo>
                <a:lnTo>
                  <a:pt x="130440" y="75565"/>
                </a:lnTo>
                <a:cubicBezTo>
                  <a:pt x="133003" y="77480"/>
                  <a:pt x="134023" y="80815"/>
                  <a:pt x="133034" y="83841"/>
                </a:cubicBezTo>
                <a:cubicBezTo>
                  <a:pt x="132046" y="86868"/>
                  <a:pt x="129205" y="88906"/>
                  <a:pt x="125994" y="88906"/>
                </a:cubicBezTo>
                <a:lnTo>
                  <a:pt x="78962" y="88906"/>
                </a:lnTo>
                <a:lnTo>
                  <a:pt x="106415" y="143781"/>
                </a:lnTo>
                <a:cubicBezTo>
                  <a:pt x="108855" y="148660"/>
                  <a:pt x="106878" y="154589"/>
                  <a:pt x="101999" y="157029"/>
                </a:cubicBezTo>
                <a:cubicBezTo>
                  <a:pt x="97120" y="159468"/>
                  <a:pt x="91191" y="157492"/>
                  <a:pt x="88751" y="152613"/>
                </a:cubicBezTo>
                <a:lnTo>
                  <a:pt x="61298" y="97738"/>
                </a:lnTo>
                <a:lnTo>
                  <a:pt x="33104" y="135350"/>
                </a:lnTo>
                <a:cubicBezTo>
                  <a:pt x="31190" y="137913"/>
                  <a:pt x="27854" y="138933"/>
                  <a:pt x="24828" y="137944"/>
                </a:cubicBezTo>
                <a:cubicBezTo>
                  <a:pt x="21802" y="136956"/>
                  <a:pt x="19764" y="134115"/>
                  <a:pt x="19764" y="130934"/>
                </a:cubicBezTo>
                <a:lnTo>
                  <a:pt x="19764" y="7411"/>
                </a:lnTo>
                <a:cubicBezTo>
                  <a:pt x="19764" y="4601"/>
                  <a:pt x="21339" y="2038"/>
                  <a:pt x="23871" y="772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4" name="Text 21"/>
          <p:cNvSpPr/>
          <p:nvPr/>
        </p:nvSpPr>
        <p:spPr>
          <a:xfrm>
            <a:off x="5836602" y="1721641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交互特征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68694" y="2002725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浏览次数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568694" y="2248673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点击次数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568694" y="2494621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加购物车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568694" y="2740569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购买历史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68922" y="3302736"/>
            <a:ext cx="7598040" cy="2512184"/>
          </a:xfrm>
          <a:custGeom>
            <a:avLst/>
            <a:gdLst/>
            <a:ahLst/>
            <a:cxnLst/>
            <a:rect l="l" t="t" r="r" b="b"/>
            <a:pathLst>
              <a:path w="7598040" h="2512184">
                <a:moveTo>
                  <a:pt x="35135" y="0"/>
                </a:moveTo>
                <a:lnTo>
                  <a:pt x="7492629" y="0"/>
                </a:lnTo>
                <a:cubicBezTo>
                  <a:pt x="7550846" y="0"/>
                  <a:pt x="7598040" y="47194"/>
                  <a:pt x="7598040" y="105411"/>
                </a:cubicBezTo>
                <a:lnTo>
                  <a:pt x="7598040" y="2406773"/>
                </a:lnTo>
                <a:cubicBezTo>
                  <a:pt x="7598040" y="2464990"/>
                  <a:pt x="7550846" y="2512184"/>
                  <a:pt x="7492629" y="2512184"/>
                </a:cubicBezTo>
                <a:lnTo>
                  <a:pt x="35135" y="2512184"/>
                </a:lnTo>
                <a:cubicBezTo>
                  <a:pt x="15731" y="2512184"/>
                  <a:pt x="0" y="2496454"/>
                  <a:pt x="0" y="2477049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758" dist="878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8922" y="3302736"/>
            <a:ext cx="35135" cy="2512184"/>
          </a:xfrm>
          <a:custGeom>
            <a:avLst/>
            <a:gdLst/>
            <a:ahLst/>
            <a:cxnLst/>
            <a:rect l="l" t="t" r="r" b="b"/>
            <a:pathLst>
              <a:path w="35135" h="2512184">
                <a:moveTo>
                  <a:pt x="35135" y="0"/>
                </a:moveTo>
                <a:lnTo>
                  <a:pt x="35135" y="0"/>
                </a:lnTo>
                <a:lnTo>
                  <a:pt x="35135" y="2512184"/>
                </a:lnTo>
                <a:lnTo>
                  <a:pt x="35135" y="2512184"/>
                </a:lnTo>
                <a:cubicBezTo>
                  <a:pt x="15731" y="2512184"/>
                  <a:pt x="0" y="2496454"/>
                  <a:pt x="0" y="2477049"/>
                </a:cubicBezTo>
                <a:lnTo>
                  <a:pt x="0" y="35135"/>
                </a:lnTo>
                <a:cubicBezTo>
                  <a:pt x="0" y="15744"/>
                  <a:pt x="15744" y="0"/>
                  <a:pt x="35135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1" name="Text 28"/>
          <p:cNvSpPr/>
          <p:nvPr/>
        </p:nvSpPr>
        <p:spPr>
          <a:xfrm>
            <a:off x="527032" y="3443278"/>
            <a:ext cx="7404795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RFM模型特征构建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27032" y="3829768"/>
            <a:ext cx="7369660" cy="228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采用RFM模型思想构建用户行为特征，捕捉用户行为的时间、频率、金额信息：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27032" y="4163555"/>
            <a:ext cx="2362859" cy="1510824"/>
          </a:xfrm>
          <a:custGeom>
            <a:avLst/>
            <a:gdLst/>
            <a:ahLst/>
            <a:cxnLst/>
            <a:rect l="l" t="t" r="r" b="b"/>
            <a:pathLst>
              <a:path w="2362859" h="1510824">
                <a:moveTo>
                  <a:pt x="70268" y="0"/>
                </a:moveTo>
                <a:lnTo>
                  <a:pt x="2292590" y="0"/>
                </a:lnTo>
                <a:cubicBezTo>
                  <a:pt x="2331399" y="0"/>
                  <a:pt x="2362859" y="31460"/>
                  <a:pt x="2362859" y="70268"/>
                </a:cubicBezTo>
                <a:lnTo>
                  <a:pt x="2362859" y="1440556"/>
                </a:lnTo>
                <a:cubicBezTo>
                  <a:pt x="2362859" y="1479364"/>
                  <a:pt x="2331399" y="1510824"/>
                  <a:pt x="2292590" y="1510824"/>
                </a:cubicBezTo>
                <a:lnTo>
                  <a:pt x="70268" y="1510824"/>
                </a:lnTo>
                <a:cubicBezTo>
                  <a:pt x="31460" y="1510824"/>
                  <a:pt x="0" y="1479364"/>
                  <a:pt x="0" y="1440556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4" name="Text 31"/>
          <p:cNvSpPr/>
          <p:nvPr/>
        </p:nvSpPr>
        <p:spPr>
          <a:xfrm>
            <a:off x="632438" y="4268961"/>
            <a:ext cx="2231101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Recency (R)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32438" y="458518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最近交互时间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2438" y="4866264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最近浏览时间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32438" y="5112212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最近点击时间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32438" y="535816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最近购买时间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2995114" y="4163555"/>
            <a:ext cx="2362859" cy="1510824"/>
          </a:xfrm>
          <a:custGeom>
            <a:avLst/>
            <a:gdLst/>
            <a:ahLst/>
            <a:cxnLst/>
            <a:rect l="l" t="t" r="r" b="b"/>
            <a:pathLst>
              <a:path w="2362859" h="1510824">
                <a:moveTo>
                  <a:pt x="70268" y="0"/>
                </a:moveTo>
                <a:lnTo>
                  <a:pt x="2292590" y="0"/>
                </a:lnTo>
                <a:cubicBezTo>
                  <a:pt x="2331399" y="0"/>
                  <a:pt x="2362859" y="31460"/>
                  <a:pt x="2362859" y="70268"/>
                </a:cubicBezTo>
                <a:lnTo>
                  <a:pt x="2362859" y="1440556"/>
                </a:lnTo>
                <a:cubicBezTo>
                  <a:pt x="2362859" y="1479364"/>
                  <a:pt x="2331399" y="1510824"/>
                  <a:pt x="2292590" y="1510824"/>
                </a:cubicBezTo>
                <a:lnTo>
                  <a:pt x="70268" y="1510824"/>
                </a:lnTo>
                <a:cubicBezTo>
                  <a:pt x="31460" y="1510824"/>
                  <a:pt x="0" y="1479364"/>
                  <a:pt x="0" y="1440556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3100520" y="4268961"/>
            <a:ext cx="2231101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Frequency (F)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100520" y="458518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交互频率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3100520" y="4866264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浏览频率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100520" y="5112212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购买频率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3100520" y="535816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登录频率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463287" y="4163555"/>
            <a:ext cx="2362859" cy="1510824"/>
          </a:xfrm>
          <a:custGeom>
            <a:avLst/>
            <a:gdLst/>
            <a:ahLst/>
            <a:cxnLst/>
            <a:rect l="l" t="t" r="r" b="b"/>
            <a:pathLst>
              <a:path w="2362859" h="1510824">
                <a:moveTo>
                  <a:pt x="70268" y="0"/>
                </a:moveTo>
                <a:lnTo>
                  <a:pt x="2292590" y="0"/>
                </a:lnTo>
                <a:cubicBezTo>
                  <a:pt x="2331399" y="0"/>
                  <a:pt x="2362859" y="31460"/>
                  <a:pt x="2362859" y="70268"/>
                </a:cubicBezTo>
                <a:lnTo>
                  <a:pt x="2362859" y="1440556"/>
                </a:lnTo>
                <a:cubicBezTo>
                  <a:pt x="2362859" y="1479364"/>
                  <a:pt x="2331399" y="1510824"/>
                  <a:pt x="2292590" y="1510824"/>
                </a:cubicBezTo>
                <a:lnTo>
                  <a:pt x="70268" y="1510824"/>
                </a:lnTo>
                <a:cubicBezTo>
                  <a:pt x="31460" y="1510824"/>
                  <a:pt x="0" y="1479364"/>
                  <a:pt x="0" y="1440556"/>
                </a:cubicBezTo>
                <a:lnTo>
                  <a:pt x="0" y="70268"/>
                </a:lnTo>
                <a:cubicBezTo>
                  <a:pt x="0" y="31460"/>
                  <a:pt x="31460" y="0"/>
                  <a:pt x="7026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5568694" y="4268961"/>
            <a:ext cx="2231101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Monetary (M)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568694" y="458518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消费金额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568694" y="4866264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历史总消费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568694" y="5112212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平均订单金额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568694" y="5358160"/>
            <a:ext cx="2222317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客单价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107139" y="1089203"/>
            <a:ext cx="3733141" cy="3197326"/>
          </a:xfrm>
          <a:custGeom>
            <a:avLst/>
            <a:gdLst/>
            <a:ahLst/>
            <a:cxnLst/>
            <a:rect l="l" t="t" r="r" b="b"/>
            <a:pathLst>
              <a:path w="3733141" h="3197326">
                <a:moveTo>
                  <a:pt x="105416" y="0"/>
                </a:moveTo>
                <a:lnTo>
                  <a:pt x="3627725" y="0"/>
                </a:lnTo>
                <a:cubicBezTo>
                  <a:pt x="3685945" y="0"/>
                  <a:pt x="3733141" y="47196"/>
                  <a:pt x="3733141" y="105416"/>
                </a:cubicBezTo>
                <a:lnTo>
                  <a:pt x="3733141" y="3091910"/>
                </a:lnTo>
                <a:cubicBezTo>
                  <a:pt x="3733141" y="3150129"/>
                  <a:pt x="3685945" y="3197326"/>
                  <a:pt x="3627725" y="3197326"/>
                </a:cubicBezTo>
                <a:lnTo>
                  <a:pt x="105416" y="3197326"/>
                </a:lnTo>
                <a:cubicBezTo>
                  <a:pt x="47196" y="3197326"/>
                  <a:pt x="0" y="3150129"/>
                  <a:pt x="0" y="3091910"/>
                </a:cubicBezTo>
                <a:lnTo>
                  <a:pt x="0" y="105416"/>
                </a:lnTo>
                <a:cubicBezTo>
                  <a:pt x="0" y="47235"/>
                  <a:pt x="47235" y="0"/>
                  <a:pt x="10541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31758" dist="8783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8247680" y="1229745"/>
            <a:ext cx="3539896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模型构建流程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47680" y="1581099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4" name="Text 51"/>
          <p:cNvSpPr/>
          <p:nvPr/>
        </p:nvSpPr>
        <p:spPr>
          <a:xfrm>
            <a:off x="8216937" y="1581099"/>
            <a:ext cx="342571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634170" y="1581099"/>
            <a:ext cx="2600023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数据收集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634170" y="1827048"/>
            <a:ext cx="2600023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收集用户行为数据、商品数据、交互数据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247680" y="2108131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8" name="Text 55"/>
          <p:cNvSpPr/>
          <p:nvPr/>
        </p:nvSpPr>
        <p:spPr>
          <a:xfrm>
            <a:off x="8216937" y="2108131"/>
            <a:ext cx="342571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634170" y="2108131"/>
            <a:ext cx="2468265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634170" y="2354079"/>
            <a:ext cx="2468265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构建用户、商品、交互特征，RFM特征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247680" y="2635163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2" name="Text 59"/>
          <p:cNvSpPr/>
          <p:nvPr/>
        </p:nvSpPr>
        <p:spPr>
          <a:xfrm>
            <a:off x="8216937" y="2635163"/>
            <a:ext cx="342571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634170" y="2635163"/>
            <a:ext cx="239799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数据划分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634170" y="2881111"/>
            <a:ext cx="239799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训练集70%、验证集15%、测试集15%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247680" y="3162194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6" name="Text 63"/>
          <p:cNvSpPr/>
          <p:nvPr/>
        </p:nvSpPr>
        <p:spPr>
          <a:xfrm>
            <a:off x="8216937" y="3162194"/>
            <a:ext cx="342571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8634170" y="3162194"/>
            <a:ext cx="189731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模型训练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634170" y="3408143"/>
            <a:ext cx="1897314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网格搜索最优参数，交叉验证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8247680" y="3689226"/>
            <a:ext cx="281084" cy="281084"/>
          </a:xfrm>
          <a:custGeom>
            <a:avLst/>
            <a:gdLst/>
            <a:ahLst/>
            <a:cxnLst/>
            <a:rect l="l" t="t" r="r" b="b"/>
            <a:pathLst>
              <a:path w="281084" h="281084">
                <a:moveTo>
                  <a:pt x="140542" y="0"/>
                </a:moveTo>
                <a:lnTo>
                  <a:pt x="140542" y="0"/>
                </a:lnTo>
                <a:cubicBezTo>
                  <a:pt x="218109" y="0"/>
                  <a:pt x="281084" y="62975"/>
                  <a:pt x="281084" y="140542"/>
                </a:cubicBezTo>
                <a:lnTo>
                  <a:pt x="281084" y="140542"/>
                </a:lnTo>
                <a:cubicBezTo>
                  <a:pt x="281084" y="218109"/>
                  <a:pt x="218109" y="281084"/>
                  <a:pt x="140542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0" name="Text 67"/>
          <p:cNvSpPr/>
          <p:nvPr/>
        </p:nvSpPr>
        <p:spPr>
          <a:xfrm>
            <a:off x="8216937" y="3689226"/>
            <a:ext cx="342571" cy="2810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68"/>
          <p:cNvSpPr/>
          <p:nvPr/>
        </p:nvSpPr>
        <p:spPr>
          <a:xfrm>
            <a:off x="8634170" y="3689226"/>
            <a:ext cx="2187182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模型评估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8634170" y="3935174"/>
            <a:ext cx="2187182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准确率、召回率、F1值、ROC曲线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8110067" y="4394863"/>
            <a:ext cx="3730213" cy="2465337"/>
          </a:xfrm>
          <a:custGeom>
            <a:avLst/>
            <a:gdLst/>
            <a:ahLst/>
            <a:cxnLst/>
            <a:rect l="l" t="t" r="r" b="b"/>
            <a:pathLst>
              <a:path w="3730213" h="2465337">
                <a:moveTo>
                  <a:pt x="105418" y="0"/>
                </a:moveTo>
                <a:lnTo>
                  <a:pt x="3624795" y="0"/>
                </a:lnTo>
                <a:cubicBezTo>
                  <a:pt x="3683016" y="0"/>
                  <a:pt x="3730213" y="47197"/>
                  <a:pt x="3730213" y="105418"/>
                </a:cubicBezTo>
                <a:lnTo>
                  <a:pt x="3730213" y="2359919"/>
                </a:lnTo>
                <a:cubicBezTo>
                  <a:pt x="3730213" y="2418140"/>
                  <a:pt x="3683016" y="2465337"/>
                  <a:pt x="3624795" y="2465337"/>
                </a:cubicBezTo>
                <a:lnTo>
                  <a:pt x="105418" y="2465337"/>
                </a:lnTo>
                <a:cubicBezTo>
                  <a:pt x="47197" y="2465337"/>
                  <a:pt x="0" y="2418140"/>
                  <a:pt x="0" y="2359919"/>
                </a:cubicBezTo>
                <a:lnTo>
                  <a:pt x="0" y="105418"/>
                </a:lnTo>
                <a:cubicBezTo>
                  <a:pt x="0" y="47197"/>
                  <a:pt x="47197" y="0"/>
                  <a:pt x="105418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218401" y="4503192"/>
            <a:ext cx="3592599" cy="245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随机森林参数设置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8218401" y="4889682"/>
            <a:ext cx="772980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决策树数量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11290923" y="4854546"/>
            <a:ext cx="439193" cy="281084"/>
          </a:xfrm>
          <a:custGeom>
            <a:avLst/>
            <a:gdLst/>
            <a:ahLst/>
            <a:cxnLst/>
            <a:rect l="l" t="t" r="r" b="b"/>
            <a:pathLst>
              <a:path w="439193" h="281084">
                <a:moveTo>
                  <a:pt x="140542" y="0"/>
                </a:moveTo>
                <a:lnTo>
                  <a:pt x="298651" y="0"/>
                </a:lnTo>
                <a:cubicBezTo>
                  <a:pt x="376270" y="0"/>
                  <a:pt x="439193" y="62923"/>
                  <a:pt x="439193" y="140542"/>
                </a:cubicBezTo>
                <a:lnTo>
                  <a:pt x="439193" y="140542"/>
                </a:lnTo>
                <a:cubicBezTo>
                  <a:pt x="439193" y="218161"/>
                  <a:pt x="376270" y="281084"/>
                  <a:pt x="298651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7" name="Text 74"/>
          <p:cNvSpPr/>
          <p:nvPr/>
        </p:nvSpPr>
        <p:spPr>
          <a:xfrm>
            <a:off x="11290923" y="4854546"/>
            <a:ext cx="509464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</a:t>
            </a:r>
            <a:endParaRPr lang="en-US" sz="1600" dirty="0"/>
          </a:p>
        </p:txBody>
      </p:sp>
      <p:sp>
        <p:nvSpPr>
          <p:cNvPr id="78" name="Text 75"/>
          <p:cNvSpPr/>
          <p:nvPr/>
        </p:nvSpPr>
        <p:spPr>
          <a:xfrm>
            <a:off x="8218401" y="5241036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分裂准则</a:t>
            </a: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11270061" y="5205901"/>
            <a:ext cx="465545" cy="281084"/>
          </a:xfrm>
          <a:custGeom>
            <a:avLst/>
            <a:gdLst/>
            <a:ahLst/>
            <a:cxnLst/>
            <a:rect l="l" t="t" r="r" b="b"/>
            <a:pathLst>
              <a:path w="465545" h="281084">
                <a:moveTo>
                  <a:pt x="140542" y="0"/>
                </a:moveTo>
                <a:lnTo>
                  <a:pt x="325003" y="0"/>
                </a:lnTo>
                <a:cubicBezTo>
                  <a:pt x="402622" y="0"/>
                  <a:pt x="465545" y="62923"/>
                  <a:pt x="465545" y="140542"/>
                </a:cubicBezTo>
                <a:lnTo>
                  <a:pt x="465545" y="140542"/>
                </a:lnTo>
                <a:cubicBezTo>
                  <a:pt x="465545" y="218161"/>
                  <a:pt x="402622" y="281084"/>
                  <a:pt x="325003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80" name="Text 77"/>
          <p:cNvSpPr/>
          <p:nvPr/>
        </p:nvSpPr>
        <p:spPr>
          <a:xfrm>
            <a:off x="11270061" y="5205901"/>
            <a:ext cx="535816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Gini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8218401" y="5592391"/>
            <a:ext cx="632438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最大深度</a:t>
            </a:r>
            <a:endParaRPr lang="en-US" sz="1600" dirty="0"/>
          </a:p>
        </p:txBody>
      </p:sp>
      <p:sp>
        <p:nvSpPr>
          <p:cNvPr id="82" name="Shape 79"/>
          <p:cNvSpPr/>
          <p:nvPr/>
        </p:nvSpPr>
        <p:spPr>
          <a:xfrm>
            <a:off x="11384526" y="5557255"/>
            <a:ext cx="351354" cy="281084"/>
          </a:xfrm>
          <a:custGeom>
            <a:avLst/>
            <a:gdLst/>
            <a:ahLst/>
            <a:cxnLst/>
            <a:rect l="l" t="t" r="r" b="b"/>
            <a:pathLst>
              <a:path w="351354" h="281084">
                <a:moveTo>
                  <a:pt x="140542" y="0"/>
                </a:moveTo>
                <a:lnTo>
                  <a:pt x="210813" y="0"/>
                </a:lnTo>
                <a:cubicBezTo>
                  <a:pt x="288380" y="0"/>
                  <a:pt x="351354" y="62975"/>
                  <a:pt x="351354" y="140542"/>
                </a:cubicBezTo>
                <a:lnTo>
                  <a:pt x="351354" y="140542"/>
                </a:lnTo>
                <a:cubicBezTo>
                  <a:pt x="351354" y="218109"/>
                  <a:pt x="288380" y="281084"/>
                  <a:pt x="210813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83" name="Text 80"/>
          <p:cNvSpPr/>
          <p:nvPr/>
        </p:nvSpPr>
        <p:spPr>
          <a:xfrm>
            <a:off x="11384526" y="5557255"/>
            <a:ext cx="421625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13</a:t>
            </a:r>
            <a:endParaRPr lang="en-US" sz="1600" dirty="0"/>
          </a:p>
        </p:txBody>
      </p:sp>
      <p:sp>
        <p:nvSpPr>
          <p:cNvPr id="84" name="Text 81"/>
          <p:cNvSpPr/>
          <p:nvPr/>
        </p:nvSpPr>
        <p:spPr>
          <a:xfrm>
            <a:off x="8218401" y="5943745"/>
            <a:ext cx="772980" cy="2108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最小样本数</a:t>
            </a: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11300072" y="5908610"/>
            <a:ext cx="430409" cy="281084"/>
          </a:xfrm>
          <a:custGeom>
            <a:avLst/>
            <a:gdLst/>
            <a:ahLst/>
            <a:cxnLst/>
            <a:rect l="l" t="t" r="r" b="b"/>
            <a:pathLst>
              <a:path w="430409" h="281084">
                <a:moveTo>
                  <a:pt x="140542" y="0"/>
                </a:moveTo>
                <a:lnTo>
                  <a:pt x="289867" y="0"/>
                </a:lnTo>
                <a:cubicBezTo>
                  <a:pt x="367487" y="0"/>
                  <a:pt x="430409" y="62923"/>
                  <a:pt x="430409" y="140542"/>
                </a:cubicBezTo>
                <a:lnTo>
                  <a:pt x="430409" y="140542"/>
                </a:lnTo>
                <a:cubicBezTo>
                  <a:pt x="430409" y="218161"/>
                  <a:pt x="367487" y="281084"/>
                  <a:pt x="289867" y="281084"/>
                </a:cubicBezTo>
                <a:lnTo>
                  <a:pt x="140542" y="281084"/>
                </a:lnTo>
                <a:cubicBezTo>
                  <a:pt x="62975" y="281084"/>
                  <a:pt x="0" y="218109"/>
                  <a:pt x="0" y="140542"/>
                </a:cubicBezTo>
                <a:lnTo>
                  <a:pt x="0" y="140542"/>
                </a:lnTo>
                <a:cubicBezTo>
                  <a:pt x="0" y="62975"/>
                  <a:pt x="62975" y="0"/>
                  <a:pt x="140542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6" name="Text 83"/>
          <p:cNvSpPr/>
          <p:nvPr/>
        </p:nvSpPr>
        <p:spPr>
          <a:xfrm>
            <a:off x="11300072" y="5908610"/>
            <a:ext cx="500680" cy="281084"/>
          </a:xfrm>
          <a:prstGeom prst="rect">
            <a:avLst/>
          </a:prstGeom>
          <a:noFill/>
        </p:spPr>
        <p:txBody>
          <a:bodyPr wrap="square" lIns="105406" tIns="35135" rIns="105406" bIns="35135" rtlCol="0" anchor="ctr"/>
          <a:lstStyle/>
          <a:p>
            <a:pPr>
              <a:lnSpc>
                <a:spcPct val="130000"/>
              </a:lnSpc>
            </a:pPr>
            <a:r>
              <a:rPr lang="en-US" sz="110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120</a:t>
            </a:r>
            <a:endParaRPr lang="en-US" sz="1600" dirty="0"/>
          </a:p>
        </p:txBody>
      </p:sp>
      <p:sp>
        <p:nvSpPr>
          <p:cNvPr id="87" name="Text 84"/>
          <p:cNvSpPr/>
          <p:nvPr/>
        </p:nvSpPr>
        <p:spPr>
          <a:xfrm>
            <a:off x="8218401" y="6295099"/>
            <a:ext cx="3583816" cy="456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105" b="1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网格搜索</a:t>
            </a: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105" b="1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10折交叉验证</a:t>
            </a:r>
            <a:r>
              <a:rPr lang="en-US" sz="1105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优化参数，确保模型性能稳定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EVALUATION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随机森林推荐系统效果评估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181100"/>
            <a:ext cx="6743700" cy="2628900"/>
          </a:xfrm>
          <a:custGeom>
            <a:avLst/>
            <a:gdLst/>
            <a:ahLst/>
            <a:cxnLst/>
            <a:rect l="l" t="t" r="r" b="b"/>
            <a:pathLst>
              <a:path w="6743700" h="2628900">
                <a:moveTo>
                  <a:pt x="38100" y="0"/>
                </a:moveTo>
                <a:lnTo>
                  <a:pt x="6629395" y="0"/>
                </a:lnTo>
                <a:cubicBezTo>
                  <a:pt x="6692524" y="0"/>
                  <a:pt x="6743700" y="51176"/>
                  <a:pt x="6743700" y="114305"/>
                </a:cubicBezTo>
                <a:lnTo>
                  <a:pt x="6743700" y="2514595"/>
                </a:lnTo>
                <a:cubicBezTo>
                  <a:pt x="6743700" y="2577724"/>
                  <a:pt x="6692524" y="2628900"/>
                  <a:pt x="6629395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1811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Text 4"/>
          <p:cNvSpPr/>
          <p:nvPr/>
        </p:nvSpPr>
        <p:spPr>
          <a:xfrm>
            <a:off x="571500" y="1333500"/>
            <a:ext cx="6534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性能评估指标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1752600"/>
            <a:ext cx="1524000" cy="1066800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76202" y="0"/>
                </a:moveTo>
                <a:lnTo>
                  <a:pt x="1447798" y="0"/>
                </a:lnTo>
                <a:cubicBezTo>
                  <a:pt x="1489883" y="0"/>
                  <a:pt x="1524000" y="34117"/>
                  <a:pt x="1524000" y="76202"/>
                </a:cubicBezTo>
                <a:lnTo>
                  <a:pt x="1524000" y="990598"/>
                </a:lnTo>
                <a:cubicBezTo>
                  <a:pt x="1524000" y="1032683"/>
                  <a:pt x="1489883" y="1066800"/>
                  <a:pt x="14477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14363" y="1866900"/>
            <a:ext cx="1438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92%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7700" y="22479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2463" y="2514600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05930" y="1752600"/>
            <a:ext cx="1524000" cy="1066800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76202" y="0"/>
                </a:moveTo>
                <a:lnTo>
                  <a:pt x="1447798" y="0"/>
                </a:lnTo>
                <a:cubicBezTo>
                  <a:pt x="1489883" y="0"/>
                  <a:pt x="1524000" y="34117"/>
                  <a:pt x="1524000" y="76202"/>
                </a:cubicBezTo>
                <a:lnTo>
                  <a:pt x="1524000" y="990598"/>
                </a:lnTo>
                <a:cubicBezTo>
                  <a:pt x="1524000" y="1032683"/>
                  <a:pt x="1489883" y="1066800"/>
                  <a:pt x="14477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2248793" y="1866900"/>
            <a:ext cx="1438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0.758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282130" y="22479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286893" y="2514600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40460" y="1752600"/>
            <a:ext cx="1524000" cy="1066800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76202" y="0"/>
                </a:moveTo>
                <a:lnTo>
                  <a:pt x="1447798" y="0"/>
                </a:lnTo>
                <a:cubicBezTo>
                  <a:pt x="1489883" y="0"/>
                  <a:pt x="1524000" y="34117"/>
                  <a:pt x="1524000" y="76202"/>
                </a:cubicBezTo>
                <a:lnTo>
                  <a:pt x="1524000" y="990598"/>
                </a:lnTo>
                <a:cubicBezTo>
                  <a:pt x="1524000" y="1032683"/>
                  <a:pt x="1489883" y="1066800"/>
                  <a:pt x="14477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3883323" y="1866900"/>
            <a:ext cx="1438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0.85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916660" y="22479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21423" y="2514600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Area Under Curve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74891" y="1752600"/>
            <a:ext cx="1524000" cy="1066800"/>
          </a:xfrm>
          <a:custGeom>
            <a:avLst/>
            <a:gdLst/>
            <a:ahLst/>
            <a:cxnLst/>
            <a:rect l="l" t="t" r="r" b="b"/>
            <a:pathLst>
              <a:path w="1524000" h="1066800">
                <a:moveTo>
                  <a:pt x="76202" y="0"/>
                </a:moveTo>
                <a:lnTo>
                  <a:pt x="1447798" y="0"/>
                </a:lnTo>
                <a:cubicBezTo>
                  <a:pt x="1489883" y="0"/>
                  <a:pt x="1524000" y="34117"/>
                  <a:pt x="1524000" y="76202"/>
                </a:cubicBezTo>
                <a:lnTo>
                  <a:pt x="1524000" y="990598"/>
                </a:lnTo>
                <a:cubicBezTo>
                  <a:pt x="1524000" y="1032683"/>
                  <a:pt x="1489883" y="1066800"/>
                  <a:pt x="1447798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5517753" y="1866900"/>
            <a:ext cx="14382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51091" y="22479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CTR提升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55853" y="2514600"/>
            <a:ext cx="1362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Click Through Rate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1500" y="2933700"/>
            <a:ext cx="6419850" cy="723900"/>
          </a:xfrm>
          <a:custGeom>
            <a:avLst/>
            <a:gdLst/>
            <a:ahLst/>
            <a:cxnLst/>
            <a:rect l="l" t="t" r="r" b="b"/>
            <a:pathLst>
              <a:path w="6419850" h="723900">
                <a:moveTo>
                  <a:pt x="76198" y="0"/>
                </a:moveTo>
                <a:lnTo>
                  <a:pt x="6343652" y="0"/>
                </a:lnTo>
                <a:cubicBezTo>
                  <a:pt x="6385707" y="0"/>
                  <a:pt x="6419850" y="34143"/>
                  <a:pt x="6419850" y="76198"/>
                </a:cubicBezTo>
                <a:lnTo>
                  <a:pt x="6419850" y="647702"/>
                </a:lnTo>
                <a:cubicBezTo>
                  <a:pt x="6419850" y="689757"/>
                  <a:pt x="6385707" y="723900"/>
                  <a:pt x="6343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685800" y="3048000"/>
            <a:ext cx="62674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根据学术研究数据，随机森林在电商推荐系统中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准确率达到92%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F1值为0.758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，显著优于传统算法。实际业务中，个性化推荐使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点击率提升15%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转化率提升20%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3924300"/>
            <a:ext cx="6743700" cy="2838450"/>
          </a:xfrm>
          <a:custGeom>
            <a:avLst/>
            <a:gdLst/>
            <a:ahLst/>
            <a:cxnLst/>
            <a:rect l="l" t="t" r="r" b="b"/>
            <a:pathLst>
              <a:path w="6743700" h="2838450">
                <a:moveTo>
                  <a:pt x="38100" y="0"/>
                </a:moveTo>
                <a:lnTo>
                  <a:pt x="6629396" y="0"/>
                </a:lnTo>
                <a:cubicBezTo>
                  <a:pt x="6692524" y="0"/>
                  <a:pt x="6743700" y="51176"/>
                  <a:pt x="6743700" y="114304"/>
                </a:cubicBezTo>
                <a:lnTo>
                  <a:pt x="6743700" y="2724146"/>
                </a:lnTo>
                <a:cubicBezTo>
                  <a:pt x="6743700" y="2787274"/>
                  <a:pt x="6692524" y="2838450"/>
                  <a:pt x="6629396" y="2838450"/>
                </a:cubicBezTo>
                <a:lnTo>
                  <a:pt x="38100" y="2838450"/>
                </a:lnTo>
                <a:cubicBezTo>
                  <a:pt x="17072" y="2838450"/>
                  <a:pt x="0" y="2821378"/>
                  <a:pt x="0" y="2800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00050" y="3924300"/>
            <a:ext cx="38100" cy="2838450"/>
          </a:xfrm>
          <a:custGeom>
            <a:avLst/>
            <a:gdLst/>
            <a:ahLst/>
            <a:cxnLst/>
            <a:rect l="l" t="t" r="r" b="b"/>
            <a:pathLst>
              <a:path w="38100" h="2838450">
                <a:moveTo>
                  <a:pt x="38100" y="0"/>
                </a:moveTo>
                <a:lnTo>
                  <a:pt x="38100" y="0"/>
                </a:lnTo>
                <a:lnTo>
                  <a:pt x="38100" y="2838450"/>
                </a:lnTo>
                <a:lnTo>
                  <a:pt x="38100" y="2838450"/>
                </a:lnTo>
                <a:cubicBezTo>
                  <a:pt x="17072" y="2838450"/>
                  <a:pt x="0" y="2821378"/>
                  <a:pt x="0" y="2800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8" name="Text 25"/>
          <p:cNvSpPr/>
          <p:nvPr/>
        </p:nvSpPr>
        <p:spPr>
          <a:xfrm>
            <a:off x="571500" y="4076700"/>
            <a:ext cx="6534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特征重要性分析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71500" y="4495800"/>
            <a:ext cx="6496050" cy="2476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随机森林可以输出特征重要性，帮助我们理解哪些特征对推荐结果影响最大：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1500" y="485775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76200" y="0"/>
                </a:moveTo>
                <a:lnTo>
                  <a:pt x="1143000" y="0"/>
                </a:lnTo>
                <a:cubicBezTo>
                  <a:pt x="1185056" y="0"/>
                  <a:pt x="1219200" y="34144"/>
                  <a:pt x="1219200" y="76200"/>
                </a:cubicBezTo>
                <a:lnTo>
                  <a:pt x="1219200" y="304800"/>
                </a:lnTo>
                <a:cubicBezTo>
                  <a:pt x="1219200" y="346856"/>
                  <a:pt x="1185056" y="381000"/>
                  <a:pt x="11430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1" name="Text 28"/>
          <p:cNvSpPr/>
          <p:nvPr/>
        </p:nvSpPr>
        <p:spPr>
          <a:xfrm>
            <a:off x="533400" y="4857750"/>
            <a:ext cx="1295400" cy="381000"/>
          </a:xfrm>
          <a:prstGeom prst="rect">
            <a:avLst/>
          </a:prstGeom>
          <a:noFill/>
        </p:spPr>
        <p:txBody>
          <a:bodyPr wrap="square" lIns="0" tIns="76200" rIns="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R值 (最近行为)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905000" y="4895850"/>
            <a:ext cx="4629150" cy="304800"/>
          </a:xfrm>
          <a:custGeom>
            <a:avLst/>
            <a:gdLst/>
            <a:ahLst/>
            <a:cxnLst/>
            <a:rect l="l" t="t" r="r" b="b"/>
            <a:pathLst>
              <a:path w="4629150" h="304800">
                <a:moveTo>
                  <a:pt x="76200" y="0"/>
                </a:moveTo>
                <a:lnTo>
                  <a:pt x="4552950" y="0"/>
                </a:lnTo>
                <a:cubicBezTo>
                  <a:pt x="4595006" y="0"/>
                  <a:pt x="4629150" y="34144"/>
                  <a:pt x="4629150" y="76200"/>
                </a:cubicBezTo>
                <a:lnTo>
                  <a:pt x="4629150" y="228600"/>
                </a:lnTo>
                <a:cubicBezTo>
                  <a:pt x="4629150" y="270656"/>
                  <a:pt x="4595006" y="304800"/>
                  <a:pt x="45529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>
              <a:alpha val="20000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6651328" y="4914900"/>
            <a:ext cx="428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35%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71500" y="531495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76200" y="0"/>
                </a:moveTo>
                <a:lnTo>
                  <a:pt x="1143000" y="0"/>
                </a:lnTo>
                <a:cubicBezTo>
                  <a:pt x="1185056" y="0"/>
                  <a:pt x="1219200" y="34144"/>
                  <a:pt x="1219200" y="76200"/>
                </a:cubicBezTo>
                <a:lnTo>
                  <a:pt x="1219200" y="304800"/>
                </a:lnTo>
                <a:cubicBezTo>
                  <a:pt x="1219200" y="346856"/>
                  <a:pt x="1185056" y="381000"/>
                  <a:pt x="11430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5" name="Text 32"/>
          <p:cNvSpPr/>
          <p:nvPr/>
        </p:nvSpPr>
        <p:spPr>
          <a:xfrm>
            <a:off x="533400" y="5314950"/>
            <a:ext cx="1295400" cy="381000"/>
          </a:xfrm>
          <a:prstGeom prst="rect">
            <a:avLst/>
          </a:prstGeom>
          <a:noFill/>
        </p:spPr>
        <p:txBody>
          <a:bodyPr wrap="square" lIns="0" tIns="76200" rIns="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F值 (购买频率)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905000" y="5353050"/>
            <a:ext cx="4629150" cy="304800"/>
          </a:xfrm>
          <a:custGeom>
            <a:avLst/>
            <a:gdLst/>
            <a:ahLst/>
            <a:cxnLst/>
            <a:rect l="l" t="t" r="r" b="b"/>
            <a:pathLst>
              <a:path w="4629150" h="304800">
                <a:moveTo>
                  <a:pt x="76200" y="0"/>
                </a:moveTo>
                <a:lnTo>
                  <a:pt x="4552950" y="0"/>
                </a:lnTo>
                <a:cubicBezTo>
                  <a:pt x="4595006" y="0"/>
                  <a:pt x="4629150" y="34144"/>
                  <a:pt x="4629150" y="76200"/>
                </a:cubicBezTo>
                <a:lnTo>
                  <a:pt x="4629150" y="228600"/>
                </a:lnTo>
                <a:cubicBezTo>
                  <a:pt x="4629150" y="270656"/>
                  <a:pt x="4595006" y="304800"/>
                  <a:pt x="45529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>
              <a:alpha val="20000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6651328" y="5372100"/>
            <a:ext cx="428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28%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71500" y="577215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76200" y="0"/>
                </a:moveTo>
                <a:lnTo>
                  <a:pt x="1143000" y="0"/>
                </a:lnTo>
                <a:cubicBezTo>
                  <a:pt x="1185056" y="0"/>
                  <a:pt x="1219200" y="34144"/>
                  <a:pt x="1219200" y="76200"/>
                </a:cubicBezTo>
                <a:lnTo>
                  <a:pt x="1219200" y="304800"/>
                </a:lnTo>
                <a:cubicBezTo>
                  <a:pt x="1219200" y="346856"/>
                  <a:pt x="1185056" y="381000"/>
                  <a:pt x="11430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9" name="Text 36"/>
          <p:cNvSpPr/>
          <p:nvPr/>
        </p:nvSpPr>
        <p:spPr>
          <a:xfrm>
            <a:off x="533400" y="5772150"/>
            <a:ext cx="1295400" cy="381000"/>
          </a:xfrm>
          <a:prstGeom prst="rect">
            <a:avLst/>
          </a:prstGeom>
          <a:noFill/>
        </p:spPr>
        <p:txBody>
          <a:bodyPr wrap="square" lIns="0" tIns="76200" rIns="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商品价格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905000" y="5810250"/>
            <a:ext cx="4629150" cy="304800"/>
          </a:xfrm>
          <a:custGeom>
            <a:avLst/>
            <a:gdLst/>
            <a:ahLst/>
            <a:cxnLst/>
            <a:rect l="l" t="t" r="r" b="b"/>
            <a:pathLst>
              <a:path w="4629150" h="304800">
                <a:moveTo>
                  <a:pt x="76200" y="0"/>
                </a:moveTo>
                <a:lnTo>
                  <a:pt x="4552950" y="0"/>
                </a:lnTo>
                <a:cubicBezTo>
                  <a:pt x="4595006" y="0"/>
                  <a:pt x="4629150" y="34144"/>
                  <a:pt x="4629150" y="76200"/>
                </a:cubicBezTo>
                <a:lnTo>
                  <a:pt x="4629150" y="228600"/>
                </a:lnTo>
                <a:cubicBezTo>
                  <a:pt x="4629150" y="270656"/>
                  <a:pt x="4595006" y="304800"/>
                  <a:pt x="45529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7D0">
              <a:alpha val="20000"/>
            </a:srgbClr>
          </a:solidFill>
        </p:spPr>
      </p:sp>
      <p:sp>
        <p:nvSpPr>
          <p:cNvPr id="41" name="Text 38"/>
          <p:cNvSpPr/>
          <p:nvPr/>
        </p:nvSpPr>
        <p:spPr>
          <a:xfrm>
            <a:off x="6650633" y="5829300"/>
            <a:ext cx="428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20%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571500" y="6229350"/>
            <a:ext cx="1219200" cy="381000"/>
          </a:xfrm>
          <a:custGeom>
            <a:avLst/>
            <a:gdLst/>
            <a:ahLst/>
            <a:cxnLst/>
            <a:rect l="l" t="t" r="r" b="b"/>
            <a:pathLst>
              <a:path w="1219200" h="381000">
                <a:moveTo>
                  <a:pt x="76200" y="0"/>
                </a:moveTo>
                <a:lnTo>
                  <a:pt x="1143000" y="0"/>
                </a:lnTo>
                <a:cubicBezTo>
                  <a:pt x="1185056" y="0"/>
                  <a:pt x="1219200" y="34144"/>
                  <a:pt x="1219200" y="76200"/>
                </a:cubicBezTo>
                <a:lnTo>
                  <a:pt x="1219200" y="304800"/>
                </a:lnTo>
                <a:cubicBezTo>
                  <a:pt x="1219200" y="346856"/>
                  <a:pt x="1185056" y="381000"/>
                  <a:pt x="11430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3" name="Text 40"/>
          <p:cNvSpPr/>
          <p:nvPr/>
        </p:nvSpPr>
        <p:spPr>
          <a:xfrm>
            <a:off x="533400" y="6229350"/>
            <a:ext cx="1295400" cy="381000"/>
          </a:xfrm>
          <a:prstGeom prst="rect">
            <a:avLst/>
          </a:prstGeom>
          <a:noFill/>
        </p:spPr>
        <p:txBody>
          <a:bodyPr wrap="square" lIns="0" tIns="76200" rIns="0" bIns="7620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用户评分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905000" y="6267450"/>
            <a:ext cx="4676775" cy="304800"/>
          </a:xfrm>
          <a:custGeom>
            <a:avLst/>
            <a:gdLst/>
            <a:ahLst/>
            <a:cxnLst/>
            <a:rect l="l" t="t" r="r" b="b"/>
            <a:pathLst>
              <a:path w="4676775" h="304800">
                <a:moveTo>
                  <a:pt x="76200" y="0"/>
                </a:moveTo>
                <a:lnTo>
                  <a:pt x="4600575" y="0"/>
                </a:lnTo>
                <a:cubicBezTo>
                  <a:pt x="4642631" y="0"/>
                  <a:pt x="4676775" y="34144"/>
                  <a:pt x="4676775" y="76200"/>
                </a:cubicBezTo>
                <a:lnTo>
                  <a:pt x="4676775" y="228600"/>
                </a:lnTo>
                <a:cubicBezTo>
                  <a:pt x="4676775" y="270656"/>
                  <a:pt x="4642631" y="304800"/>
                  <a:pt x="46005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>
              <a:alpha val="20000"/>
            </a:srgbClr>
          </a:solidFill>
        </p:spPr>
      </p:sp>
      <p:sp>
        <p:nvSpPr>
          <p:cNvPr id="45" name="Text 42"/>
          <p:cNvSpPr/>
          <p:nvPr/>
        </p:nvSpPr>
        <p:spPr>
          <a:xfrm>
            <a:off x="6698258" y="6286500"/>
            <a:ext cx="381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17%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318971" y="1181100"/>
            <a:ext cx="4495800" cy="2895600"/>
          </a:xfrm>
          <a:custGeom>
            <a:avLst/>
            <a:gdLst/>
            <a:ahLst/>
            <a:cxnLst/>
            <a:rect l="l" t="t" r="r" b="b"/>
            <a:pathLst>
              <a:path w="4495800" h="2895600">
                <a:moveTo>
                  <a:pt x="38100" y="0"/>
                </a:moveTo>
                <a:lnTo>
                  <a:pt x="4381511" y="0"/>
                </a:lnTo>
                <a:cubicBezTo>
                  <a:pt x="4444631" y="0"/>
                  <a:pt x="4495800" y="51169"/>
                  <a:pt x="4495800" y="114289"/>
                </a:cubicBezTo>
                <a:lnTo>
                  <a:pt x="4495800" y="2781311"/>
                </a:lnTo>
                <a:cubicBezTo>
                  <a:pt x="4495800" y="2844431"/>
                  <a:pt x="4444631" y="2895600"/>
                  <a:pt x="4381511" y="2895600"/>
                </a:cubicBez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318971" y="1181100"/>
            <a:ext cx="38100" cy="2895600"/>
          </a:xfrm>
          <a:custGeom>
            <a:avLst/>
            <a:gdLst/>
            <a:ahLst/>
            <a:cxnLst/>
            <a:rect l="l" t="t" r="r" b="b"/>
            <a:pathLst>
              <a:path w="38100" h="2895600">
                <a:moveTo>
                  <a:pt x="38100" y="0"/>
                </a:moveTo>
                <a:lnTo>
                  <a:pt x="38100" y="0"/>
                </a:lnTo>
                <a:lnTo>
                  <a:pt x="38100" y="2895600"/>
                </a:ln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48" name="Text 45"/>
          <p:cNvSpPr/>
          <p:nvPr/>
        </p:nvSpPr>
        <p:spPr>
          <a:xfrm>
            <a:off x="7490421" y="1333500"/>
            <a:ext cx="4267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算法优势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514233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0" name="Text 47"/>
          <p:cNvSpPr/>
          <p:nvPr/>
        </p:nvSpPr>
        <p:spPr>
          <a:xfrm>
            <a:off x="7819033" y="17145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处理高维数据能力强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819033" y="198120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无需特征选择，自动处理大量特征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14233" y="2324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3" name="Text 50"/>
          <p:cNvSpPr/>
          <p:nvPr/>
        </p:nvSpPr>
        <p:spPr>
          <a:xfrm>
            <a:off x="7819033" y="22860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训练速度快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819033" y="25527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并行训练，适合大规模数据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7514233" y="2895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6" name="Text 53"/>
          <p:cNvSpPr/>
          <p:nvPr/>
        </p:nvSpPr>
        <p:spPr>
          <a:xfrm>
            <a:off x="7819033" y="2857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可解释性好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819033" y="31242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输出特征重要性，易于理解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7514233" y="3467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9" name="Text 56"/>
          <p:cNvSpPr/>
          <p:nvPr/>
        </p:nvSpPr>
        <p:spPr>
          <a:xfrm>
            <a:off x="7819033" y="34290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抗过拟合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819033" y="36957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集成多棵树，减少过拟合风险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7318971" y="4191000"/>
            <a:ext cx="4495800" cy="2095500"/>
          </a:xfrm>
          <a:custGeom>
            <a:avLst/>
            <a:gdLst/>
            <a:ahLst/>
            <a:cxnLst/>
            <a:rect l="l" t="t" r="r" b="b"/>
            <a:pathLst>
              <a:path w="4495800" h="2095500">
                <a:moveTo>
                  <a:pt x="38100" y="0"/>
                </a:moveTo>
                <a:lnTo>
                  <a:pt x="4381490" y="0"/>
                </a:lnTo>
                <a:cubicBezTo>
                  <a:pt x="4444622" y="0"/>
                  <a:pt x="4495800" y="51178"/>
                  <a:pt x="4495800" y="114310"/>
                </a:cubicBezTo>
                <a:lnTo>
                  <a:pt x="4495800" y="1981190"/>
                </a:lnTo>
                <a:cubicBezTo>
                  <a:pt x="4495800" y="2044322"/>
                  <a:pt x="4444622" y="2095500"/>
                  <a:pt x="4381490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7318971" y="4191000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3" name="Text 60"/>
          <p:cNvSpPr/>
          <p:nvPr/>
        </p:nvSpPr>
        <p:spPr>
          <a:xfrm>
            <a:off x="7490421" y="4343400"/>
            <a:ext cx="42672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业务效果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7490421" y="4724400"/>
            <a:ext cx="1314450" cy="800100"/>
          </a:xfrm>
          <a:custGeom>
            <a:avLst/>
            <a:gdLst/>
            <a:ahLst/>
            <a:cxnLst/>
            <a:rect l="l" t="t" r="r" b="b"/>
            <a:pathLst>
              <a:path w="1314450" h="800100">
                <a:moveTo>
                  <a:pt x="76202" y="0"/>
                </a:moveTo>
                <a:lnTo>
                  <a:pt x="1238248" y="0"/>
                </a:lnTo>
                <a:cubicBezTo>
                  <a:pt x="1280333" y="0"/>
                  <a:pt x="1314450" y="34117"/>
                  <a:pt x="1314450" y="76202"/>
                </a:cubicBezTo>
                <a:lnTo>
                  <a:pt x="1314450" y="723898"/>
                </a:lnTo>
                <a:cubicBezTo>
                  <a:pt x="1314450" y="765955"/>
                  <a:pt x="1280305" y="800100"/>
                  <a:pt x="12382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65" name="Text 62"/>
          <p:cNvSpPr/>
          <p:nvPr/>
        </p:nvSpPr>
        <p:spPr>
          <a:xfrm>
            <a:off x="7547571" y="4838700"/>
            <a:ext cx="1200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+15%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7566621" y="5181600"/>
            <a:ext cx="116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点击率提升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8917881" y="4724400"/>
            <a:ext cx="1314450" cy="800100"/>
          </a:xfrm>
          <a:custGeom>
            <a:avLst/>
            <a:gdLst/>
            <a:ahLst/>
            <a:cxnLst/>
            <a:rect l="l" t="t" r="r" b="b"/>
            <a:pathLst>
              <a:path w="1314450" h="800100">
                <a:moveTo>
                  <a:pt x="76202" y="0"/>
                </a:moveTo>
                <a:lnTo>
                  <a:pt x="1238248" y="0"/>
                </a:lnTo>
                <a:cubicBezTo>
                  <a:pt x="1280333" y="0"/>
                  <a:pt x="1314450" y="34117"/>
                  <a:pt x="1314450" y="76202"/>
                </a:cubicBezTo>
                <a:lnTo>
                  <a:pt x="1314450" y="723898"/>
                </a:lnTo>
                <a:cubicBezTo>
                  <a:pt x="1314450" y="765955"/>
                  <a:pt x="1280305" y="800100"/>
                  <a:pt x="12382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68" name="Text 65"/>
          <p:cNvSpPr/>
          <p:nvPr/>
        </p:nvSpPr>
        <p:spPr>
          <a:xfrm>
            <a:off x="8975031" y="4838700"/>
            <a:ext cx="1200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+20%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994081" y="5181600"/>
            <a:ext cx="116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转化率提升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10345341" y="4724400"/>
            <a:ext cx="1314450" cy="800100"/>
          </a:xfrm>
          <a:custGeom>
            <a:avLst/>
            <a:gdLst/>
            <a:ahLst/>
            <a:cxnLst/>
            <a:rect l="l" t="t" r="r" b="b"/>
            <a:pathLst>
              <a:path w="1314450" h="800100">
                <a:moveTo>
                  <a:pt x="76202" y="0"/>
                </a:moveTo>
                <a:lnTo>
                  <a:pt x="1238248" y="0"/>
                </a:lnTo>
                <a:cubicBezTo>
                  <a:pt x="1280333" y="0"/>
                  <a:pt x="1314450" y="34117"/>
                  <a:pt x="1314450" y="76202"/>
                </a:cubicBezTo>
                <a:lnTo>
                  <a:pt x="1314450" y="723898"/>
                </a:lnTo>
                <a:cubicBezTo>
                  <a:pt x="1314450" y="765955"/>
                  <a:pt x="1280305" y="800100"/>
                  <a:pt x="12382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71" name="Text 68"/>
          <p:cNvSpPr/>
          <p:nvPr/>
        </p:nvSpPr>
        <p:spPr>
          <a:xfrm>
            <a:off x="10402491" y="4838700"/>
            <a:ext cx="12001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10421541" y="5181600"/>
            <a:ext cx="1162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用户满意度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7490421" y="5638800"/>
            <a:ext cx="42481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实际业务应用中，随机森林推荐系统显著提升了核心业务指标，用户反馈良好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 SVM在用户异常检测中的应用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5872" y="345872"/>
            <a:ext cx="11560783" cy="172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5" b="1" kern="0" spc="95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45872" y="587983"/>
            <a:ext cx="11655898" cy="345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SVM异常检测实施方案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3166" y="1072204"/>
            <a:ext cx="7600545" cy="2144409"/>
          </a:xfrm>
          <a:custGeom>
            <a:avLst/>
            <a:gdLst/>
            <a:ahLst/>
            <a:cxnLst/>
            <a:rect l="l" t="t" r="r" b="b"/>
            <a:pathLst>
              <a:path w="7600545" h="2144409">
                <a:moveTo>
                  <a:pt x="34587" y="0"/>
                </a:moveTo>
                <a:lnTo>
                  <a:pt x="7496777" y="0"/>
                </a:lnTo>
                <a:cubicBezTo>
                  <a:pt x="7554086" y="0"/>
                  <a:pt x="7600545" y="46458"/>
                  <a:pt x="7600545" y="103768"/>
                </a:cubicBezTo>
                <a:lnTo>
                  <a:pt x="7600545" y="2040641"/>
                </a:lnTo>
                <a:cubicBezTo>
                  <a:pt x="7600545" y="2097950"/>
                  <a:pt x="7554086" y="2144409"/>
                  <a:pt x="7496777" y="2144409"/>
                </a:cubicBezTo>
                <a:lnTo>
                  <a:pt x="34587" y="2144409"/>
                </a:lnTo>
                <a:cubicBezTo>
                  <a:pt x="15485" y="2144409"/>
                  <a:pt x="0" y="2128923"/>
                  <a:pt x="0" y="210982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3166" y="1072204"/>
            <a:ext cx="34587" cy="2144409"/>
          </a:xfrm>
          <a:custGeom>
            <a:avLst/>
            <a:gdLst/>
            <a:ahLst/>
            <a:cxnLst/>
            <a:rect l="l" t="t" r="r" b="b"/>
            <a:pathLst>
              <a:path w="34587" h="2144409">
                <a:moveTo>
                  <a:pt x="34587" y="0"/>
                </a:moveTo>
                <a:lnTo>
                  <a:pt x="34587" y="0"/>
                </a:lnTo>
                <a:lnTo>
                  <a:pt x="34587" y="2144409"/>
                </a:lnTo>
                <a:lnTo>
                  <a:pt x="34587" y="2144409"/>
                </a:lnTo>
                <a:cubicBezTo>
                  <a:pt x="15485" y="2144409"/>
                  <a:pt x="0" y="2128923"/>
                  <a:pt x="0" y="2109821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" name="Text 4"/>
          <p:cNvSpPr/>
          <p:nvPr/>
        </p:nvSpPr>
        <p:spPr>
          <a:xfrm>
            <a:off x="518809" y="1210553"/>
            <a:ext cx="7410315" cy="27669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异常检测场景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809" y="1591013"/>
            <a:ext cx="3605719" cy="691745"/>
          </a:xfrm>
          <a:custGeom>
            <a:avLst/>
            <a:gdLst/>
            <a:ahLst/>
            <a:cxnLst/>
            <a:rect l="l" t="t" r="r" b="b"/>
            <a:pathLst>
              <a:path w="3605719" h="691745">
                <a:moveTo>
                  <a:pt x="69174" y="0"/>
                </a:moveTo>
                <a:lnTo>
                  <a:pt x="3536545" y="0"/>
                </a:lnTo>
                <a:cubicBezTo>
                  <a:pt x="3574749" y="0"/>
                  <a:pt x="3605719" y="30970"/>
                  <a:pt x="3605719" y="69174"/>
                </a:cubicBezTo>
                <a:lnTo>
                  <a:pt x="3605719" y="622570"/>
                </a:lnTo>
                <a:cubicBezTo>
                  <a:pt x="3605719" y="660774"/>
                  <a:pt x="3574749" y="691745"/>
                  <a:pt x="3536545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24732" y="1720715"/>
            <a:ext cx="194553" cy="155643"/>
          </a:xfrm>
          <a:custGeom>
            <a:avLst/>
            <a:gdLst/>
            <a:ahLst/>
            <a:cxnLst/>
            <a:rect l="l" t="t" r="r" b="b"/>
            <a:pathLst>
              <a:path w="194553" h="155643">
                <a:moveTo>
                  <a:pt x="107004" y="0"/>
                </a:moveTo>
                <a:cubicBezTo>
                  <a:pt x="107004" y="-5381"/>
                  <a:pt x="102657" y="-9728"/>
                  <a:pt x="97277" y="-9728"/>
                </a:cubicBezTo>
                <a:cubicBezTo>
                  <a:pt x="91896" y="-9728"/>
                  <a:pt x="87549" y="-5381"/>
                  <a:pt x="87549" y="0"/>
                </a:cubicBezTo>
                <a:lnTo>
                  <a:pt x="87549" y="19455"/>
                </a:lnTo>
                <a:lnTo>
                  <a:pt x="58366" y="19455"/>
                </a:lnTo>
                <a:cubicBezTo>
                  <a:pt x="42255" y="19455"/>
                  <a:pt x="29183" y="32527"/>
                  <a:pt x="29183" y="48638"/>
                </a:cubicBezTo>
                <a:lnTo>
                  <a:pt x="29183" y="116732"/>
                </a:lnTo>
                <a:cubicBezTo>
                  <a:pt x="29183" y="132843"/>
                  <a:pt x="42255" y="145915"/>
                  <a:pt x="58366" y="145915"/>
                </a:cubicBezTo>
                <a:lnTo>
                  <a:pt x="136187" y="145915"/>
                </a:lnTo>
                <a:cubicBezTo>
                  <a:pt x="152299" y="145915"/>
                  <a:pt x="165370" y="132843"/>
                  <a:pt x="165370" y="116732"/>
                </a:cubicBezTo>
                <a:lnTo>
                  <a:pt x="165370" y="48638"/>
                </a:lnTo>
                <a:cubicBezTo>
                  <a:pt x="165370" y="32527"/>
                  <a:pt x="152299" y="19455"/>
                  <a:pt x="136187" y="19455"/>
                </a:cubicBezTo>
                <a:lnTo>
                  <a:pt x="107004" y="19455"/>
                </a:lnTo>
                <a:lnTo>
                  <a:pt x="107004" y="0"/>
                </a:lnTo>
                <a:close/>
                <a:moveTo>
                  <a:pt x="48638" y="111868"/>
                </a:moveTo>
                <a:cubicBezTo>
                  <a:pt x="48638" y="107825"/>
                  <a:pt x="51891" y="104572"/>
                  <a:pt x="55934" y="104572"/>
                </a:cubicBezTo>
                <a:lnTo>
                  <a:pt x="65662" y="104572"/>
                </a:lnTo>
                <a:cubicBezTo>
                  <a:pt x="69705" y="104572"/>
                  <a:pt x="72957" y="107825"/>
                  <a:pt x="72957" y="111868"/>
                </a:cubicBezTo>
                <a:cubicBezTo>
                  <a:pt x="72957" y="115911"/>
                  <a:pt x="69705" y="119164"/>
                  <a:pt x="65662" y="119164"/>
                </a:cubicBezTo>
                <a:lnTo>
                  <a:pt x="55934" y="119164"/>
                </a:lnTo>
                <a:cubicBezTo>
                  <a:pt x="51891" y="119164"/>
                  <a:pt x="48638" y="115911"/>
                  <a:pt x="48638" y="111868"/>
                </a:cubicBezTo>
                <a:close/>
                <a:moveTo>
                  <a:pt x="85117" y="111868"/>
                </a:moveTo>
                <a:cubicBezTo>
                  <a:pt x="85117" y="107825"/>
                  <a:pt x="88370" y="104572"/>
                  <a:pt x="92413" y="104572"/>
                </a:cubicBezTo>
                <a:lnTo>
                  <a:pt x="102140" y="104572"/>
                </a:lnTo>
                <a:cubicBezTo>
                  <a:pt x="106183" y="104572"/>
                  <a:pt x="109436" y="107825"/>
                  <a:pt x="109436" y="111868"/>
                </a:cubicBezTo>
                <a:cubicBezTo>
                  <a:pt x="109436" y="115911"/>
                  <a:pt x="106183" y="119164"/>
                  <a:pt x="102140" y="119164"/>
                </a:cubicBezTo>
                <a:lnTo>
                  <a:pt x="92413" y="119164"/>
                </a:lnTo>
                <a:cubicBezTo>
                  <a:pt x="88370" y="119164"/>
                  <a:pt x="85117" y="115911"/>
                  <a:pt x="85117" y="111868"/>
                </a:cubicBezTo>
                <a:close/>
                <a:moveTo>
                  <a:pt x="121596" y="111868"/>
                </a:moveTo>
                <a:cubicBezTo>
                  <a:pt x="121596" y="107825"/>
                  <a:pt x="124848" y="104572"/>
                  <a:pt x="128891" y="104572"/>
                </a:cubicBezTo>
                <a:lnTo>
                  <a:pt x="138619" y="104572"/>
                </a:lnTo>
                <a:cubicBezTo>
                  <a:pt x="142662" y="104572"/>
                  <a:pt x="145915" y="107825"/>
                  <a:pt x="145915" y="111868"/>
                </a:cubicBezTo>
                <a:cubicBezTo>
                  <a:pt x="145915" y="115911"/>
                  <a:pt x="142662" y="119164"/>
                  <a:pt x="138619" y="119164"/>
                </a:cubicBezTo>
                <a:lnTo>
                  <a:pt x="128891" y="119164"/>
                </a:lnTo>
                <a:cubicBezTo>
                  <a:pt x="124848" y="119164"/>
                  <a:pt x="121596" y="115911"/>
                  <a:pt x="121596" y="111868"/>
                </a:cubicBezTo>
                <a:close/>
                <a:moveTo>
                  <a:pt x="68094" y="53502"/>
                </a:moveTo>
                <a:cubicBezTo>
                  <a:pt x="76147" y="53502"/>
                  <a:pt x="82685" y="60040"/>
                  <a:pt x="82685" y="68094"/>
                </a:cubicBezTo>
                <a:cubicBezTo>
                  <a:pt x="82685" y="76147"/>
                  <a:pt x="76147" y="82685"/>
                  <a:pt x="68094" y="82685"/>
                </a:cubicBezTo>
                <a:cubicBezTo>
                  <a:pt x="60040" y="82685"/>
                  <a:pt x="53502" y="76147"/>
                  <a:pt x="53502" y="68094"/>
                </a:cubicBezTo>
                <a:cubicBezTo>
                  <a:pt x="53502" y="60040"/>
                  <a:pt x="60040" y="53502"/>
                  <a:pt x="68094" y="53502"/>
                </a:cubicBezTo>
                <a:close/>
                <a:moveTo>
                  <a:pt x="111868" y="68094"/>
                </a:moveTo>
                <a:cubicBezTo>
                  <a:pt x="111868" y="60040"/>
                  <a:pt x="118406" y="53502"/>
                  <a:pt x="126460" y="53502"/>
                </a:cubicBezTo>
                <a:cubicBezTo>
                  <a:pt x="134513" y="53502"/>
                  <a:pt x="141051" y="60040"/>
                  <a:pt x="141051" y="68094"/>
                </a:cubicBezTo>
                <a:cubicBezTo>
                  <a:pt x="141051" y="76147"/>
                  <a:pt x="134513" y="82685"/>
                  <a:pt x="126460" y="82685"/>
                </a:cubicBezTo>
                <a:cubicBezTo>
                  <a:pt x="118406" y="82685"/>
                  <a:pt x="111868" y="76147"/>
                  <a:pt x="111868" y="68094"/>
                </a:cubicBezTo>
                <a:close/>
                <a:moveTo>
                  <a:pt x="19455" y="68094"/>
                </a:moveTo>
                <a:cubicBezTo>
                  <a:pt x="19455" y="62713"/>
                  <a:pt x="15108" y="58366"/>
                  <a:pt x="9728" y="58366"/>
                </a:cubicBezTo>
                <a:cubicBezTo>
                  <a:pt x="4347" y="58366"/>
                  <a:pt x="0" y="62713"/>
                  <a:pt x="0" y="68094"/>
                </a:cubicBezTo>
                <a:lnTo>
                  <a:pt x="0" y="97277"/>
                </a:lnTo>
                <a:cubicBezTo>
                  <a:pt x="0" y="102657"/>
                  <a:pt x="4347" y="107004"/>
                  <a:pt x="9728" y="107004"/>
                </a:cubicBezTo>
                <a:cubicBezTo>
                  <a:pt x="15108" y="107004"/>
                  <a:pt x="19455" y="102657"/>
                  <a:pt x="19455" y="97277"/>
                </a:cubicBezTo>
                <a:lnTo>
                  <a:pt x="19455" y="68094"/>
                </a:lnTo>
                <a:close/>
                <a:moveTo>
                  <a:pt x="184826" y="58366"/>
                </a:moveTo>
                <a:cubicBezTo>
                  <a:pt x="179445" y="58366"/>
                  <a:pt x="175098" y="62713"/>
                  <a:pt x="175098" y="68094"/>
                </a:cubicBezTo>
                <a:lnTo>
                  <a:pt x="175098" y="97277"/>
                </a:lnTo>
                <a:cubicBezTo>
                  <a:pt x="175098" y="102657"/>
                  <a:pt x="179445" y="107004"/>
                  <a:pt x="184826" y="107004"/>
                </a:cubicBezTo>
                <a:cubicBezTo>
                  <a:pt x="190206" y="107004"/>
                  <a:pt x="194553" y="102657"/>
                  <a:pt x="194553" y="97277"/>
                </a:cubicBezTo>
                <a:lnTo>
                  <a:pt x="194553" y="68094"/>
                </a:lnTo>
                <a:cubicBezTo>
                  <a:pt x="194553" y="62713"/>
                  <a:pt x="190206" y="58366"/>
                  <a:pt x="184826" y="58366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0" name="Text 7"/>
          <p:cNvSpPr/>
          <p:nvPr/>
        </p:nvSpPr>
        <p:spPr>
          <a:xfrm>
            <a:off x="886298" y="1694774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刷单行为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2570" y="1971472"/>
            <a:ext cx="34673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识别自动化刷单、虚假交易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24687" y="1591013"/>
            <a:ext cx="3605719" cy="691745"/>
          </a:xfrm>
          <a:custGeom>
            <a:avLst/>
            <a:gdLst/>
            <a:ahLst/>
            <a:cxnLst/>
            <a:rect l="l" t="t" r="r" b="b"/>
            <a:pathLst>
              <a:path w="3605719" h="691745">
                <a:moveTo>
                  <a:pt x="69174" y="0"/>
                </a:moveTo>
                <a:lnTo>
                  <a:pt x="3536545" y="0"/>
                </a:lnTo>
                <a:cubicBezTo>
                  <a:pt x="3574749" y="0"/>
                  <a:pt x="3605719" y="30970"/>
                  <a:pt x="3605719" y="69174"/>
                </a:cubicBezTo>
                <a:lnTo>
                  <a:pt x="3605719" y="622570"/>
                </a:lnTo>
                <a:cubicBezTo>
                  <a:pt x="3605719" y="660774"/>
                  <a:pt x="3574749" y="691745"/>
                  <a:pt x="3536545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4359793" y="1720715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51982" y="-4864"/>
                </a:moveTo>
                <a:cubicBezTo>
                  <a:pt x="40917" y="-4864"/>
                  <a:pt x="34412" y="12859"/>
                  <a:pt x="31220" y="29183"/>
                </a:cubicBezTo>
                <a:lnTo>
                  <a:pt x="21887" y="29183"/>
                </a:lnTo>
                <a:cubicBezTo>
                  <a:pt x="17844" y="29183"/>
                  <a:pt x="14591" y="32436"/>
                  <a:pt x="14591" y="36479"/>
                </a:cubicBezTo>
                <a:cubicBezTo>
                  <a:pt x="14591" y="40522"/>
                  <a:pt x="17844" y="43774"/>
                  <a:pt x="21887" y="43774"/>
                </a:cubicBezTo>
                <a:lnTo>
                  <a:pt x="29183" y="43774"/>
                </a:lnTo>
                <a:lnTo>
                  <a:pt x="29183" y="53502"/>
                </a:lnTo>
                <a:cubicBezTo>
                  <a:pt x="29183" y="58670"/>
                  <a:pt x="30186" y="63595"/>
                  <a:pt x="32010" y="68094"/>
                </a:cubicBezTo>
                <a:lnTo>
                  <a:pt x="29183" y="68094"/>
                </a:lnTo>
                <a:lnTo>
                  <a:pt x="29183" y="68094"/>
                </a:lnTo>
                <a:lnTo>
                  <a:pt x="22951" y="68094"/>
                </a:lnTo>
                <a:cubicBezTo>
                  <a:pt x="18331" y="68094"/>
                  <a:pt x="14591" y="71833"/>
                  <a:pt x="14591" y="76453"/>
                </a:cubicBezTo>
                <a:cubicBezTo>
                  <a:pt x="14591" y="77365"/>
                  <a:pt x="14743" y="78247"/>
                  <a:pt x="15017" y="79098"/>
                </a:cubicBezTo>
                <a:lnTo>
                  <a:pt x="23802" y="105424"/>
                </a:lnTo>
                <a:cubicBezTo>
                  <a:pt x="12220" y="115394"/>
                  <a:pt x="4864" y="130138"/>
                  <a:pt x="4864" y="146614"/>
                </a:cubicBezTo>
                <a:cubicBezTo>
                  <a:pt x="4864" y="151599"/>
                  <a:pt x="8907" y="155643"/>
                  <a:pt x="13892" y="155643"/>
                </a:cubicBezTo>
                <a:lnTo>
                  <a:pt x="122295" y="155643"/>
                </a:lnTo>
                <a:cubicBezTo>
                  <a:pt x="127280" y="155643"/>
                  <a:pt x="131323" y="151599"/>
                  <a:pt x="131323" y="146614"/>
                </a:cubicBezTo>
                <a:cubicBezTo>
                  <a:pt x="131323" y="130138"/>
                  <a:pt x="123967" y="115394"/>
                  <a:pt x="112385" y="105454"/>
                </a:cubicBezTo>
                <a:lnTo>
                  <a:pt x="121170" y="79128"/>
                </a:lnTo>
                <a:cubicBezTo>
                  <a:pt x="121444" y="78277"/>
                  <a:pt x="121596" y="77396"/>
                  <a:pt x="121596" y="76484"/>
                </a:cubicBezTo>
                <a:cubicBezTo>
                  <a:pt x="121596" y="71863"/>
                  <a:pt x="117857" y="68124"/>
                  <a:pt x="113236" y="68124"/>
                </a:cubicBezTo>
                <a:lnTo>
                  <a:pt x="107004" y="68124"/>
                </a:lnTo>
                <a:lnTo>
                  <a:pt x="107004" y="68124"/>
                </a:lnTo>
                <a:lnTo>
                  <a:pt x="104177" y="68124"/>
                </a:lnTo>
                <a:cubicBezTo>
                  <a:pt x="106001" y="63625"/>
                  <a:pt x="107004" y="58700"/>
                  <a:pt x="107004" y="53533"/>
                </a:cubicBezTo>
                <a:lnTo>
                  <a:pt x="107004" y="43805"/>
                </a:lnTo>
                <a:lnTo>
                  <a:pt x="114300" y="43805"/>
                </a:lnTo>
                <a:cubicBezTo>
                  <a:pt x="118343" y="43805"/>
                  <a:pt x="121596" y="40552"/>
                  <a:pt x="121596" y="36509"/>
                </a:cubicBezTo>
                <a:cubicBezTo>
                  <a:pt x="121596" y="32466"/>
                  <a:pt x="118343" y="29213"/>
                  <a:pt x="114300" y="29213"/>
                </a:cubicBezTo>
                <a:lnTo>
                  <a:pt x="104968" y="29213"/>
                </a:lnTo>
                <a:cubicBezTo>
                  <a:pt x="101806" y="12889"/>
                  <a:pt x="95270" y="-4833"/>
                  <a:pt x="84205" y="-4833"/>
                </a:cubicBezTo>
                <a:cubicBezTo>
                  <a:pt x="81287" y="-4833"/>
                  <a:pt x="78429" y="-3648"/>
                  <a:pt x="75845" y="-2341"/>
                </a:cubicBezTo>
                <a:cubicBezTo>
                  <a:pt x="73353" y="-1094"/>
                  <a:pt x="70252" y="30"/>
                  <a:pt x="68094" y="30"/>
                </a:cubicBezTo>
                <a:cubicBezTo>
                  <a:pt x="65935" y="30"/>
                  <a:pt x="62835" y="-1094"/>
                  <a:pt x="60342" y="-2341"/>
                </a:cubicBezTo>
                <a:cubicBezTo>
                  <a:pt x="57758" y="-3678"/>
                  <a:pt x="54900" y="-4864"/>
                  <a:pt x="51982" y="-4864"/>
                </a:cubicBezTo>
                <a:close/>
                <a:moveTo>
                  <a:pt x="80466" y="142389"/>
                </a:moveTo>
                <a:lnTo>
                  <a:pt x="72927" y="120836"/>
                </a:lnTo>
                <a:lnTo>
                  <a:pt x="81408" y="110956"/>
                </a:lnTo>
                <a:cubicBezTo>
                  <a:pt x="82229" y="109983"/>
                  <a:pt x="82685" y="108767"/>
                  <a:pt x="82685" y="107491"/>
                </a:cubicBezTo>
                <a:cubicBezTo>
                  <a:pt x="82685" y="104542"/>
                  <a:pt x="80314" y="102171"/>
                  <a:pt x="77365" y="102171"/>
                </a:cubicBezTo>
                <a:lnTo>
                  <a:pt x="58822" y="102171"/>
                </a:lnTo>
                <a:cubicBezTo>
                  <a:pt x="55873" y="102171"/>
                  <a:pt x="53502" y="104542"/>
                  <a:pt x="53502" y="107491"/>
                </a:cubicBezTo>
                <a:cubicBezTo>
                  <a:pt x="53502" y="108767"/>
                  <a:pt x="53958" y="109983"/>
                  <a:pt x="54779" y="110956"/>
                </a:cubicBezTo>
                <a:lnTo>
                  <a:pt x="63260" y="120836"/>
                </a:lnTo>
                <a:lnTo>
                  <a:pt x="55721" y="142389"/>
                </a:lnTo>
                <a:lnTo>
                  <a:pt x="38394" y="87549"/>
                </a:lnTo>
                <a:lnTo>
                  <a:pt x="49246" y="87549"/>
                </a:lnTo>
                <a:cubicBezTo>
                  <a:pt x="54840" y="90650"/>
                  <a:pt x="61254" y="92413"/>
                  <a:pt x="68094" y="92413"/>
                </a:cubicBezTo>
                <a:cubicBezTo>
                  <a:pt x="74933" y="92413"/>
                  <a:pt x="81348" y="90650"/>
                  <a:pt x="86941" y="87549"/>
                </a:cubicBezTo>
                <a:lnTo>
                  <a:pt x="97793" y="87549"/>
                </a:lnTo>
                <a:lnTo>
                  <a:pt x="80466" y="142389"/>
                </a:lnTo>
                <a:close/>
                <a:moveTo>
                  <a:pt x="68094" y="77821"/>
                </a:moveTo>
                <a:cubicBezTo>
                  <a:pt x="57545" y="77821"/>
                  <a:pt x="48578" y="71103"/>
                  <a:pt x="45203" y="61710"/>
                </a:cubicBezTo>
                <a:cubicBezTo>
                  <a:pt x="46936" y="62683"/>
                  <a:pt x="48942" y="63230"/>
                  <a:pt x="51070" y="63230"/>
                </a:cubicBezTo>
                <a:lnTo>
                  <a:pt x="54840" y="63230"/>
                </a:lnTo>
                <a:cubicBezTo>
                  <a:pt x="59856" y="63230"/>
                  <a:pt x="64294" y="60008"/>
                  <a:pt x="65874" y="55265"/>
                </a:cubicBezTo>
                <a:cubicBezTo>
                  <a:pt x="66574" y="53137"/>
                  <a:pt x="69583" y="53137"/>
                  <a:pt x="70282" y="55265"/>
                </a:cubicBezTo>
                <a:cubicBezTo>
                  <a:pt x="71863" y="60008"/>
                  <a:pt x="76332" y="63230"/>
                  <a:pt x="81317" y="63230"/>
                </a:cubicBezTo>
                <a:lnTo>
                  <a:pt x="85087" y="63230"/>
                </a:lnTo>
                <a:cubicBezTo>
                  <a:pt x="87215" y="63230"/>
                  <a:pt x="89221" y="62683"/>
                  <a:pt x="90954" y="61710"/>
                </a:cubicBezTo>
                <a:cubicBezTo>
                  <a:pt x="87579" y="71103"/>
                  <a:pt x="78612" y="77821"/>
                  <a:pt x="68063" y="77821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4" name="Text 11"/>
          <p:cNvSpPr/>
          <p:nvPr/>
        </p:nvSpPr>
        <p:spPr>
          <a:xfrm>
            <a:off x="4592176" y="1694774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账户盗用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28448" y="1971472"/>
            <a:ext cx="34673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检测异常登录、盗用行为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18809" y="2386519"/>
            <a:ext cx="3605719" cy="691745"/>
          </a:xfrm>
          <a:custGeom>
            <a:avLst/>
            <a:gdLst/>
            <a:ahLst/>
            <a:cxnLst/>
            <a:rect l="l" t="t" r="r" b="b"/>
            <a:pathLst>
              <a:path w="3605719" h="691745">
                <a:moveTo>
                  <a:pt x="69174" y="0"/>
                </a:moveTo>
                <a:lnTo>
                  <a:pt x="3536545" y="0"/>
                </a:lnTo>
                <a:cubicBezTo>
                  <a:pt x="3574749" y="0"/>
                  <a:pt x="3605719" y="30970"/>
                  <a:pt x="3605719" y="69174"/>
                </a:cubicBezTo>
                <a:lnTo>
                  <a:pt x="3605719" y="622570"/>
                </a:lnTo>
                <a:cubicBezTo>
                  <a:pt x="3605719" y="660774"/>
                  <a:pt x="3574749" y="691745"/>
                  <a:pt x="3536545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644187" y="2516221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0" y="38911"/>
                </a:moveTo>
                <a:lnTo>
                  <a:pt x="0" y="48638"/>
                </a:lnTo>
                <a:lnTo>
                  <a:pt x="155643" y="48638"/>
                </a:lnTo>
                <a:lnTo>
                  <a:pt x="155643" y="38911"/>
                </a:lnTo>
                <a:cubicBezTo>
                  <a:pt x="155643" y="28180"/>
                  <a:pt x="146918" y="19455"/>
                  <a:pt x="136187" y="19455"/>
                </a:cubicBezTo>
                <a:lnTo>
                  <a:pt x="19455" y="19455"/>
                </a:lnTo>
                <a:cubicBezTo>
                  <a:pt x="8724" y="19455"/>
                  <a:pt x="0" y="28180"/>
                  <a:pt x="0" y="38911"/>
                </a:cubicBezTo>
                <a:close/>
                <a:moveTo>
                  <a:pt x="0" y="63230"/>
                </a:moveTo>
                <a:lnTo>
                  <a:pt x="0" y="116732"/>
                </a:lnTo>
                <a:cubicBezTo>
                  <a:pt x="0" y="127463"/>
                  <a:pt x="8724" y="136187"/>
                  <a:pt x="19455" y="136187"/>
                </a:cubicBezTo>
                <a:lnTo>
                  <a:pt x="136187" y="136187"/>
                </a:lnTo>
                <a:cubicBezTo>
                  <a:pt x="146918" y="136187"/>
                  <a:pt x="155643" y="127463"/>
                  <a:pt x="155643" y="116732"/>
                </a:cubicBezTo>
                <a:lnTo>
                  <a:pt x="155643" y="63230"/>
                </a:lnTo>
                <a:lnTo>
                  <a:pt x="0" y="63230"/>
                </a:lnTo>
                <a:close/>
                <a:moveTo>
                  <a:pt x="19455" y="109436"/>
                </a:moveTo>
                <a:cubicBezTo>
                  <a:pt x="19455" y="105393"/>
                  <a:pt x="22708" y="102140"/>
                  <a:pt x="26751" y="102140"/>
                </a:cubicBezTo>
                <a:lnTo>
                  <a:pt x="41343" y="102140"/>
                </a:lnTo>
                <a:cubicBezTo>
                  <a:pt x="45386" y="102140"/>
                  <a:pt x="48638" y="105393"/>
                  <a:pt x="48638" y="109436"/>
                </a:cubicBezTo>
                <a:cubicBezTo>
                  <a:pt x="48638" y="113479"/>
                  <a:pt x="45386" y="116732"/>
                  <a:pt x="41343" y="116732"/>
                </a:cubicBezTo>
                <a:lnTo>
                  <a:pt x="26751" y="116732"/>
                </a:lnTo>
                <a:cubicBezTo>
                  <a:pt x="22708" y="116732"/>
                  <a:pt x="19455" y="113479"/>
                  <a:pt x="19455" y="109436"/>
                </a:cubicBezTo>
                <a:close/>
                <a:moveTo>
                  <a:pt x="63230" y="109436"/>
                </a:moveTo>
                <a:cubicBezTo>
                  <a:pt x="63230" y="105393"/>
                  <a:pt x="66482" y="102140"/>
                  <a:pt x="70526" y="102140"/>
                </a:cubicBezTo>
                <a:lnTo>
                  <a:pt x="89981" y="102140"/>
                </a:lnTo>
                <a:cubicBezTo>
                  <a:pt x="94024" y="102140"/>
                  <a:pt x="97277" y="105393"/>
                  <a:pt x="97277" y="109436"/>
                </a:cubicBezTo>
                <a:cubicBezTo>
                  <a:pt x="97277" y="113479"/>
                  <a:pt x="94024" y="116732"/>
                  <a:pt x="89981" y="116732"/>
                </a:cubicBezTo>
                <a:lnTo>
                  <a:pt x="70526" y="116732"/>
                </a:lnTo>
                <a:cubicBezTo>
                  <a:pt x="66482" y="116732"/>
                  <a:pt x="63230" y="113479"/>
                  <a:pt x="63230" y="109436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8" name="Text 15"/>
          <p:cNvSpPr/>
          <p:nvPr/>
        </p:nvSpPr>
        <p:spPr>
          <a:xfrm>
            <a:off x="886298" y="2490281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欺诈交易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2570" y="2766979"/>
            <a:ext cx="34673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识别信用卡盗刷、欺诈行为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24687" y="2386519"/>
            <a:ext cx="3605719" cy="691745"/>
          </a:xfrm>
          <a:custGeom>
            <a:avLst/>
            <a:gdLst/>
            <a:ahLst/>
            <a:cxnLst/>
            <a:rect l="l" t="t" r="r" b="b"/>
            <a:pathLst>
              <a:path w="3605719" h="691745">
                <a:moveTo>
                  <a:pt x="69174" y="0"/>
                </a:moveTo>
                <a:lnTo>
                  <a:pt x="3536545" y="0"/>
                </a:lnTo>
                <a:cubicBezTo>
                  <a:pt x="3574749" y="0"/>
                  <a:pt x="3605719" y="30970"/>
                  <a:pt x="3605719" y="69174"/>
                </a:cubicBezTo>
                <a:lnTo>
                  <a:pt x="3605719" y="622570"/>
                </a:lnTo>
                <a:cubicBezTo>
                  <a:pt x="3605719" y="660774"/>
                  <a:pt x="3574749" y="691745"/>
                  <a:pt x="3536545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350065" y="2516221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77821" y="19455"/>
                </a:moveTo>
                <a:cubicBezTo>
                  <a:pt x="60555" y="19455"/>
                  <a:pt x="45021" y="26964"/>
                  <a:pt x="34320" y="38911"/>
                </a:cubicBezTo>
                <a:lnTo>
                  <a:pt x="48638" y="38911"/>
                </a:lnTo>
                <a:cubicBezTo>
                  <a:pt x="54019" y="38911"/>
                  <a:pt x="58366" y="43258"/>
                  <a:pt x="58366" y="48638"/>
                </a:cubicBezTo>
                <a:cubicBezTo>
                  <a:pt x="58366" y="54019"/>
                  <a:pt x="54019" y="58366"/>
                  <a:pt x="48638" y="58366"/>
                </a:cubicBezTo>
                <a:lnTo>
                  <a:pt x="9728" y="58366"/>
                </a:lnTo>
                <a:cubicBezTo>
                  <a:pt x="4347" y="58366"/>
                  <a:pt x="0" y="54019"/>
                  <a:pt x="0" y="48638"/>
                </a:cubicBezTo>
                <a:lnTo>
                  <a:pt x="0" y="9728"/>
                </a:lnTo>
                <a:cubicBezTo>
                  <a:pt x="0" y="4347"/>
                  <a:pt x="4347" y="0"/>
                  <a:pt x="9728" y="0"/>
                </a:cubicBezTo>
                <a:cubicBezTo>
                  <a:pt x="15108" y="0"/>
                  <a:pt x="19455" y="4347"/>
                  <a:pt x="19455" y="9728"/>
                </a:cubicBezTo>
                <a:lnTo>
                  <a:pt x="19455" y="26356"/>
                </a:lnTo>
                <a:cubicBezTo>
                  <a:pt x="33712" y="10214"/>
                  <a:pt x="54566" y="0"/>
                  <a:pt x="77821" y="0"/>
                </a:cubicBezTo>
                <a:cubicBezTo>
                  <a:pt x="120805" y="0"/>
                  <a:pt x="155643" y="34837"/>
                  <a:pt x="155643" y="77821"/>
                </a:cubicBezTo>
                <a:cubicBezTo>
                  <a:pt x="155643" y="120805"/>
                  <a:pt x="120805" y="155643"/>
                  <a:pt x="77821" y="155643"/>
                </a:cubicBezTo>
                <a:cubicBezTo>
                  <a:pt x="51374" y="155643"/>
                  <a:pt x="27997" y="142449"/>
                  <a:pt x="13953" y="122295"/>
                </a:cubicBezTo>
                <a:cubicBezTo>
                  <a:pt x="10883" y="117887"/>
                  <a:pt x="11947" y="111838"/>
                  <a:pt x="16355" y="108737"/>
                </a:cubicBezTo>
                <a:cubicBezTo>
                  <a:pt x="20762" y="105636"/>
                  <a:pt x="26812" y="106731"/>
                  <a:pt x="29913" y="111139"/>
                </a:cubicBezTo>
                <a:cubicBezTo>
                  <a:pt x="40491" y="126277"/>
                  <a:pt x="58001" y="136157"/>
                  <a:pt x="77821" y="136157"/>
                </a:cubicBezTo>
                <a:cubicBezTo>
                  <a:pt x="110044" y="136157"/>
                  <a:pt x="136187" y="110014"/>
                  <a:pt x="136187" y="77791"/>
                </a:cubicBezTo>
                <a:cubicBezTo>
                  <a:pt x="136187" y="45568"/>
                  <a:pt x="110044" y="19455"/>
                  <a:pt x="77821" y="19455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2" name="Text 19"/>
          <p:cNvSpPr/>
          <p:nvPr/>
        </p:nvSpPr>
        <p:spPr>
          <a:xfrm>
            <a:off x="4592176" y="2490281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恶意退货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328448" y="2766979"/>
            <a:ext cx="34673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检测异常退货、退款行为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63166" y="3320374"/>
            <a:ext cx="3744068" cy="1660187"/>
          </a:xfrm>
          <a:custGeom>
            <a:avLst/>
            <a:gdLst/>
            <a:ahLst/>
            <a:cxnLst/>
            <a:rect l="l" t="t" r="r" b="b"/>
            <a:pathLst>
              <a:path w="3744068" h="1660187">
                <a:moveTo>
                  <a:pt x="34587" y="0"/>
                </a:moveTo>
                <a:lnTo>
                  <a:pt x="3640306" y="0"/>
                </a:lnTo>
                <a:cubicBezTo>
                  <a:pt x="3697612" y="0"/>
                  <a:pt x="3744068" y="46456"/>
                  <a:pt x="3744068" y="103762"/>
                </a:cubicBezTo>
                <a:lnTo>
                  <a:pt x="3744068" y="1556426"/>
                </a:lnTo>
                <a:cubicBezTo>
                  <a:pt x="3744068" y="1613732"/>
                  <a:pt x="3697612" y="1660187"/>
                  <a:pt x="3640306" y="1660187"/>
                </a:cubicBezTo>
                <a:lnTo>
                  <a:pt x="34587" y="1660187"/>
                </a:lnTo>
                <a:cubicBezTo>
                  <a:pt x="15485" y="1660187"/>
                  <a:pt x="0" y="1644702"/>
                  <a:pt x="0" y="1625600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3166" y="3320374"/>
            <a:ext cx="34587" cy="1660187"/>
          </a:xfrm>
          <a:custGeom>
            <a:avLst/>
            <a:gdLst/>
            <a:ahLst/>
            <a:cxnLst/>
            <a:rect l="l" t="t" r="r" b="b"/>
            <a:pathLst>
              <a:path w="34587" h="1660187">
                <a:moveTo>
                  <a:pt x="34587" y="0"/>
                </a:moveTo>
                <a:lnTo>
                  <a:pt x="34587" y="0"/>
                </a:lnTo>
                <a:lnTo>
                  <a:pt x="34587" y="1660187"/>
                </a:lnTo>
                <a:lnTo>
                  <a:pt x="34587" y="1660187"/>
                </a:lnTo>
                <a:cubicBezTo>
                  <a:pt x="15485" y="1660187"/>
                  <a:pt x="0" y="1644702"/>
                  <a:pt x="0" y="1625600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6" name="Text 23"/>
          <p:cNvSpPr/>
          <p:nvPr/>
        </p:nvSpPr>
        <p:spPr>
          <a:xfrm>
            <a:off x="518809" y="3458723"/>
            <a:ext cx="3536545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4749" y="3839183"/>
            <a:ext cx="121055" cy="138349"/>
          </a:xfrm>
          <a:custGeom>
            <a:avLst/>
            <a:gdLst/>
            <a:ahLst/>
            <a:cxnLst/>
            <a:rect l="l" t="t" r="r" b="b"/>
            <a:pathLst>
              <a:path w="121055" h="138349">
                <a:moveTo>
                  <a:pt x="121055" y="55610"/>
                </a:moveTo>
                <a:cubicBezTo>
                  <a:pt x="117056" y="58258"/>
                  <a:pt x="112463" y="60393"/>
                  <a:pt x="107680" y="62095"/>
                </a:cubicBezTo>
                <a:cubicBezTo>
                  <a:pt x="94980" y="66634"/>
                  <a:pt x="78308" y="69174"/>
                  <a:pt x="60528" y="69174"/>
                </a:cubicBezTo>
                <a:cubicBezTo>
                  <a:pt x="42748" y="69174"/>
                  <a:pt x="26049" y="66607"/>
                  <a:pt x="13376" y="62095"/>
                </a:cubicBezTo>
                <a:cubicBezTo>
                  <a:pt x="8620" y="60393"/>
                  <a:pt x="3999" y="58258"/>
                  <a:pt x="0" y="55610"/>
                </a:cubicBezTo>
                <a:lnTo>
                  <a:pt x="0" y="77821"/>
                </a:lnTo>
                <a:cubicBezTo>
                  <a:pt x="0" y="89765"/>
                  <a:pt x="27102" y="99438"/>
                  <a:pt x="60528" y="99438"/>
                </a:cubicBezTo>
                <a:cubicBezTo>
                  <a:pt x="93953" y="99438"/>
                  <a:pt x="121055" y="89765"/>
                  <a:pt x="121055" y="77821"/>
                </a:cubicBezTo>
                <a:lnTo>
                  <a:pt x="121055" y="55610"/>
                </a:lnTo>
                <a:close/>
                <a:moveTo>
                  <a:pt x="121055" y="34587"/>
                </a:moveTo>
                <a:lnTo>
                  <a:pt x="121055" y="21617"/>
                </a:lnTo>
                <a:cubicBezTo>
                  <a:pt x="121055" y="9674"/>
                  <a:pt x="93953" y="0"/>
                  <a:pt x="60528" y="0"/>
                </a:cubicBezTo>
                <a:cubicBezTo>
                  <a:pt x="27102" y="0"/>
                  <a:pt x="0" y="9674"/>
                  <a:pt x="0" y="21617"/>
                </a:cubicBezTo>
                <a:lnTo>
                  <a:pt x="0" y="34587"/>
                </a:lnTo>
                <a:cubicBezTo>
                  <a:pt x="0" y="46531"/>
                  <a:pt x="27102" y="56204"/>
                  <a:pt x="60528" y="56204"/>
                </a:cubicBezTo>
                <a:cubicBezTo>
                  <a:pt x="93953" y="56204"/>
                  <a:pt x="121055" y="46531"/>
                  <a:pt x="121055" y="34587"/>
                </a:cubicBezTo>
                <a:close/>
                <a:moveTo>
                  <a:pt x="107680" y="105329"/>
                </a:moveTo>
                <a:cubicBezTo>
                  <a:pt x="95007" y="109841"/>
                  <a:pt x="78335" y="112409"/>
                  <a:pt x="60528" y="112409"/>
                </a:cubicBezTo>
                <a:cubicBezTo>
                  <a:pt x="42721" y="112409"/>
                  <a:pt x="26049" y="109841"/>
                  <a:pt x="13376" y="105329"/>
                </a:cubicBezTo>
                <a:cubicBezTo>
                  <a:pt x="8620" y="103627"/>
                  <a:pt x="3999" y="101492"/>
                  <a:pt x="0" y="98844"/>
                </a:cubicBezTo>
                <a:lnTo>
                  <a:pt x="0" y="116732"/>
                </a:lnTo>
                <a:cubicBezTo>
                  <a:pt x="0" y="128675"/>
                  <a:pt x="27102" y="138349"/>
                  <a:pt x="60528" y="138349"/>
                </a:cubicBezTo>
                <a:cubicBezTo>
                  <a:pt x="93953" y="138349"/>
                  <a:pt x="121055" y="128675"/>
                  <a:pt x="121055" y="116732"/>
                </a:cubicBezTo>
                <a:lnTo>
                  <a:pt x="121055" y="98844"/>
                </a:lnTo>
                <a:cubicBezTo>
                  <a:pt x="117056" y="101492"/>
                  <a:pt x="112463" y="103627"/>
                  <a:pt x="107680" y="10532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8" name="Text 25"/>
          <p:cNvSpPr/>
          <p:nvPr/>
        </p:nvSpPr>
        <p:spPr>
          <a:xfrm>
            <a:off x="760919" y="3804596"/>
            <a:ext cx="899268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用户行为日志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53396" y="4115881"/>
            <a:ext cx="103762" cy="138349"/>
          </a:xfrm>
          <a:custGeom>
            <a:avLst/>
            <a:gdLst/>
            <a:ahLst/>
            <a:cxnLst/>
            <a:rect l="l" t="t" r="r" b="b"/>
            <a:pathLst>
              <a:path w="103762" h="138349">
                <a:moveTo>
                  <a:pt x="17294" y="0"/>
                </a:moveTo>
                <a:cubicBezTo>
                  <a:pt x="7755" y="0"/>
                  <a:pt x="0" y="7755"/>
                  <a:pt x="0" y="17294"/>
                </a:cubicBezTo>
                <a:lnTo>
                  <a:pt x="0" y="121055"/>
                </a:lnTo>
                <a:cubicBezTo>
                  <a:pt x="0" y="130594"/>
                  <a:pt x="7755" y="138349"/>
                  <a:pt x="17294" y="138349"/>
                </a:cubicBezTo>
                <a:lnTo>
                  <a:pt x="86468" y="138349"/>
                </a:lnTo>
                <a:cubicBezTo>
                  <a:pt x="96007" y="138349"/>
                  <a:pt x="103762" y="130594"/>
                  <a:pt x="103762" y="121055"/>
                </a:cubicBezTo>
                <a:lnTo>
                  <a:pt x="103762" y="46071"/>
                </a:lnTo>
                <a:cubicBezTo>
                  <a:pt x="103762" y="41478"/>
                  <a:pt x="101951" y="37073"/>
                  <a:pt x="98709" y="33831"/>
                </a:cubicBezTo>
                <a:lnTo>
                  <a:pt x="69904" y="5053"/>
                </a:lnTo>
                <a:cubicBezTo>
                  <a:pt x="66661" y="1810"/>
                  <a:pt x="62284" y="0"/>
                  <a:pt x="57690" y="0"/>
                </a:cubicBezTo>
                <a:lnTo>
                  <a:pt x="17294" y="0"/>
                </a:lnTo>
                <a:close/>
                <a:moveTo>
                  <a:pt x="87954" y="47557"/>
                </a:moveTo>
                <a:lnTo>
                  <a:pt x="62689" y="47557"/>
                </a:lnTo>
                <a:cubicBezTo>
                  <a:pt x="59096" y="47557"/>
                  <a:pt x="56204" y="44666"/>
                  <a:pt x="56204" y="41072"/>
                </a:cubicBezTo>
                <a:lnTo>
                  <a:pt x="56204" y="15807"/>
                </a:lnTo>
                <a:lnTo>
                  <a:pt x="87954" y="47557"/>
                </a:lnTo>
                <a:close/>
                <a:moveTo>
                  <a:pt x="17294" y="103762"/>
                </a:moveTo>
                <a:lnTo>
                  <a:pt x="17294" y="86468"/>
                </a:lnTo>
                <a:cubicBezTo>
                  <a:pt x="17294" y="81685"/>
                  <a:pt x="21158" y="77821"/>
                  <a:pt x="25940" y="77821"/>
                </a:cubicBezTo>
                <a:lnTo>
                  <a:pt x="77821" y="77821"/>
                </a:lnTo>
                <a:cubicBezTo>
                  <a:pt x="82604" y="77821"/>
                  <a:pt x="86468" y="81685"/>
                  <a:pt x="86468" y="86468"/>
                </a:cubicBezTo>
                <a:lnTo>
                  <a:pt x="86468" y="103762"/>
                </a:lnTo>
                <a:cubicBezTo>
                  <a:pt x="86468" y="108544"/>
                  <a:pt x="82604" y="112409"/>
                  <a:pt x="77821" y="112409"/>
                </a:cubicBezTo>
                <a:lnTo>
                  <a:pt x="25940" y="112409"/>
                </a:lnTo>
                <a:cubicBezTo>
                  <a:pt x="21158" y="112409"/>
                  <a:pt x="17294" y="108544"/>
                  <a:pt x="17294" y="103762"/>
                </a:cubicBezTo>
                <a:close/>
                <a:moveTo>
                  <a:pt x="23779" y="17294"/>
                </a:moveTo>
                <a:lnTo>
                  <a:pt x="36749" y="17294"/>
                </a:lnTo>
                <a:cubicBezTo>
                  <a:pt x="40343" y="17294"/>
                  <a:pt x="43234" y="20185"/>
                  <a:pt x="43234" y="23779"/>
                </a:cubicBezTo>
                <a:cubicBezTo>
                  <a:pt x="43234" y="27373"/>
                  <a:pt x="40343" y="30264"/>
                  <a:pt x="36749" y="30264"/>
                </a:cubicBezTo>
                <a:lnTo>
                  <a:pt x="23779" y="30264"/>
                </a:lnTo>
                <a:cubicBezTo>
                  <a:pt x="20185" y="30264"/>
                  <a:pt x="17294" y="27373"/>
                  <a:pt x="17294" y="23779"/>
                </a:cubicBezTo>
                <a:cubicBezTo>
                  <a:pt x="17294" y="20185"/>
                  <a:pt x="20185" y="17294"/>
                  <a:pt x="23779" y="17294"/>
                </a:cubicBezTo>
                <a:close/>
                <a:moveTo>
                  <a:pt x="23779" y="43234"/>
                </a:moveTo>
                <a:lnTo>
                  <a:pt x="36749" y="43234"/>
                </a:lnTo>
                <a:cubicBezTo>
                  <a:pt x="40343" y="43234"/>
                  <a:pt x="43234" y="46125"/>
                  <a:pt x="43234" y="49719"/>
                </a:cubicBezTo>
                <a:cubicBezTo>
                  <a:pt x="43234" y="53313"/>
                  <a:pt x="40343" y="56204"/>
                  <a:pt x="36749" y="56204"/>
                </a:cubicBezTo>
                <a:lnTo>
                  <a:pt x="23779" y="56204"/>
                </a:lnTo>
                <a:cubicBezTo>
                  <a:pt x="20185" y="56204"/>
                  <a:pt x="17294" y="53313"/>
                  <a:pt x="17294" y="49719"/>
                </a:cubicBezTo>
                <a:cubicBezTo>
                  <a:pt x="17294" y="46125"/>
                  <a:pt x="20185" y="43234"/>
                  <a:pt x="23779" y="43234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30" name="Text 27"/>
          <p:cNvSpPr/>
          <p:nvPr/>
        </p:nvSpPr>
        <p:spPr>
          <a:xfrm>
            <a:off x="760919" y="4081294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交易记录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3396" y="4392579"/>
            <a:ext cx="103762" cy="138349"/>
          </a:xfrm>
          <a:custGeom>
            <a:avLst/>
            <a:gdLst/>
            <a:ahLst/>
            <a:cxnLst/>
            <a:rect l="l" t="t" r="r" b="b"/>
            <a:pathLst>
              <a:path w="103762" h="138349">
                <a:moveTo>
                  <a:pt x="4323" y="17294"/>
                </a:moveTo>
                <a:cubicBezTo>
                  <a:pt x="4323" y="7755"/>
                  <a:pt x="12079" y="0"/>
                  <a:pt x="21617" y="0"/>
                </a:cubicBezTo>
                <a:lnTo>
                  <a:pt x="82145" y="0"/>
                </a:lnTo>
                <a:cubicBezTo>
                  <a:pt x="91683" y="0"/>
                  <a:pt x="99438" y="7755"/>
                  <a:pt x="99438" y="17294"/>
                </a:cubicBezTo>
                <a:lnTo>
                  <a:pt x="99438" y="121055"/>
                </a:lnTo>
                <a:cubicBezTo>
                  <a:pt x="99438" y="130594"/>
                  <a:pt x="91683" y="138349"/>
                  <a:pt x="82145" y="138349"/>
                </a:cubicBezTo>
                <a:lnTo>
                  <a:pt x="21617" y="138349"/>
                </a:lnTo>
                <a:cubicBezTo>
                  <a:pt x="12079" y="138349"/>
                  <a:pt x="4323" y="130594"/>
                  <a:pt x="4323" y="121055"/>
                </a:cubicBezTo>
                <a:lnTo>
                  <a:pt x="4323" y="17294"/>
                </a:lnTo>
                <a:close/>
                <a:moveTo>
                  <a:pt x="21617" y="17294"/>
                </a:moveTo>
                <a:lnTo>
                  <a:pt x="21617" y="99438"/>
                </a:lnTo>
                <a:lnTo>
                  <a:pt x="82145" y="99438"/>
                </a:lnTo>
                <a:lnTo>
                  <a:pt x="82145" y="17294"/>
                </a:lnTo>
                <a:lnTo>
                  <a:pt x="21617" y="17294"/>
                </a:lnTo>
                <a:close/>
                <a:moveTo>
                  <a:pt x="51881" y="127540"/>
                </a:moveTo>
                <a:cubicBezTo>
                  <a:pt x="56664" y="127540"/>
                  <a:pt x="60528" y="123676"/>
                  <a:pt x="60528" y="118894"/>
                </a:cubicBezTo>
                <a:cubicBezTo>
                  <a:pt x="60528" y="114111"/>
                  <a:pt x="56664" y="110247"/>
                  <a:pt x="51881" y="110247"/>
                </a:cubicBezTo>
                <a:cubicBezTo>
                  <a:pt x="47098" y="110247"/>
                  <a:pt x="43234" y="114111"/>
                  <a:pt x="43234" y="118894"/>
                </a:cubicBezTo>
                <a:cubicBezTo>
                  <a:pt x="43234" y="123676"/>
                  <a:pt x="47098" y="127540"/>
                  <a:pt x="51881" y="12754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2" name="Text 29"/>
          <p:cNvSpPr/>
          <p:nvPr/>
        </p:nvSpPr>
        <p:spPr>
          <a:xfrm>
            <a:off x="760919" y="4357991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设备信息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53396" y="4669277"/>
            <a:ext cx="103762" cy="138349"/>
          </a:xfrm>
          <a:custGeom>
            <a:avLst/>
            <a:gdLst/>
            <a:ahLst/>
            <a:cxnLst/>
            <a:rect l="l" t="t" r="r" b="b"/>
            <a:pathLst>
              <a:path w="103762" h="138349">
                <a:moveTo>
                  <a:pt x="0" y="50962"/>
                </a:moveTo>
                <a:cubicBezTo>
                  <a:pt x="0" y="22806"/>
                  <a:pt x="23238" y="0"/>
                  <a:pt x="51881" y="0"/>
                </a:cubicBezTo>
                <a:cubicBezTo>
                  <a:pt x="80523" y="0"/>
                  <a:pt x="103762" y="22806"/>
                  <a:pt x="103762" y="50962"/>
                </a:cubicBezTo>
                <a:cubicBezTo>
                  <a:pt x="103762" y="83199"/>
                  <a:pt x="71282" y="121839"/>
                  <a:pt x="57717" y="136566"/>
                </a:cubicBezTo>
                <a:cubicBezTo>
                  <a:pt x="54529" y="140024"/>
                  <a:pt x="49206" y="140024"/>
                  <a:pt x="46017" y="136566"/>
                </a:cubicBezTo>
                <a:cubicBezTo>
                  <a:pt x="32453" y="121839"/>
                  <a:pt x="-27" y="83199"/>
                  <a:pt x="-27" y="50962"/>
                </a:cubicBezTo>
                <a:close/>
                <a:moveTo>
                  <a:pt x="51881" y="69174"/>
                </a:moveTo>
                <a:cubicBezTo>
                  <a:pt x="61425" y="69174"/>
                  <a:pt x="69174" y="61425"/>
                  <a:pt x="69174" y="51881"/>
                </a:cubicBezTo>
                <a:cubicBezTo>
                  <a:pt x="69174" y="42336"/>
                  <a:pt x="61425" y="34587"/>
                  <a:pt x="51881" y="34587"/>
                </a:cubicBezTo>
                <a:cubicBezTo>
                  <a:pt x="42336" y="34587"/>
                  <a:pt x="34587" y="42336"/>
                  <a:pt x="34587" y="51881"/>
                </a:cubicBezTo>
                <a:cubicBezTo>
                  <a:pt x="34587" y="61425"/>
                  <a:pt x="42336" y="69174"/>
                  <a:pt x="51881" y="69174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4" name="Text 31"/>
          <p:cNvSpPr/>
          <p:nvPr/>
        </p:nvSpPr>
        <p:spPr>
          <a:xfrm>
            <a:off x="760919" y="4634689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地理位置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224687" y="3320374"/>
            <a:ext cx="3744068" cy="1660187"/>
          </a:xfrm>
          <a:custGeom>
            <a:avLst/>
            <a:gdLst/>
            <a:ahLst/>
            <a:cxnLst/>
            <a:rect l="l" t="t" r="r" b="b"/>
            <a:pathLst>
              <a:path w="3744068" h="1660187">
                <a:moveTo>
                  <a:pt x="34587" y="0"/>
                </a:moveTo>
                <a:lnTo>
                  <a:pt x="3640306" y="0"/>
                </a:lnTo>
                <a:cubicBezTo>
                  <a:pt x="3697612" y="0"/>
                  <a:pt x="3744068" y="46456"/>
                  <a:pt x="3744068" y="103762"/>
                </a:cubicBezTo>
                <a:lnTo>
                  <a:pt x="3744068" y="1556426"/>
                </a:lnTo>
                <a:cubicBezTo>
                  <a:pt x="3744068" y="1613732"/>
                  <a:pt x="3697612" y="1660187"/>
                  <a:pt x="3640306" y="1660187"/>
                </a:cubicBezTo>
                <a:lnTo>
                  <a:pt x="34587" y="1660187"/>
                </a:lnTo>
                <a:cubicBezTo>
                  <a:pt x="15485" y="1660187"/>
                  <a:pt x="0" y="1644702"/>
                  <a:pt x="0" y="1625600"/>
                </a:cubicBezTo>
                <a:lnTo>
                  <a:pt x="0" y="34587"/>
                </a:lnTo>
                <a:cubicBezTo>
                  <a:pt x="0" y="15485"/>
                  <a:pt x="15485" y="0"/>
                  <a:pt x="3458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224687" y="3320374"/>
            <a:ext cx="34587" cy="1660187"/>
          </a:xfrm>
          <a:custGeom>
            <a:avLst/>
            <a:gdLst/>
            <a:ahLst/>
            <a:cxnLst/>
            <a:rect l="l" t="t" r="r" b="b"/>
            <a:pathLst>
              <a:path w="34587" h="1660187">
                <a:moveTo>
                  <a:pt x="34587" y="0"/>
                </a:moveTo>
                <a:lnTo>
                  <a:pt x="34587" y="0"/>
                </a:lnTo>
                <a:lnTo>
                  <a:pt x="34587" y="1660187"/>
                </a:lnTo>
                <a:lnTo>
                  <a:pt x="34587" y="1660187"/>
                </a:lnTo>
                <a:cubicBezTo>
                  <a:pt x="15485" y="1660187"/>
                  <a:pt x="0" y="1644702"/>
                  <a:pt x="0" y="1625600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7" name="Text 34"/>
          <p:cNvSpPr/>
          <p:nvPr/>
        </p:nvSpPr>
        <p:spPr>
          <a:xfrm>
            <a:off x="4380329" y="3458723"/>
            <a:ext cx="3536545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特征工程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397623" y="3839183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69174" y="0"/>
                </a:moveTo>
                <a:cubicBezTo>
                  <a:pt x="107353" y="0"/>
                  <a:pt x="138349" y="30996"/>
                  <a:pt x="138349" y="69174"/>
                </a:cubicBezTo>
                <a:cubicBezTo>
                  <a:pt x="138349" y="107353"/>
                  <a:pt x="107353" y="138349"/>
                  <a:pt x="69174" y="138349"/>
                </a:cubicBezTo>
                <a:cubicBezTo>
                  <a:pt x="30996" y="138349"/>
                  <a:pt x="0" y="107353"/>
                  <a:pt x="0" y="69174"/>
                </a:cubicBezTo>
                <a:cubicBezTo>
                  <a:pt x="0" y="30996"/>
                  <a:pt x="30996" y="0"/>
                  <a:pt x="69174" y="0"/>
                </a:cubicBezTo>
                <a:close/>
                <a:moveTo>
                  <a:pt x="62689" y="32426"/>
                </a:moveTo>
                <a:lnTo>
                  <a:pt x="62689" y="69174"/>
                </a:lnTo>
                <a:cubicBezTo>
                  <a:pt x="62689" y="71336"/>
                  <a:pt x="63770" y="73363"/>
                  <a:pt x="65581" y="74579"/>
                </a:cubicBezTo>
                <a:lnTo>
                  <a:pt x="91521" y="91872"/>
                </a:lnTo>
                <a:cubicBezTo>
                  <a:pt x="94493" y="93872"/>
                  <a:pt x="98520" y="93061"/>
                  <a:pt x="100519" y="90062"/>
                </a:cubicBezTo>
                <a:cubicBezTo>
                  <a:pt x="102519" y="87063"/>
                  <a:pt x="101708" y="83063"/>
                  <a:pt x="98709" y="81064"/>
                </a:cubicBezTo>
                <a:lnTo>
                  <a:pt x="75660" y="65716"/>
                </a:lnTo>
                <a:lnTo>
                  <a:pt x="75660" y="32426"/>
                </a:lnTo>
                <a:cubicBezTo>
                  <a:pt x="75660" y="28832"/>
                  <a:pt x="72768" y="25940"/>
                  <a:pt x="69174" y="25940"/>
                </a:cubicBezTo>
                <a:cubicBezTo>
                  <a:pt x="65581" y="25940"/>
                  <a:pt x="62689" y="28832"/>
                  <a:pt x="62689" y="32426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9" name="Text 36"/>
          <p:cNvSpPr/>
          <p:nvPr/>
        </p:nvSpPr>
        <p:spPr>
          <a:xfrm>
            <a:off x="4622440" y="3804596"/>
            <a:ext cx="899268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行为序列特征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397623" y="4115881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8647" y="8647"/>
                </a:moveTo>
                <a:cubicBezTo>
                  <a:pt x="13430" y="8647"/>
                  <a:pt x="17294" y="12511"/>
                  <a:pt x="17294" y="17294"/>
                </a:cubicBezTo>
                <a:lnTo>
                  <a:pt x="17294" y="108085"/>
                </a:lnTo>
                <a:cubicBezTo>
                  <a:pt x="17294" y="110463"/>
                  <a:pt x="19239" y="112409"/>
                  <a:pt x="21617" y="112409"/>
                </a:cubicBezTo>
                <a:lnTo>
                  <a:pt x="129702" y="112409"/>
                </a:lnTo>
                <a:cubicBezTo>
                  <a:pt x="134485" y="112409"/>
                  <a:pt x="138349" y="116273"/>
                  <a:pt x="138349" y="121055"/>
                </a:cubicBezTo>
                <a:cubicBezTo>
                  <a:pt x="138349" y="125838"/>
                  <a:pt x="134485" y="129702"/>
                  <a:pt x="129702" y="129702"/>
                </a:cubicBezTo>
                <a:lnTo>
                  <a:pt x="21617" y="129702"/>
                </a:lnTo>
                <a:cubicBezTo>
                  <a:pt x="9674" y="129702"/>
                  <a:pt x="0" y="120029"/>
                  <a:pt x="0" y="108085"/>
                </a:cubicBezTo>
                <a:lnTo>
                  <a:pt x="0" y="17294"/>
                </a:lnTo>
                <a:cubicBezTo>
                  <a:pt x="0" y="12511"/>
                  <a:pt x="3864" y="8647"/>
                  <a:pt x="8647" y="8647"/>
                </a:cubicBezTo>
                <a:close/>
                <a:moveTo>
                  <a:pt x="34587" y="25940"/>
                </a:moveTo>
                <a:cubicBezTo>
                  <a:pt x="34587" y="21158"/>
                  <a:pt x="38451" y="17294"/>
                  <a:pt x="43234" y="17294"/>
                </a:cubicBezTo>
                <a:lnTo>
                  <a:pt x="95115" y="17294"/>
                </a:lnTo>
                <a:cubicBezTo>
                  <a:pt x="99898" y="17294"/>
                  <a:pt x="103762" y="21158"/>
                  <a:pt x="103762" y="25940"/>
                </a:cubicBezTo>
                <a:cubicBezTo>
                  <a:pt x="103762" y="30723"/>
                  <a:pt x="99898" y="34587"/>
                  <a:pt x="95115" y="34587"/>
                </a:cubicBezTo>
                <a:lnTo>
                  <a:pt x="43234" y="34587"/>
                </a:lnTo>
                <a:cubicBezTo>
                  <a:pt x="38451" y="34587"/>
                  <a:pt x="34587" y="30723"/>
                  <a:pt x="34587" y="25940"/>
                </a:cubicBezTo>
                <a:close/>
                <a:moveTo>
                  <a:pt x="43234" y="47557"/>
                </a:moveTo>
                <a:lnTo>
                  <a:pt x="77821" y="47557"/>
                </a:lnTo>
                <a:cubicBezTo>
                  <a:pt x="82604" y="47557"/>
                  <a:pt x="86468" y="51421"/>
                  <a:pt x="86468" y="56204"/>
                </a:cubicBezTo>
                <a:cubicBezTo>
                  <a:pt x="86468" y="60987"/>
                  <a:pt x="82604" y="64851"/>
                  <a:pt x="77821" y="64851"/>
                </a:cubicBezTo>
                <a:lnTo>
                  <a:pt x="43234" y="64851"/>
                </a:lnTo>
                <a:cubicBezTo>
                  <a:pt x="38451" y="64851"/>
                  <a:pt x="34587" y="60987"/>
                  <a:pt x="34587" y="56204"/>
                </a:cubicBezTo>
                <a:cubicBezTo>
                  <a:pt x="34587" y="51421"/>
                  <a:pt x="38451" y="47557"/>
                  <a:pt x="43234" y="47557"/>
                </a:cubicBezTo>
                <a:close/>
                <a:moveTo>
                  <a:pt x="43234" y="77821"/>
                </a:moveTo>
                <a:lnTo>
                  <a:pt x="112409" y="77821"/>
                </a:lnTo>
                <a:cubicBezTo>
                  <a:pt x="117191" y="77821"/>
                  <a:pt x="121055" y="81685"/>
                  <a:pt x="121055" y="86468"/>
                </a:cubicBezTo>
                <a:cubicBezTo>
                  <a:pt x="121055" y="91251"/>
                  <a:pt x="117191" y="95115"/>
                  <a:pt x="112409" y="95115"/>
                </a:cubicBezTo>
                <a:lnTo>
                  <a:pt x="43234" y="95115"/>
                </a:lnTo>
                <a:cubicBezTo>
                  <a:pt x="38451" y="95115"/>
                  <a:pt x="34587" y="91251"/>
                  <a:pt x="34587" y="86468"/>
                </a:cubicBezTo>
                <a:cubicBezTo>
                  <a:pt x="34587" y="81685"/>
                  <a:pt x="38451" y="77821"/>
                  <a:pt x="43234" y="77821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1" name="Text 38"/>
          <p:cNvSpPr/>
          <p:nvPr/>
        </p:nvSpPr>
        <p:spPr>
          <a:xfrm>
            <a:off x="4622440" y="4081294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统计特征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397623" y="4392579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12970" y="69174"/>
                </a:moveTo>
                <a:cubicBezTo>
                  <a:pt x="12970" y="38127"/>
                  <a:pt x="38127" y="12970"/>
                  <a:pt x="69174" y="12970"/>
                </a:cubicBezTo>
                <a:cubicBezTo>
                  <a:pt x="86225" y="12970"/>
                  <a:pt x="101492" y="20563"/>
                  <a:pt x="111814" y="32561"/>
                </a:cubicBezTo>
                <a:cubicBezTo>
                  <a:pt x="114138" y="35290"/>
                  <a:pt x="118245" y="35587"/>
                  <a:pt x="120947" y="33263"/>
                </a:cubicBezTo>
                <a:cubicBezTo>
                  <a:pt x="123649" y="30939"/>
                  <a:pt x="123974" y="26832"/>
                  <a:pt x="121650" y="24130"/>
                </a:cubicBezTo>
                <a:cubicBezTo>
                  <a:pt x="108977" y="9349"/>
                  <a:pt x="90170" y="0"/>
                  <a:pt x="69174" y="0"/>
                </a:cubicBezTo>
                <a:cubicBezTo>
                  <a:pt x="30966" y="0"/>
                  <a:pt x="0" y="30966"/>
                  <a:pt x="0" y="69174"/>
                </a:cubicBezTo>
                <a:lnTo>
                  <a:pt x="0" y="79983"/>
                </a:lnTo>
                <a:cubicBezTo>
                  <a:pt x="0" y="83577"/>
                  <a:pt x="2891" y="86468"/>
                  <a:pt x="6485" y="86468"/>
                </a:cubicBezTo>
                <a:cubicBezTo>
                  <a:pt x="10079" y="86468"/>
                  <a:pt x="12970" y="83577"/>
                  <a:pt x="12970" y="79983"/>
                </a:cubicBezTo>
                <a:lnTo>
                  <a:pt x="12970" y="69174"/>
                </a:lnTo>
                <a:close/>
                <a:moveTo>
                  <a:pt x="136863" y="54880"/>
                </a:moveTo>
                <a:cubicBezTo>
                  <a:pt x="136133" y="51367"/>
                  <a:pt x="132674" y="49125"/>
                  <a:pt x="129189" y="49881"/>
                </a:cubicBezTo>
                <a:cubicBezTo>
                  <a:pt x="125703" y="50638"/>
                  <a:pt x="123433" y="54070"/>
                  <a:pt x="124190" y="57555"/>
                </a:cubicBezTo>
                <a:cubicBezTo>
                  <a:pt x="124973" y="61311"/>
                  <a:pt x="125406" y="65202"/>
                  <a:pt x="125406" y="69201"/>
                </a:cubicBezTo>
                <a:lnTo>
                  <a:pt x="125406" y="80010"/>
                </a:lnTo>
                <a:cubicBezTo>
                  <a:pt x="125406" y="83604"/>
                  <a:pt x="128297" y="86495"/>
                  <a:pt x="131891" y="86495"/>
                </a:cubicBezTo>
                <a:cubicBezTo>
                  <a:pt x="135485" y="86495"/>
                  <a:pt x="138376" y="83604"/>
                  <a:pt x="138376" y="80010"/>
                </a:cubicBezTo>
                <a:lnTo>
                  <a:pt x="138376" y="69201"/>
                </a:lnTo>
                <a:cubicBezTo>
                  <a:pt x="138376" y="64311"/>
                  <a:pt x="137863" y="59528"/>
                  <a:pt x="136890" y="54907"/>
                </a:cubicBezTo>
                <a:close/>
                <a:moveTo>
                  <a:pt x="69174" y="21617"/>
                </a:moveTo>
                <a:cubicBezTo>
                  <a:pt x="64040" y="21617"/>
                  <a:pt x="59069" y="22428"/>
                  <a:pt x="54448" y="23941"/>
                </a:cubicBezTo>
                <a:cubicBezTo>
                  <a:pt x="50341" y="25292"/>
                  <a:pt x="49395" y="30345"/>
                  <a:pt x="52205" y="33641"/>
                </a:cubicBezTo>
                <a:cubicBezTo>
                  <a:pt x="54124" y="35884"/>
                  <a:pt x="57285" y="36560"/>
                  <a:pt x="60149" y="35776"/>
                </a:cubicBezTo>
                <a:cubicBezTo>
                  <a:pt x="63014" y="34993"/>
                  <a:pt x="66040" y="34587"/>
                  <a:pt x="69174" y="34587"/>
                </a:cubicBezTo>
                <a:cubicBezTo>
                  <a:pt x="88279" y="34587"/>
                  <a:pt x="103762" y="50070"/>
                  <a:pt x="103762" y="69174"/>
                </a:cubicBezTo>
                <a:lnTo>
                  <a:pt x="103762" y="75903"/>
                </a:lnTo>
                <a:cubicBezTo>
                  <a:pt x="103762" y="82712"/>
                  <a:pt x="103356" y="89494"/>
                  <a:pt x="102573" y="96250"/>
                </a:cubicBezTo>
                <a:cubicBezTo>
                  <a:pt x="102113" y="100195"/>
                  <a:pt x="105113" y="103762"/>
                  <a:pt x="109112" y="103762"/>
                </a:cubicBezTo>
                <a:cubicBezTo>
                  <a:pt x="112300" y="103762"/>
                  <a:pt x="115030" y="101438"/>
                  <a:pt x="115408" y="98276"/>
                </a:cubicBezTo>
                <a:cubicBezTo>
                  <a:pt x="116300" y="90873"/>
                  <a:pt x="116759" y="83415"/>
                  <a:pt x="116759" y="75930"/>
                </a:cubicBezTo>
                <a:lnTo>
                  <a:pt x="116759" y="69201"/>
                </a:lnTo>
                <a:cubicBezTo>
                  <a:pt x="116759" y="42937"/>
                  <a:pt x="95466" y="21644"/>
                  <a:pt x="69201" y="21644"/>
                </a:cubicBezTo>
                <a:close/>
                <a:moveTo>
                  <a:pt x="40721" y="40181"/>
                </a:moveTo>
                <a:cubicBezTo>
                  <a:pt x="38262" y="37316"/>
                  <a:pt x="33885" y="37100"/>
                  <a:pt x="31561" y="40073"/>
                </a:cubicBezTo>
                <a:cubicBezTo>
                  <a:pt x="25319" y="48125"/>
                  <a:pt x="21617" y="58204"/>
                  <a:pt x="21617" y="69174"/>
                </a:cubicBezTo>
                <a:lnTo>
                  <a:pt x="21617" y="75903"/>
                </a:lnTo>
                <a:cubicBezTo>
                  <a:pt x="21617" y="82442"/>
                  <a:pt x="20914" y="88981"/>
                  <a:pt x="19509" y="95331"/>
                </a:cubicBezTo>
                <a:cubicBezTo>
                  <a:pt x="18591" y="99546"/>
                  <a:pt x="21644" y="103735"/>
                  <a:pt x="25967" y="103735"/>
                </a:cubicBezTo>
                <a:cubicBezTo>
                  <a:pt x="28805" y="103735"/>
                  <a:pt x="31345" y="101843"/>
                  <a:pt x="31966" y="99060"/>
                </a:cubicBezTo>
                <a:cubicBezTo>
                  <a:pt x="33696" y="91467"/>
                  <a:pt x="34587" y="83712"/>
                  <a:pt x="34587" y="75876"/>
                </a:cubicBezTo>
                <a:lnTo>
                  <a:pt x="34587" y="69147"/>
                </a:lnTo>
                <a:cubicBezTo>
                  <a:pt x="34587" y="61798"/>
                  <a:pt x="36884" y="54988"/>
                  <a:pt x="40775" y="49395"/>
                </a:cubicBezTo>
                <a:cubicBezTo>
                  <a:pt x="42721" y="46585"/>
                  <a:pt x="42937" y="42748"/>
                  <a:pt x="40721" y="40154"/>
                </a:cubicBezTo>
                <a:close/>
                <a:moveTo>
                  <a:pt x="69174" y="43234"/>
                </a:moveTo>
                <a:cubicBezTo>
                  <a:pt x="54853" y="43234"/>
                  <a:pt x="43234" y="54853"/>
                  <a:pt x="43234" y="69174"/>
                </a:cubicBezTo>
                <a:lnTo>
                  <a:pt x="43234" y="75903"/>
                </a:lnTo>
                <a:cubicBezTo>
                  <a:pt x="43234" y="85603"/>
                  <a:pt x="41991" y="95223"/>
                  <a:pt x="39505" y="104572"/>
                </a:cubicBezTo>
                <a:cubicBezTo>
                  <a:pt x="38478" y="108436"/>
                  <a:pt x="41316" y="112409"/>
                  <a:pt x="45315" y="112409"/>
                </a:cubicBezTo>
                <a:cubicBezTo>
                  <a:pt x="47882" y="112409"/>
                  <a:pt x="50151" y="110733"/>
                  <a:pt x="50827" y="108247"/>
                </a:cubicBezTo>
                <a:cubicBezTo>
                  <a:pt x="53664" y="97709"/>
                  <a:pt x="55123" y="86846"/>
                  <a:pt x="55123" y="75903"/>
                </a:cubicBezTo>
                <a:lnTo>
                  <a:pt x="55123" y="69174"/>
                </a:lnTo>
                <a:cubicBezTo>
                  <a:pt x="55123" y="61419"/>
                  <a:pt x="61419" y="55123"/>
                  <a:pt x="69174" y="55123"/>
                </a:cubicBezTo>
                <a:cubicBezTo>
                  <a:pt x="76930" y="55123"/>
                  <a:pt x="83226" y="61419"/>
                  <a:pt x="83226" y="69174"/>
                </a:cubicBezTo>
                <a:lnTo>
                  <a:pt x="83226" y="75903"/>
                </a:lnTo>
                <a:cubicBezTo>
                  <a:pt x="83226" y="85711"/>
                  <a:pt x="82280" y="95466"/>
                  <a:pt x="80415" y="105059"/>
                </a:cubicBezTo>
                <a:cubicBezTo>
                  <a:pt x="79686" y="108815"/>
                  <a:pt x="82496" y="112409"/>
                  <a:pt x="86306" y="112409"/>
                </a:cubicBezTo>
                <a:cubicBezTo>
                  <a:pt x="89062" y="112409"/>
                  <a:pt x="91440" y="110517"/>
                  <a:pt x="91980" y="107815"/>
                </a:cubicBezTo>
                <a:cubicBezTo>
                  <a:pt x="94061" y="97331"/>
                  <a:pt x="95115" y="86657"/>
                  <a:pt x="95115" y="75903"/>
                </a:cubicBezTo>
                <a:lnTo>
                  <a:pt x="95115" y="69174"/>
                </a:lnTo>
                <a:cubicBezTo>
                  <a:pt x="95115" y="54853"/>
                  <a:pt x="83496" y="43234"/>
                  <a:pt x="69174" y="43234"/>
                </a:cubicBezTo>
                <a:close/>
                <a:moveTo>
                  <a:pt x="75660" y="69174"/>
                </a:moveTo>
                <a:cubicBezTo>
                  <a:pt x="75660" y="65581"/>
                  <a:pt x="72768" y="62689"/>
                  <a:pt x="69174" y="62689"/>
                </a:cubicBezTo>
                <a:cubicBezTo>
                  <a:pt x="65581" y="62689"/>
                  <a:pt x="62689" y="65581"/>
                  <a:pt x="62689" y="69174"/>
                </a:cubicBezTo>
                <a:lnTo>
                  <a:pt x="62689" y="75903"/>
                </a:lnTo>
                <a:cubicBezTo>
                  <a:pt x="62689" y="92089"/>
                  <a:pt x="59717" y="108139"/>
                  <a:pt x="53907" y="123244"/>
                </a:cubicBezTo>
                <a:lnTo>
                  <a:pt x="52313" y="127378"/>
                </a:lnTo>
                <a:cubicBezTo>
                  <a:pt x="51016" y="130729"/>
                  <a:pt x="52691" y="134485"/>
                  <a:pt x="56042" y="135755"/>
                </a:cubicBezTo>
                <a:cubicBezTo>
                  <a:pt x="59393" y="137025"/>
                  <a:pt x="63149" y="135377"/>
                  <a:pt x="64419" y="132026"/>
                </a:cubicBezTo>
                <a:lnTo>
                  <a:pt x="66013" y="127892"/>
                </a:lnTo>
                <a:cubicBezTo>
                  <a:pt x="72390" y="111301"/>
                  <a:pt x="75660" y="93683"/>
                  <a:pt x="75660" y="75903"/>
                </a:cubicBezTo>
                <a:lnTo>
                  <a:pt x="75660" y="69174"/>
                </a:lnTo>
                <a:close/>
              </a:path>
            </a:pathLst>
          </a:custGeom>
          <a:solidFill>
            <a:srgbClr val="8FA7D0"/>
          </a:solidFill>
        </p:spPr>
      </p:sp>
      <p:sp>
        <p:nvSpPr>
          <p:cNvPr id="43" name="Text 40"/>
          <p:cNvSpPr/>
          <p:nvPr/>
        </p:nvSpPr>
        <p:spPr>
          <a:xfrm>
            <a:off x="4622440" y="4357991"/>
            <a:ext cx="622570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设备指纹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4397623" y="4669277"/>
            <a:ext cx="138349" cy="138349"/>
          </a:xfrm>
          <a:custGeom>
            <a:avLst/>
            <a:gdLst/>
            <a:ahLst/>
            <a:cxnLst/>
            <a:rect l="l" t="t" r="r" b="b"/>
            <a:pathLst>
              <a:path w="138349" h="138349">
                <a:moveTo>
                  <a:pt x="95088" y="75660"/>
                </a:moveTo>
                <a:lnTo>
                  <a:pt x="43504" y="75660"/>
                </a:lnTo>
                <a:cubicBezTo>
                  <a:pt x="44288" y="93088"/>
                  <a:pt x="48152" y="109139"/>
                  <a:pt x="53637" y="120893"/>
                </a:cubicBezTo>
                <a:cubicBezTo>
                  <a:pt x="56718" y="127513"/>
                  <a:pt x="60041" y="132188"/>
                  <a:pt x="63122" y="135052"/>
                </a:cubicBezTo>
                <a:cubicBezTo>
                  <a:pt x="66148" y="137890"/>
                  <a:pt x="68229" y="138349"/>
                  <a:pt x="69310" y="138349"/>
                </a:cubicBezTo>
                <a:cubicBezTo>
                  <a:pt x="70390" y="138349"/>
                  <a:pt x="72471" y="137890"/>
                  <a:pt x="75497" y="135052"/>
                </a:cubicBezTo>
                <a:cubicBezTo>
                  <a:pt x="78578" y="132188"/>
                  <a:pt x="81901" y="127486"/>
                  <a:pt x="84982" y="120893"/>
                </a:cubicBezTo>
                <a:cubicBezTo>
                  <a:pt x="90467" y="109139"/>
                  <a:pt x="94331" y="93088"/>
                  <a:pt x="95115" y="75660"/>
                </a:cubicBezTo>
                <a:close/>
                <a:moveTo>
                  <a:pt x="43477" y="62689"/>
                </a:moveTo>
                <a:lnTo>
                  <a:pt x="95061" y="62689"/>
                </a:lnTo>
                <a:cubicBezTo>
                  <a:pt x="94304" y="45261"/>
                  <a:pt x="90440" y="29210"/>
                  <a:pt x="84955" y="17456"/>
                </a:cubicBezTo>
                <a:cubicBezTo>
                  <a:pt x="81874" y="10863"/>
                  <a:pt x="78551" y="6161"/>
                  <a:pt x="75470" y="3297"/>
                </a:cubicBezTo>
                <a:cubicBezTo>
                  <a:pt x="72444" y="459"/>
                  <a:pt x="70363" y="0"/>
                  <a:pt x="69283" y="0"/>
                </a:cubicBezTo>
                <a:cubicBezTo>
                  <a:pt x="68202" y="0"/>
                  <a:pt x="66121" y="459"/>
                  <a:pt x="63095" y="3297"/>
                </a:cubicBezTo>
                <a:cubicBezTo>
                  <a:pt x="60014" y="6161"/>
                  <a:pt x="56691" y="10863"/>
                  <a:pt x="53610" y="17456"/>
                </a:cubicBezTo>
                <a:cubicBezTo>
                  <a:pt x="48125" y="29210"/>
                  <a:pt x="44261" y="45261"/>
                  <a:pt x="43477" y="62689"/>
                </a:cubicBezTo>
                <a:close/>
                <a:moveTo>
                  <a:pt x="30507" y="62689"/>
                </a:moveTo>
                <a:cubicBezTo>
                  <a:pt x="31453" y="39559"/>
                  <a:pt x="37424" y="18077"/>
                  <a:pt x="46152" y="3972"/>
                </a:cubicBezTo>
                <a:cubicBezTo>
                  <a:pt x="21266" y="12781"/>
                  <a:pt x="2945" y="35452"/>
                  <a:pt x="405" y="62689"/>
                </a:cubicBezTo>
                <a:lnTo>
                  <a:pt x="30507" y="62689"/>
                </a:lnTo>
                <a:close/>
                <a:moveTo>
                  <a:pt x="405" y="75660"/>
                </a:moveTo>
                <a:cubicBezTo>
                  <a:pt x="2945" y="102897"/>
                  <a:pt x="21266" y="125568"/>
                  <a:pt x="46152" y="134377"/>
                </a:cubicBezTo>
                <a:cubicBezTo>
                  <a:pt x="37424" y="120272"/>
                  <a:pt x="31453" y="98790"/>
                  <a:pt x="30507" y="75660"/>
                </a:cubicBezTo>
                <a:lnTo>
                  <a:pt x="405" y="75660"/>
                </a:lnTo>
                <a:close/>
                <a:moveTo>
                  <a:pt x="108058" y="75660"/>
                </a:moveTo>
                <a:cubicBezTo>
                  <a:pt x="107112" y="98790"/>
                  <a:pt x="101141" y="120272"/>
                  <a:pt x="92413" y="134377"/>
                </a:cubicBezTo>
                <a:cubicBezTo>
                  <a:pt x="117299" y="125541"/>
                  <a:pt x="135620" y="102897"/>
                  <a:pt x="138160" y="75660"/>
                </a:cubicBezTo>
                <a:lnTo>
                  <a:pt x="108058" y="75660"/>
                </a:lnTo>
                <a:close/>
                <a:moveTo>
                  <a:pt x="138160" y="62689"/>
                </a:moveTo>
                <a:cubicBezTo>
                  <a:pt x="135620" y="35452"/>
                  <a:pt x="117299" y="12781"/>
                  <a:pt x="92413" y="3972"/>
                </a:cubicBezTo>
                <a:cubicBezTo>
                  <a:pt x="101141" y="18077"/>
                  <a:pt x="107112" y="39559"/>
                  <a:pt x="108058" y="62689"/>
                </a:cubicBezTo>
                <a:lnTo>
                  <a:pt x="138160" y="62689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45" name="Text 42"/>
          <p:cNvSpPr/>
          <p:nvPr/>
        </p:nvSpPr>
        <p:spPr>
          <a:xfrm>
            <a:off x="4622440" y="4634689"/>
            <a:ext cx="899268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地理位置异常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03591" y="1072204"/>
            <a:ext cx="3744068" cy="3977532"/>
          </a:xfrm>
          <a:custGeom>
            <a:avLst/>
            <a:gdLst/>
            <a:ahLst/>
            <a:cxnLst/>
            <a:rect l="l" t="t" r="r" b="b"/>
            <a:pathLst>
              <a:path w="3744068" h="3977532">
                <a:moveTo>
                  <a:pt x="103748" y="0"/>
                </a:moveTo>
                <a:lnTo>
                  <a:pt x="3640320" y="0"/>
                </a:lnTo>
                <a:cubicBezTo>
                  <a:pt x="3697618" y="0"/>
                  <a:pt x="3744068" y="46450"/>
                  <a:pt x="3744068" y="103748"/>
                </a:cubicBezTo>
                <a:lnTo>
                  <a:pt x="3744068" y="3873784"/>
                </a:lnTo>
                <a:cubicBezTo>
                  <a:pt x="3744068" y="3931082"/>
                  <a:pt x="3697618" y="3977532"/>
                  <a:pt x="3640320" y="3977532"/>
                </a:cubicBezTo>
                <a:lnTo>
                  <a:pt x="103748" y="3977532"/>
                </a:lnTo>
                <a:cubicBezTo>
                  <a:pt x="46450" y="3977532"/>
                  <a:pt x="0" y="3931082"/>
                  <a:pt x="0" y="3873784"/>
                </a:cubicBezTo>
                <a:lnTo>
                  <a:pt x="0" y="103748"/>
                </a:lnTo>
                <a:cubicBezTo>
                  <a:pt x="0" y="46488"/>
                  <a:pt x="46488" y="0"/>
                  <a:pt x="10374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9702" dist="864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8241940" y="1210553"/>
            <a:ext cx="3553838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SVM模型配置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41940" y="1556426"/>
            <a:ext cx="3467370" cy="1072204"/>
          </a:xfrm>
          <a:custGeom>
            <a:avLst/>
            <a:gdLst/>
            <a:ahLst/>
            <a:cxnLst/>
            <a:rect l="l" t="t" r="r" b="b"/>
            <a:pathLst>
              <a:path w="3467370" h="1072204">
                <a:moveTo>
                  <a:pt x="69179" y="0"/>
                </a:moveTo>
                <a:lnTo>
                  <a:pt x="3398192" y="0"/>
                </a:lnTo>
                <a:cubicBezTo>
                  <a:pt x="3436398" y="0"/>
                  <a:pt x="3467370" y="30972"/>
                  <a:pt x="3467370" y="69179"/>
                </a:cubicBezTo>
                <a:lnTo>
                  <a:pt x="3467370" y="1003026"/>
                </a:lnTo>
                <a:cubicBezTo>
                  <a:pt x="3467370" y="1041232"/>
                  <a:pt x="3436398" y="1072204"/>
                  <a:pt x="3398192" y="1072204"/>
                </a:cubicBezTo>
                <a:lnTo>
                  <a:pt x="69179" y="1072204"/>
                </a:lnTo>
                <a:cubicBezTo>
                  <a:pt x="30972" y="1072204"/>
                  <a:pt x="0" y="1041232"/>
                  <a:pt x="0" y="1003026"/>
                </a:cubicBezTo>
                <a:lnTo>
                  <a:pt x="0" y="69179"/>
                </a:lnTo>
                <a:cubicBezTo>
                  <a:pt x="0" y="30998"/>
                  <a:pt x="30998" y="0"/>
                  <a:pt x="69179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9" name="Text 46"/>
          <p:cNvSpPr/>
          <p:nvPr/>
        </p:nvSpPr>
        <p:spPr>
          <a:xfrm>
            <a:off x="8345702" y="1660187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核函数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345702" y="1936885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</a:t>
            </a:r>
            <a:r>
              <a:rPr lang="en-US" sz="109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RBF核函数</a:t>
            </a: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处理非线性问题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345702" y="2213583"/>
            <a:ext cx="3259847" cy="311285"/>
          </a:xfrm>
          <a:custGeom>
            <a:avLst/>
            <a:gdLst/>
            <a:ahLst/>
            <a:cxnLst/>
            <a:rect l="l" t="t" r="r" b="b"/>
            <a:pathLst>
              <a:path w="3259847" h="311285">
                <a:moveTo>
                  <a:pt x="34587" y="0"/>
                </a:moveTo>
                <a:lnTo>
                  <a:pt x="3225260" y="0"/>
                </a:lnTo>
                <a:cubicBezTo>
                  <a:pt x="3244362" y="0"/>
                  <a:pt x="3259847" y="15485"/>
                  <a:pt x="3259847" y="34587"/>
                </a:cubicBezTo>
                <a:lnTo>
                  <a:pt x="3259847" y="276698"/>
                </a:lnTo>
                <a:cubicBezTo>
                  <a:pt x="3259847" y="295800"/>
                  <a:pt x="3244362" y="311285"/>
                  <a:pt x="3225260" y="311285"/>
                </a:cubicBezTo>
                <a:lnTo>
                  <a:pt x="34587" y="311285"/>
                </a:lnTo>
                <a:cubicBezTo>
                  <a:pt x="15485" y="311285"/>
                  <a:pt x="0" y="295800"/>
                  <a:pt x="0" y="276698"/>
                </a:cubicBezTo>
                <a:lnTo>
                  <a:pt x="0" y="34587"/>
                </a:lnTo>
                <a:cubicBezTo>
                  <a:pt x="0" y="15498"/>
                  <a:pt x="15498" y="0"/>
                  <a:pt x="34587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49"/>
          <p:cNvSpPr/>
          <p:nvPr/>
        </p:nvSpPr>
        <p:spPr>
          <a:xfrm>
            <a:off x="8345702" y="2213583"/>
            <a:ext cx="3320374" cy="311285"/>
          </a:xfrm>
          <a:prstGeom prst="rect">
            <a:avLst/>
          </a:prstGeom>
          <a:noFill/>
        </p:spPr>
        <p:txBody>
          <a:bodyPr wrap="square" lIns="69174" tIns="69174" rIns="69174" bIns="69174" rtlCol="0" anchor="ctr"/>
          <a:lstStyle/>
          <a:p>
            <a:pPr>
              <a:lnSpc>
                <a:spcPct val="120000"/>
              </a:lnSpc>
            </a:pPr>
            <a:r>
              <a:rPr lang="en-US" sz="955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K(x,y) = exp(-γ||x-y||²)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241940" y="2697804"/>
            <a:ext cx="3467370" cy="691745"/>
          </a:xfrm>
          <a:custGeom>
            <a:avLst/>
            <a:gdLst/>
            <a:ahLst/>
            <a:cxnLst/>
            <a:rect l="l" t="t" r="r" b="b"/>
            <a:pathLst>
              <a:path w="3467370" h="691745">
                <a:moveTo>
                  <a:pt x="69174" y="0"/>
                </a:moveTo>
                <a:lnTo>
                  <a:pt x="3398196" y="0"/>
                </a:lnTo>
                <a:cubicBezTo>
                  <a:pt x="3436400" y="0"/>
                  <a:pt x="3467370" y="30970"/>
                  <a:pt x="3467370" y="69174"/>
                </a:cubicBezTo>
                <a:lnTo>
                  <a:pt x="3467370" y="622570"/>
                </a:lnTo>
                <a:cubicBezTo>
                  <a:pt x="3467370" y="660774"/>
                  <a:pt x="3436400" y="691745"/>
                  <a:pt x="3398196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8345702" y="2801566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惩罚系数 C = 1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345702" y="3078264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平衡模型复杂度和分类误差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241940" y="3458723"/>
            <a:ext cx="3467370" cy="691745"/>
          </a:xfrm>
          <a:custGeom>
            <a:avLst/>
            <a:gdLst/>
            <a:ahLst/>
            <a:cxnLst/>
            <a:rect l="l" t="t" r="r" b="b"/>
            <a:pathLst>
              <a:path w="3467370" h="691745">
                <a:moveTo>
                  <a:pt x="69174" y="0"/>
                </a:moveTo>
                <a:lnTo>
                  <a:pt x="3398196" y="0"/>
                </a:lnTo>
                <a:cubicBezTo>
                  <a:pt x="3436400" y="0"/>
                  <a:pt x="3467370" y="30970"/>
                  <a:pt x="3467370" y="69174"/>
                </a:cubicBezTo>
                <a:lnTo>
                  <a:pt x="3467370" y="622570"/>
                </a:lnTo>
                <a:cubicBezTo>
                  <a:pt x="3467370" y="660774"/>
                  <a:pt x="3436400" y="691745"/>
                  <a:pt x="3398196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57" name="Text 54"/>
          <p:cNvSpPr/>
          <p:nvPr/>
        </p:nvSpPr>
        <p:spPr>
          <a:xfrm>
            <a:off x="8345702" y="3562485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多类策略 OVR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8345702" y="3839183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One-vs-Rest策略处理多分类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241940" y="4219643"/>
            <a:ext cx="3467370" cy="691745"/>
          </a:xfrm>
          <a:custGeom>
            <a:avLst/>
            <a:gdLst/>
            <a:ahLst/>
            <a:cxnLst/>
            <a:rect l="l" t="t" r="r" b="b"/>
            <a:pathLst>
              <a:path w="3467370" h="691745">
                <a:moveTo>
                  <a:pt x="69174" y="0"/>
                </a:moveTo>
                <a:lnTo>
                  <a:pt x="3398196" y="0"/>
                </a:lnTo>
                <a:cubicBezTo>
                  <a:pt x="3436400" y="0"/>
                  <a:pt x="3467370" y="30970"/>
                  <a:pt x="3467370" y="69174"/>
                </a:cubicBezTo>
                <a:lnTo>
                  <a:pt x="3467370" y="622570"/>
                </a:lnTo>
                <a:cubicBezTo>
                  <a:pt x="3467370" y="660774"/>
                  <a:pt x="3436400" y="691745"/>
                  <a:pt x="3398196" y="691745"/>
                </a:cubicBezTo>
                <a:lnTo>
                  <a:pt x="69174" y="691745"/>
                </a:lnTo>
                <a:cubicBezTo>
                  <a:pt x="30970" y="691745"/>
                  <a:pt x="0" y="660774"/>
                  <a:pt x="0" y="622570"/>
                </a:cubicBezTo>
                <a:lnTo>
                  <a:pt x="0" y="69174"/>
                </a:lnTo>
                <a:cubicBezTo>
                  <a:pt x="0" y="30970"/>
                  <a:pt x="30970" y="0"/>
                  <a:pt x="6917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60" name="Text 57"/>
          <p:cNvSpPr/>
          <p:nvPr/>
        </p:nvSpPr>
        <p:spPr>
          <a:xfrm>
            <a:off x="8345702" y="4323404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数据标准化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8345702" y="4600102"/>
            <a:ext cx="3329021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使用StandardScaler进行归一化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8106473" y="5156380"/>
            <a:ext cx="3732539" cy="1700539"/>
          </a:xfrm>
          <a:custGeom>
            <a:avLst/>
            <a:gdLst/>
            <a:ahLst/>
            <a:cxnLst/>
            <a:rect l="l" t="t" r="r" b="b"/>
            <a:pathLst>
              <a:path w="3732539" h="1700539">
                <a:moveTo>
                  <a:pt x="103767" y="0"/>
                </a:moveTo>
                <a:lnTo>
                  <a:pt x="3628772" y="0"/>
                </a:lnTo>
                <a:cubicBezTo>
                  <a:pt x="3686081" y="0"/>
                  <a:pt x="3732539" y="46458"/>
                  <a:pt x="3732539" y="103767"/>
                </a:cubicBezTo>
                <a:lnTo>
                  <a:pt x="3732539" y="1596772"/>
                </a:lnTo>
                <a:cubicBezTo>
                  <a:pt x="3732539" y="1654081"/>
                  <a:pt x="3686081" y="1700539"/>
                  <a:pt x="3628772" y="1700539"/>
                </a:cubicBezTo>
                <a:lnTo>
                  <a:pt x="103767" y="1700539"/>
                </a:lnTo>
                <a:cubicBezTo>
                  <a:pt x="46458" y="1700539"/>
                  <a:pt x="0" y="1654081"/>
                  <a:pt x="0" y="1596772"/>
                </a:cubicBezTo>
                <a:lnTo>
                  <a:pt x="0" y="103767"/>
                </a:lnTo>
                <a:cubicBezTo>
                  <a:pt x="0" y="46496"/>
                  <a:pt x="46496" y="0"/>
                  <a:pt x="103767" y="0"/>
                </a:cubicBezTo>
                <a:close/>
              </a:path>
            </a:pathLst>
          </a:custGeom>
          <a:solidFill>
            <a:srgbClr val="7097E5">
              <a:alpha val="5098"/>
            </a:srgbClr>
          </a:solidFill>
          <a:ln w="8467">
            <a:solidFill>
              <a:srgbClr val="7097E5">
                <a:alpha val="2000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213117" y="5263027"/>
            <a:ext cx="3597072" cy="2421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异常检测流程</a:t>
            </a:r>
            <a:endParaRPr lang="en-US" sz="1600" dirty="0"/>
          </a:p>
        </p:txBody>
      </p:sp>
      <p:sp>
        <p:nvSpPr>
          <p:cNvPr id="64" name="Text 61"/>
          <p:cNvSpPr/>
          <p:nvPr/>
        </p:nvSpPr>
        <p:spPr>
          <a:xfrm>
            <a:off x="8213117" y="5574312"/>
            <a:ext cx="358842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 实时采集用户行为数据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8213117" y="5816423"/>
            <a:ext cx="358842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2. 特征提取和预处理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213117" y="6058533"/>
            <a:ext cx="358842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3. SVM模型预测异常概率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8213117" y="6300644"/>
            <a:ext cx="358842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4. 超过阈值触发告警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8213117" y="6542755"/>
            <a:ext cx="3588426" cy="2075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5. 人工审核确认处理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DETECTION EFFECT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SVM异常检测效果与应用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181100"/>
            <a:ext cx="6181725" cy="2400300"/>
          </a:xfrm>
          <a:custGeom>
            <a:avLst/>
            <a:gdLst/>
            <a:ahLst/>
            <a:cxnLst/>
            <a:rect l="l" t="t" r="r" b="b"/>
            <a:pathLst>
              <a:path w="6181725" h="2400300">
                <a:moveTo>
                  <a:pt x="38100" y="0"/>
                </a:moveTo>
                <a:lnTo>
                  <a:pt x="6067423" y="0"/>
                </a:lnTo>
                <a:cubicBezTo>
                  <a:pt x="6130508" y="0"/>
                  <a:pt x="6181725" y="51217"/>
                  <a:pt x="6181725" y="114302"/>
                </a:cubicBezTo>
                <a:lnTo>
                  <a:pt x="6181725" y="2285998"/>
                </a:lnTo>
                <a:cubicBezTo>
                  <a:pt x="6181725" y="2349083"/>
                  <a:pt x="6130508" y="2400300"/>
                  <a:pt x="6067423" y="2400300"/>
                </a:cubicBez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181100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3810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38100" y="2400300"/>
                </a:lnTo>
                <a:cubicBezTo>
                  <a:pt x="17072" y="2400300"/>
                  <a:pt x="0" y="2383228"/>
                  <a:pt x="0" y="2362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" name="Text 4"/>
          <p:cNvSpPr/>
          <p:nvPr/>
        </p:nvSpPr>
        <p:spPr>
          <a:xfrm>
            <a:off x="571500" y="1333500"/>
            <a:ext cx="5972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检测性能指标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1752600"/>
            <a:ext cx="1381125" cy="838200"/>
          </a:xfrm>
          <a:custGeom>
            <a:avLst/>
            <a:gdLst/>
            <a:ahLst/>
            <a:cxnLst/>
            <a:rect l="l" t="t" r="r" b="b"/>
            <a:pathLst>
              <a:path w="1381125" h="838200">
                <a:moveTo>
                  <a:pt x="76201" y="0"/>
                </a:moveTo>
                <a:lnTo>
                  <a:pt x="1304924" y="0"/>
                </a:lnTo>
                <a:cubicBezTo>
                  <a:pt x="1347009" y="0"/>
                  <a:pt x="1381125" y="34116"/>
                  <a:pt x="1381125" y="76201"/>
                </a:cubicBezTo>
                <a:lnTo>
                  <a:pt x="1381125" y="761999"/>
                </a:lnTo>
                <a:cubicBezTo>
                  <a:pt x="1381125" y="804084"/>
                  <a:pt x="1347009" y="838200"/>
                  <a:pt x="13049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14363" y="1866900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0.93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7700" y="22479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F1分数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64941" y="1752600"/>
            <a:ext cx="1381125" cy="838200"/>
          </a:xfrm>
          <a:custGeom>
            <a:avLst/>
            <a:gdLst/>
            <a:ahLst/>
            <a:cxnLst/>
            <a:rect l="l" t="t" r="r" b="b"/>
            <a:pathLst>
              <a:path w="1381125" h="838200">
                <a:moveTo>
                  <a:pt x="76201" y="0"/>
                </a:moveTo>
                <a:lnTo>
                  <a:pt x="1304924" y="0"/>
                </a:lnTo>
                <a:cubicBezTo>
                  <a:pt x="1347009" y="0"/>
                  <a:pt x="1381125" y="34116"/>
                  <a:pt x="1381125" y="76201"/>
                </a:cubicBezTo>
                <a:lnTo>
                  <a:pt x="1381125" y="761999"/>
                </a:lnTo>
                <a:cubicBezTo>
                  <a:pt x="1381125" y="804084"/>
                  <a:pt x="1347009" y="838200"/>
                  <a:pt x="13049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2107803" y="1866900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99%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41141" y="22479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58480" y="1752600"/>
            <a:ext cx="1381125" cy="838200"/>
          </a:xfrm>
          <a:custGeom>
            <a:avLst/>
            <a:gdLst/>
            <a:ahLst/>
            <a:cxnLst/>
            <a:rect l="l" t="t" r="r" b="b"/>
            <a:pathLst>
              <a:path w="1381125" h="838200">
                <a:moveTo>
                  <a:pt x="76201" y="0"/>
                </a:moveTo>
                <a:lnTo>
                  <a:pt x="1304924" y="0"/>
                </a:lnTo>
                <a:cubicBezTo>
                  <a:pt x="1347009" y="0"/>
                  <a:pt x="1381125" y="34116"/>
                  <a:pt x="1381125" y="76201"/>
                </a:cubicBezTo>
                <a:lnTo>
                  <a:pt x="1381125" y="761999"/>
                </a:lnTo>
                <a:cubicBezTo>
                  <a:pt x="1381125" y="804084"/>
                  <a:pt x="1347009" y="838200"/>
                  <a:pt x="13049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3601343" y="1866900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34680" y="22479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52021" y="1752600"/>
            <a:ext cx="1381125" cy="838200"/>
          </a:xfrm>
          <a:custGeom>
            <a:avLst/>
            <a:gdLst/>
            <a:ahLst/>
            <a:cxnLst/>
            <a:rect l="l" t="t" r="r" b="b"/>
            <a:pathLst>
              <a:path w="1381125" h="838200">
                <a:moveTo>
                  <a:pt x="76201" y="0"/>
                </a:moveTo>
                <a:lnTo>
                  <a:pt x="1304924" y="0"/>
                </a:lnTo>
                <a:cubicBezTo>
                  <a:pt x="1347009" y="0"/>
                  <a:pt x="1381125" y="34116"/>
                  <a:pt x="1381125" y="76201"/>
                </a:cubicBezTo>
                <a:lnTo>
                  <a:pt x="1381125" y="761999"/>
                </a:lnTo>
                <a:cubicBezTo>
                  <a:pt x="1381125" y="804084"/>
                  <a:pt x="1347009" y="838200"/>
                  <a:pt x="13049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5094883" y="1866900"/>
            <a:ext cx="12954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极低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28221" y="2247900"/>
            <a:ext cx="122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1500" y="2705100"/>
            <a:ext cx="5857875" cy="723900"/>
          </a:xfrm>
          <a:custGeom>
            <a:avLst/>
            <a:gdLst/>
            <a:ahLst/>
            <a:cxnLst/>
            <a:rect l="l" t="t" r="r" b="b"/>
            <a:pathLst>
              <a:path w="5857875" h="723900">
                <a:moveTo>
                  <a:pt x="76198" y="0"/>
                </a:moveTo>
                <a:lnTo>
                  <a:pt x="5781677" y="0"/>
                </a:lnTo>
                <a:cubicBezTo>
                  <a:pt x="5823732" y="0"/>
                  <a:pt x="5857875" y="34143"/>
                  <a:pt x="5857875" y="76198"/>
                </a:cubicBezTo>
                <a:lnTo>
                  <a:pt x="5857875" y="647702"/>
                </a:lnTo>
                <a:cubicBezTo>
                  <a:pt x="5857875" y="689757"/>
                  <a:pt x="5823732" y="723900"/>
                  <a:pt x="578167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5098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685800" y="2819400"/>
            <a:ext cx="57054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根据学术研究数据，SVM在电商用户异常行为检测中表现优异：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F1分数0.93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精确率99%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召回率100%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均方误差(MSE)极低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00050" y="3695700"/>
            <a:ext cx="6181725" cy="1752600"/>
          </a:xfrm>
          <a:custGeom>
            <a:avLst/>
            <a:gdLst/>
            <a:ahLst/>
            <a:cxnLst/>
            <a:rect l="l" t="t" r="r" b="b"/>
            <a:pathLst>
              <a:path w="6181725" h="1752600">
                <a:moveTo>
                  <a:pt x="38100" y="0"/>
                </a:moveTo>
                <a:lnTo>
                  <a:pt x="6067420" y="0"/>
                </a:lnTo>
                <a:cubicBezTo>
                  <a:pt x="6130549" y="0"/>
                  <a:pt x="6181725" y="51176"/>
                  <a:pt x="6181725" y="114305"/>
                </a:cubicBezTo>
                <a:lnTo>
                  <a:pt x="6181725" y="1638295"/>
                </a:lnTo>
                <a:cubicBezTo>
                  <a:pt x="6181725" y="1701424"/>
                  <a:pt x="6130549" y="1752600"/>
                  <a:pt x="6067420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00050" y="36957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4" name="Text 21"/>
          <p:cNvSpPr/>
          <p:nvPr/>
        </p:nvSpPr>
        <p:spPr>
          <a:xfrm>
            <a:off x="571500" y="3848100"/>
            <a:ext cx="5972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识别能力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71500" y="4267200"/>
            <a:ext cx="2876550" cy="1028700"/>
          </a:xfrm>
          <a:custGeom>
            <a:avLst/>
            <a:gdLst/>
            <a:ahLst/>
            <a:cxnLst/>
            <a:rect l="l" t="t" r="r" b="b"/>
            <a:pathLst>
              <a:path w="2876550" h="1028700">
                <a:moveTo>
                  <a:pt x="76196" y="0"/>
                </a:moveTo>
                <a:lnTo>
                  <a:pt x="2800354" y="0"/>
                </a:lnTo>
                <a:cubicBezTo>
                  <a:pt x="2842436" y="0"/>
                  <a:pt x="2876550" y="34114"/>
                  <a:pt x="2876550" y="76196"/>
                </a:cubicBezTo>
                <a:lnTo>
                  <a:pt x="2876550" y="952504"/>
                </a:lnTo>
                <a:cubicBezTo>
                  <a:pt x="2876550" y="994586"/>
                  <a:pt x="2842436" y="1028700"/>
                  <a:pt x="28003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685800" y="43815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行为模式异常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85800" y="46863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短时间内大量购买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5800" y="49530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用户行为模式突变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558480" y="4267200"/>
            <a:ext cx="2876550" cy="1028700"/>
          </a:xfrm>
          <a:custGeom>
            <a:avLst/>
            <a:gdLst/>
            <a:ahLst/>
            <a:cxnLst/>
            <a:rect l="l" t="t" r="r" b="b"/>
            <a:pathLst>
              <a:path w="2876550" h="1028700">
                <a:moveTo>
                  <a:pt x="76196" y="0"/>
                </a:moveTo>
                <a:lnTo>
                  <a:pt x="2800354" y="0"/>
                </a:lnTo>
                <a:cubicBezTo>
                  <a:pt x="2842436" y="0"/>
                  <a:pt x="2876550" y="34114"/>
                  <a:pt x="2876550" y="76196"/>
                </a:cubicBezTo>
                <a:lnTo>
                  <a:pt x="2876550" y="952504"/>
                </a:lnTo>
                <a:cubicBezTo>
                  <a:pt x="2876550" y="994586"/>
                  <a:pt x="2842436" y="1028700"/>
                  <a:pt x="280035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3672780" y="43815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设备/位置异常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672780" y="46863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异常地理位置登录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3672780" y="49530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设备指纹异常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755110" y="1181100"/>
            <a:ext cx="5057775" cy="2628900"/>
          </a:xfrm>
          <a:custGeom>
            <a:avLst/>
            <a:gdLst/>
            <a:ahLst/>
            <a:cxnLst/>
            <a:rect l="l" t="t" r="r" b="b"/>
            <a:pathLst>
              <a:path w="5057775" h="2628900">
                <a:moveTo>
                  <a:pt x="38100" y="0"/>
                </a:moveTo>
                <a:lnTo>
                  <a:pt x="4943470" y="0"/>
                </a:lnTo>
                <a:cubicBezTo>
                  <a:pt x="5006599" y="0"/>
                  <a:pt x="5057775" y="51176"/>
                  <a:pt x="5057775" y="114305"/>
                </a:cubicBezTo>
                <a:lnTo>
                  <a:pt x="5057775" y="2514595"/>
                </a:lnTo>
                <a:cubicBezTo>
                  <a:pt x="5057775" y="2577724"/>
                  <a:pt x="5006599" y="2628900"/>
                  <a:pt x="4943470" y="2628900"/>
                </a:cubicBez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55110" y="1181100"/>
            <a:ext cx="38100" cy="2628900"/>
          </a:xfrm>
          <a:custGeom>
            <a:avLst/>
            <a:gdLst/>
            <a:ahLst/>
            <a:cxnLst/>
            <a:rect l="l" t="t" r="r" b="b"/>
            <a:pathLst>
              <a:path w="38100" h="2628900">
                <a:moveTo>
                  <a:pt x="38100" y="0"/>
                </a:moveTo>
                <a:lnTo>
                  <a:pt x="38100" y="0"/>
                </a:lnTo>
                <a:lnTo>
                  <a:pt x="38100" y="2628900"/>
                </a:lnTo>
                <a:lnTo>
                  <a:pt x="38100" y="2628900"/>
                </a:lnTo>
                <a:cubicBezTo>
                  <a:pt x="17072" y="2628900"/>
                  <a:pt x="0" y="2611828"/>
                  <a:pt x="0" y="2590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5" name="Text 32"/>
          <p:cNvSpPr/>
          <p:nvPr/>
        </p:nvSpPr>
        <p:spPr>
          <a:xfrm>
            <a:off x="6926560" y="1333500"/>
            <a:ext cx="482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实际应用效果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926560" y="1714500"/>
            <a:ext cx="1504950" cy="800100"/>
          </a:xfrm>
          <a:custGeom>
            <a:avLst/>
            <a:gdLst/>
            <a:ahLst/>
            <a:cxnLst/>
            <a:rect l="l" t="t" r="r" b="b"/>
            <a:pathLst>
              <a:path w="1504950" h="800100">
                <a:moveTo>
                  <a:pt x="76202" y="0"/>
                </a:moveTo>
                <a:lnTo>
                  <a:pt x="1428748" y="0"/>
                </a:lnTo>
                <a:cubicBezTo>
                  <a:pt x="1470833" y="0"/>
                  <a:pt x="1504950" y="34117"/>
                  <a:pt x="1504950" y="76202"/>
                </a:cubicBezTo>
                <a:lnTo>
                  <a:pt x="1504950" y="723898"/>
                </a:lnTo>
                <a:cubicBezTo>
                  <a:pt x="1504950" y="765955"/>
                  <a:pt x="1470805" y="800100"/>
                  <a:pt x="14287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7" name="Text 34"/>
          <p:cNvSpPr/>
          <p:nvPr/>
        </p:nvSpPr>
        <p:spPr>
          <a:xfrm>
            <a:off x="6983710" y="1828800"/>
            <a:ext cx="1390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+40%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002760" y="2171700"/>
            <a:ext cx="1352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识别率提升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541941" y="1714500"/>
            <a:ext cx="1504950" cy="800100"/>
          </a:xfrm>
          <a:custGeom>
            <a:avLst/>
            <a:gdLst/>
            <a:ahLst/>
            <a:cxnLst/>
            <a:rect l="l" t="t" r="r" b="b"/>
            <a:pathLst>
              <a:path w="1504950" h="800100">
                <a:moveTo>
                  <a:pt x="76202" y="0"/>
                </a:moveTo>
                <a:lnTo>
                  <a:pt x="1428748" y="0"/>
                </a:lnTo>
                <a:cubicBezTo>
                  <a:pt x="1470833" y="0"/>
                  <a:pt x="1504950" y="34117"/>
                  <a:pt x="1504950" y="76202"/>
                </a:cubicBezTo>
                <a:lnTo>
                  <a:pt x="1504950" y="723898"/>
                </a:lnTo>
                <a:cubicBezTo>
                  <a:pt x="1504950" y="765955"/>
                  <a:pt x="1470805" y="800100"/>
                  <a:pt x="14287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8599091" y="1828800"/>
            <a:ext cx="1390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&lt;1%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618141" y="2171700"/>
            <a:ext cx="1352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误报率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10157421" y="1714500"/>
            <a:ext cx="1504950" cy="800100"/>
          </a:xfrm>
          <a:custGeom>
            <a:avLst/>
            <a:gdLst/>
            <a:ahLst/>
            <a:cxnLst/>
            <a:rect l="l" t="t" r="r" b="b"/>
            <a:pathLst>
              <a:path w="1504950" h="800100">
                <a:moveTo>
                  <a:pt x="76202" y="0"/>
                </a:moveTo>
                <a:lnTo>
                  <a:pt x="1428748" y="0"/>
                </a:lnTo>
                <a:cubicBezTo>
                  <a:pt x="1470833" y="0"/>
                  <a:pt x="1504950" y="34117"/>
                  <a:pt x="1504950" y="76202"/>
                </a:cubicBezTo>
                <a:lnTo>
                  <a:pt x="1504950" y="723898"/>
                </a:lnTo>
                <a:cubicBezTo>
                  <a:pt x="1504950" y="765955"/>
                  <a:pt x="1470805" y="800100"/>
                  <a:pt x="1428748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3" name="Text 40"/>
          <p:cNvSpPr/>
          <p:nvPr/>
        </p:nvSpPr>
        <p:spPr>
          <a:xfrm>
            <a:off x="10214571" y="1828800"/>
            <a:ext cx="1390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10233621" y="2171700"/>
            <a:ext cx="13525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监控响应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926560" y="2628900"/>
            <a:ext cx="4733925" cy="1028700"/>
          </a:xfrm>
          <a:custGeom>
            <a:avLst/>
            <a:gdLst/>
            <a:ahLst/>
            <a:cxnLst/>
            <a:rect l="l" t="t" r="r" b="b"/>
            <a:pathLst>
              <a:path w="4733925" h="1028700">
                <a:moveTo>
                  <a:pt x="76196" y="0"/>
                </a:moveTo>
                <a:lnTo>
                  <a:pt x="4657729" y="0"/>
                </a:lnTo>
                <a:cubicBezTo>
                  <a:pt x="4699811" y="0"/>
                  <a:pt x="4733925" y="34114"/>
                  <a:pt x="4733925" y="76196"/>
                </a:cubicBezTo>
                <a:lnTo>
                  <a:pt x="4733925" y="952504"/>
                </a:lnTo>
                <a:cubicBezTo>
                  <a:pt x="4733925" y="994586"/>
                  <a:pt x="4699811" y="1028700"/>
                  <a:pt x="46577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</p:spPr>
      </p:sp>
      <p:sp>
        <p:nvSpPr>
          <p:cNvPr id="46" name="Text 43"/>
          <p:cNvSpPr/>
          <p:nvPr/>
        </p:nvSpPr>
        <p:spPr>
          <a:xfrm>
            <a:off x="7040860" y="2743200"/>
            <a:ext cx="45815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实际应用效果：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异常交易识别率提升40%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误报率降低至1%以下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，帮助平台避免大量经济损失。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040860" y="3314700"/>
            <a:ext cx="458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实时监控响应时间&lt;100ms，保障平台安全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755110" y="3924300"/>
            <a:ext cx="5057775" cy="2362200"/>
          </a:xfrm>
          <a:custGeom>
            <a:avLst/>
            <a:gdLst/>
            <a:ahLst/>
            <a:cxnLst/>
            <a:rect l="l" t="t" r="r" b="b"/>
            <a:pathLst>
              <a:path w="5057775" h="2362200">
                <a:moveTo>
                  <a:pt x="38100" y="0"/>
                </a:moveTo>
                <a:lnTo>
                  <a:pt x="4943468" y="0"/>
                </a:lnTo>
                <a:cubicBezTo>
                  <a:pt x="5006556" y="0"/>
                  <a:pt x="5057775" y="51219"/>
                  <a:pt x="5057775" y="114307"/>
                </a:cubicBezTo>
                <a:lnTo>
                  <a:pt x="5057775" y="2247893"/>
                </a:lnTo>
                <a:cubicBezTo>
                  <a:pt x="5057775" y="2310981"/>
                  <a:pt x="5006556" y="2362200"/>
                  <a:pt x="4943468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755110" y="39243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0" name="Text 47"/>
          <p:cNvSpPr/>
          <p:nvPr/>
        </p:nvSpPr>
        <p:spPr>
          <a:xfrm>
            <a:off x="6926560" y="4076700"/>
            <a:ext cx="482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算法优势与挑战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94561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23813" y="47625"/>
                </a:moveTo>
                <a:cubicBezTo>
                  <a:pt x="29081" y="47625"/>
                  <a:pt x="33338" y="51881"/>
                  <a:pt x="33338" y="57150"/>
                </a:cubicBezTo>
                <a:lnTo>
                  <a:pt x="33338" y="133350"/>
                </a:lnTo>
                <a:cubicBezTo>
                  <a:pt x="33338" y="138619"/>
                  <a:pt x="29081" y="142875"/>
                  <a:pt x="23813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57150"/>
                </a:lnTo>
                <a:cubicBezTo>
                  <a:pt x="0" y="51881"/>
                  <a:pt x="4256" y="47625"/>
                  <a:pt x="9525" y="47625"/>
                </a:cubicBezTo>
                <a:lnTo>
                  <a:pt x="23813" y="47625"/>
                </a:lnTo>
                <a:close/>
                <a:moveTo>
                  <a:pt x="80546" y="4763"/>
                </a:moveTo>
                <a:cubicBezTo>
                  <a:pt x="88672" y="4763"/>
                  <a:pt x="95250" y="11341"/>
                  <a:pt x="95250" y="19467"/>
                </a:cubicBezTo>
                <a:lnTo>
                  <a:pt x="95250" y="20717"/>
                </a:lnTo>
                <a:cubicBezTo>
                  <a:pt x="95250" y="22741"/>
                  <a:pt x="94863" y="24765"/>
                  <a:pt x="94119" y="26640"/>
                </a:cubicBezTo>
                <a:lnTo>
                  <a:pt x="85725" y="47625"/>
                </a:lnTo>
                <a:lnTo>
                  <a:pt x="133350" y="47625"/>
                </a:lnTo>
                <a:cubicBezTo>
                  <a:pt x="141238" y="47625"/>
                  <a:pt x="147638" y="54025"/>
                  <a:pt x="147638" y="61912"/>
                </a:cubicBezTo>
                <a:cubicBezTo>
                  <a:pt x="147638" y="67776"/>
                  <a:pt x="144095" y="72807"/>
                  <a:pt x="139035" y="75009"/>
                </a:cubicBezTo>
                <a:cubicBezTo>
                  <a:pt x="144095" y="77212"/>
                  <a:pt x="147638" y="82242"/>
                  <a:pt x="147638" y="88106"/>
                </a:cubicBezTo>
                <a:cubicBezTo>
                  <a:pt x="147638" y="95071"/>
                  <a:pt x="142637" y="100876"/>
                  <a:pt x="136029" y="102126"/>
                </a:cubicBezTo>
                <a:cubicBezTo>
                  <a:pt x="137339" y="104299"/>
                  <a:pt x="138113" y="106829"/>
                  <a:pt x="138113" y="109537"/>
                </a:cubicBezTo>
                <a:cubicBezTo>
                  <a:pt x="138113" y="116145"/>
                  <a:pt x="133648" y="121682"/>
                  <a:pt x="127575" y="123319"/>
                </a:cubicBezTo>
                <a:cubicBezTo>
                  <a:pt x="128230" y="124956"/>
                  <a:pt x="128588" y="126742"/>
                  <a:pt x="128588" y="128588"/>
                </a:cubicBezTo>
                <a:cubicBezTo>
                  <a:pt x="128588" y="136475"/>
                  <a:pt x="122188" y="142875"/>
                  <a:pt x="114300" y="142875"/>
                </a:cubicBezTo>
                <a:lnTo>
                  <a:pt x="88136" y="142875"/>
                </a:lnTo>
                <a:cubicBezTo>
                  <a:pt x="77331" y="142875"/>
                  <a:pt x="66824" y="139184"/>
                  <a:pt x="58400" y="132427"/>
                </a:cubicBezTo>
                <a:lnTo>
                  <a:pt x="54769" y="129540"/>
                </a:lnTo>
                <a:cubicBezTo>
                  <a:pt x="50244" y="125938"/>
                  <a:pt x="47625" y="120461"/>
                  <a:pt x="47625" y="114657"/>
                </a:cubicBezTo>
                <a:lnTo>
                  <a:pt x="47625" y="59115"/>
                </a:lnTo>
                <a:cubicBezTo>
                  <a:pt x="47625" y="54679"/>
                  <a:pt x="48667" y="50304"/>
                  <a:pt x="50631" y="46345"/>
                </a:cubicBezTo>
                <a:lnTo>
                  <a:pt x="67360" y="12889"/>
                </a:lnTo>
                <a:cubicBezTo>
                  <a:pt x="69860" y="7918"/>
                  <a:pt x="74950" y="4763"/>
                  <a:pt x="80546" y="4763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2" name="Text 49"/>
          <p:cNvSpPr/>
          <p:nvPr/>
        </p:nvSpPr>
        <p:spPr>
          <a:xfrm>
            <a:off x="7117060" y="4457700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155160" y="4762500"/>
            <a:ext cx="458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适合高维数据，泛化能力强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7155160" y="5029200"/>
            <a:ext cx="458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对小样本学习效果好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945610" y="5372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6" name="Text 53"/>
          <p:cNvSpPr/>
          <p:nvPr/>
        </p:nvSpPr>
        <p:spPr>
          <a:xfrm>
            <a:off x="7117060" y="5334000"/>
            <a:ext cx="4619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7155160" y="5638800"/>
            <a:ext cx="458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计算复杂度高，训练速度慢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7155160" y="5905500"/>
            <a:ext cx="4581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核函数选择困难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05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 神经网络在复购预测中的应用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神经网络复购预测模型构建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375" y="984250"/>
            <a:ext cx="5699125" cy="3587750"/>
          </a:xfrm>
          <a:custGeom>
            <a:avLst/>
            <a:gdLst/>
            <a:ahLst/>
            <a:cxnLst/>
            <a:rect l="l" t="t" r="r" b="b"/>
            <a:pathLst>
              <a:path w="5699125" h="3587750">
                <a:moveTo>
                  <a:pt x="31750" y="0"/>
                </a:moveTo>
                <a:lnTo>
                  <a:pt x="5603870" y="0"/>
                </a:lnTo>
                <a:cubicBezTo>
                  <a:pt x="5656478" y="0"/>
                  <a:pt x="5699125" y="42647"/>
                  <a:pt x="5699125" y="95255"/>
                </a:cubicBezTo>
                <a:lnTo>
                  <a:pt x="5699125" y="3492495"/>
                </a:lnTo>
                <a:cubicBezTo>
                  <a:pt x="5699125" y="3545103"/>
                  <a:pt x="5656478" y="3587750"/>
                  <a:pt x="5603870" y="3587750"/>
                </a:cubicBezTo>
                <a:lnTo>
                  <a:pt x="31750" y="3587750"/>
                </a:lnTo>
                <a:cubicBezTo>
                  <a:pt x="14227" y="3587750"/>
                  <a:pt x="0" y="3573523"/>
                  <a:pt x="0" y="355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33375" y="984250"/>
            <a:ext cx="31750" cy="3587750"/>
          </a:xfrm>
          <a:custGeom>
            <a:avLst/>
            <a:gdLst/>
            <a:ahLst/>
            <a:cxnLst/>
            <a:rect l="l" t="t" r="r" b="b"/>
            <a:pathLst>
              <a:path w="31750" h="3587750">
                <a:moveTo>
                  <a:pt x="31750" y="0"/>
                </a:moveTo>
                <a:lnTo>
                  <a:pt x="31750" y="0"/>
                </a:lnTo>
                <a:lnTo>
                  <a:pt x="31750" y="3587750"/>
                </a:lnTo>
                <a:lnTo>
                  <a:pt x="31750" y="3587750"/>
                </a:lnTo>
                <a:cubicBezTo>
                  <a:pt x="14227" y="3587750"/>
                  <a:pt x="0" y="3573523"/>
                  <a:pt x="0" y="3556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" name="Text 4"/>
          <p:cNvSpPr/>
          <p:nvPr/>
        </p:nvSpPr>
        <p:spPr>
          <a:xfrm>
            <a:off x="476250" y="1111250"/>
            <a:ext cx="552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预测目标与输入特征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6250" y="1460500"/>
            <a:ext cx="5429250" cy="635000"/>
          </a:xfrm>
          <a:custGeom>
            <a:avLst/>
            <a:gdLst/>
            <a:ahLst/>
            <a:cxnLst/>
            <a:rect l="l" t="t" r="r" b="b"/>
            <a:pathLst>
              <a:path w="5429250" h="635000">
                <a:moveTo>
                  <a:pt x="63500" y="0"/>
                </a:moveTo>
                <a:lnTo>
                  <a:pt x="5365750" y="0"/>
                </a:lnTo>
                <a:cubicBezTo>
                  <a:pt x="5400797" y="0"/>
                  <a:pt x="5429250" y="28453"/>
                  <a:pt x="5429250" y="63500"/>
                </a:cubicBezTo>
                <a:lnTo>
                  <a:pt x="5429250" y="571500"/>
                </a:lnTo>
                <a:cubicBezTo>
                  <a:pt x="5429250" y="606547"/>
                  <a:pt x="5400797" y="635000"/>
                  <a:pt x="536575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571500" y="1555750"/>
            <a:ext cx="530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预测目标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71500" y="1809750"/>
            <a:ext cx="5302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预测用户在未来</a:t>
            </a:r>
            <a:r>
              <a:rPr lang="en-US" sz="100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30天内</a:t>
            </a: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是否会再次购买（二分类问题）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6250" y="2190750"/>
            <a:ext cx="2667000" cy="1079500"/>
          </a:xfrm>
          <a:custGeom>
            <a:avLst/>
            <a:gdLst/>
            <a:ahLst/>
            <a:cxnLst/>
            <a:rect l="l" t="t" r="r" b="b"/>
            <a:pathLst>
              <a:path w="2667000" h="1079500">
                <a:moveTo>
                  <a:pt x="63496" y="0"/>
                </a:moveTo>
                <a:lnTo>
                  <a:pt x="2603504" y="0"/>
                </a:lnTo>
                <a:cubicBezTo>
                  <a:pt x="2638572" y="0"/>
                  <a:pt x="2667000" y="28428"/>
                  <a:pt x="2667000" y="63496"/>
                </a:cubicBezTo>
                <a:lnTo>
                  <a:pt x="2667000" y="1016004"/>
                </a:lnTo>
                <a:cubicBezTo>
                  <a:pt x="2667000" y="1051072"/>
                  <a:pt x="2638572" y="1079500"/>
                  <a:pt x="2603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571500" y="2286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用户特征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2540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用户ID、注册时间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" y="2762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会员等级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1500" y="29845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历史购买次数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38500" y="2190750"/>
            <a:ext cx="2667000" cy="1079500"/>
          </a:xfrm>
          <a:custGeom>
            <a:avLst/>
            <a:gdLst/>
            <a:ahLst/>
            <a:cxnLst/>
            <a:rect l="l" t="t" r="r" b="b"/>
            <a:pathLst>
              <a:path w="2667000" h="1079500">
                <a:moveTo>
                  <a:pt x="63496" y="0"/>
                </a:moveTo>
                <a:lnTo>
                  <a:pt x="2603504" y="0"/>
                </a:lnTo>
                <a:cubicBezTo>
                  <a:pt x="2638572" y="0"/>
                  <a:pt x="2667000" y="28428"/>
                  <a:pt x="2667000" y="63496"/>
                </a:cubicBezTo>
                <a:lnTo>
                  <a:pt x="2667000" y="1016004"/>
                </a:lnTo>
                <a:cubicBezTo>
                  <a:pt x="2667000" y="1051072"/>
                  <a:pt x="2638572" y="1079500"/>
                  <a:pt x="2603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3333750" y="2286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商品特征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333750" y="2540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商品ID、类别、品牌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333750" y="2762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价格区间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6250" y="3365500"/>
            <a:ext cx="2667000" cy="1079500"/>
          </a:xfrm>
          <a:custGeom>
            <a:avLst/>
            <a:gdLst/>
            <a:ahLst/>
            <a:cxnLst/>
            <a:rect l="l" t="t" r="r" b="b"/>
            <a:pathLst>
              <a:path w="2667000" h="1079500">
                <a:moveTo>
                  <a:pt x="63496" y="0"/>
                </a:moveTo>
                <a:lnTo>
                  <a:pt x="2603504" y="0"/>
                </a:lnTo>
                <a:cubicBezTo>
                  <a:pt x="2638572" y="0"/>
                  <a:pt x="2667000" y="28428"/>
                  <a:pt x="2667000" y="63496"/>
                </a:cubicBezTo>
                <a:lnTo>
                  <a:pt x="2667000" y="1016004"/>
                </a:lnTo>
                <a:cubicBezTo>
                  <a:pt x="2667000" y="1051072"/>
                  <a:pt x="2638572" y="1079500"/>
                  <a:pt x="2603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571500" y="34607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交互特征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1500" y="37147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最近浏览时间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71500" y="3937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加购物车次数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71500" y="4159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收藏商品数量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238500" y="3365500"/>
            <a:ext cx="2667000" cy="1079500"/>
          </a:xfrm>
          <a:custGeom>
            <a:avLst/>
            <a:gdLst/>
            <a:ahLst/>
            <a:cxnLst/>
            <a:rect l="l" t="t" r="r" b="b"/>
            <a:pathLst>
              <a:path w="2667000" h="1079500">
                <a:moveTo>
                  <a:pt x="63496" y="0"/>
                </a:moveTo>
                <a:lnTo>
                  <a:pt x="2603504" y="0"/>
                </a:lnTo>
                <a:cubicBezTo>
                  <a:pt x="2638572" y="0"/>
                  <a:pt x="2667000" y="28428"/>
                  <a:pt x="2667000" y="63496"/>
                </a:cubicBezTo>
                <a:lnTo>
                  <a:pt x="2667000" y="1016004"/>
                </a:lnTo>
                <a:cubicBezTo>
                  <a:pt x="2667000" y="1051072"/>
                  <a:pt x="2638572" y="1079500"/>
                  <a:pt x="2603504" y="1079500"/>
                </a:cubicBezTo>
                <a:lnTo>
                  <a:pt x="63496" y="1079500"/>
                </a:lnTo>
                <a:cubicBezTo>
                  <a:pt x="28428" y="1079500"/>
                  <a:pt x="0" y="1051072"/>
                  <a:pt x="0" y="101600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3333750" y="34607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时间特征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333750" y="37147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购买周期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33750" y="3937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季节性偏好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33375" y="4667250"/>
            <a:ext cx="5699125" cy="2127250"/>
          </a:xfrm>
          <a:custGeom>
            <a:avLst/>
            <a:gdLst/>
            <a:ahLst/>
            <a:cxnLst/>
            <a:rect l="l" t="t" r="r" b="b"/>
            <a:pathLst>
              <a:path w="5699125" h="2127250">
                <a:moveTo>
                  <a:pt x="31750" y="0"/>
                </a:moveTo>
                <a:lnTo>
                  <a:pt x="5603867" y="0"/>
                </a:lnTo>
                <a:cubicBezTo>
                  <a:pt x="5656476" y="0"/>
                  <a:pt x="5699125" y="42649"/>
                  <a:pt x="5699125" y="95258"/>
                </a:cubicBezTo>
                <a:lnTo>
                  <a:pt x="5699125" y="2031992"/>
                </a:lnTo>
                <a:cubicBezTo>
                  <a:pt x="5699125" y="2084601"/>
                  <a:pt x="5656476" y="2127250"/>
                  <a:pt x="5603867" y="2127250"/>
                </a:cubicBezTo>
                <a:lnTo>
                  <a:pt x="31750" y="2127250"/>
                </a:lnTo>
                <a:cubicBezTo>
                  <a:pt x="14227" y="2127250"/>
                  <a:pt x="0" y="2113023"/>
                  <a:pt x="0" y="209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33375" y="4667250"/>
            <a:ext cx="31750" cy="2127250"/>
          </a:xfrm>
          <a:custGeom>
            <a:avLst/>
            <a:gdLst/>
            <a:ahLst/>
            <a:cxnLst/>
            <a:rect l="l" t="t" r="r" b="b"/>
            <a:pathLst>
              <a:path w="31750" h="2127250">
                <a:moveTo>
                  <a:pt x="31750" y="0"/>
                </a:moveTo>
                <a:lnTo>
                  <a:pt x="31750" y="0"/>
                </a:lnTo>
                <a:lnTo>
                  <a:pt x="31750" y="2127250"/>
                </a:lnTo>
                <a:lnTo>
                  <a:pt x="31750" y="2127250"/>
                </a:lnTo>
                <a:cubicBezTo>
                  <a:pt x="14227" y="2127250"/>
                  <a:pt x="0" y="2113023"/>
                  <a:pt x="0" y="2095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1" name="Text 28"/>
          <p:cNvSpPr/>
          <p:nvPr/>
        </p:nvSpPr>
        <p:spPr>
          <a:xfrm>
            <a:off x="476250" y="4794250"/>
            <a:ext cx="55086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模型训练策略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76250" y="5111750"/>
            <a:ext cx="2667000" cy="635000"/>
          </a:xfrm>
          <a:custGeom>
            <a:avLst/>
            <a:gdLst/>
            <a:ahLst/>
            <a:cxnLst/>
            <a:rect l="l" t="t" r="r" b="b"/>
            <a:pathLst>
              <a:path w="2667000" h="635000">
                <a:moveTo>
                  <a:pt x="63500" y="0"/>
                </a:moveTo>
                <a:lnTo>
                  <a:pt x="2603500" y="0"/>
                </a:lnTo>
                <a:cubicBezTo>
                  <a:pt x="2638547" y="0"/>
                  <a:pt x="2667000" y="28453"/>
                  <a:pt x="2667000" y="63500"/>
                </a:cubicBezTo>
                <a:lnTo>
                  <a:pt x="2667000" y="571500"/>
                </a:lnTo>
                <a:cubicBezTo>
                  <a:pt x="2667000" y="606547"/>
                  <a:pt x="2638547" y="635000"/>
                  <a:pt x="260350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571500" y="5207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优化器选择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71500" y="5461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Adam优化器</a:t>
            </a: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，自适应学习率，收敛速度快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238500" y="5111750"/>
            <a:ext cx="2667000" cy="635000"/>
          </a:xfrm>
          <a:custGeom>
            <a:avLst/>
            <a:gdLst/>
            <a:ahLst/>
            <a:cxnLst/>
            <a:rect l="l" t="t" r="r" b="b"/>
            <a:pathLst>
              <a:path w="2667000" h="635000">
                <a:moveTo>
                  <a:pt x="63500" y="0"/>
                </a:moveTo>
                <a:lnTo>
                  <a:pt x="2603500" y="0"/>
                </a:lnTo>
                <a:cubicBezTo>
                  <a:pt x="2638547" y="0"/>
                  <a:pt x="2667000" y="28453"/>
                  <a:pt x="2667000" y="63500"/>
                </a:cubicBezTo>
                <a:lnTo>
                  <a:pt x="2667000" y="571500"/>
                </a:lnTo>
                <a:cubicBezTo>
                  <a:pt x="2667000" y="606547"/>
                  <a:pt x="2638547" y="635000"/>
                  <a:pt x="2603500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3333750" y="5207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批处理大小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33750" y="546100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Batch Size = 32</a:t>
            </a: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，平衡训练速度和稳定性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76250" y="5842000"/>
            <a:ext cx="2667000" cy="825500"/>
          </a:xfrm>
          <a:custGeom>
            <a:avLst/>
            <a:gdLst/>
            <a:ahLst/>
            <a:cxnLst/>
            <a:rect l="l" t="t" r="r" b="b"/>
            <a:pathLst>
              <a:path w="2667000" h="825500">
                <a:moveTo>
                  <a:pt x="63497" y="0"/>
                </a:moveTo>
                <a:lnTo>
                  <a:pt x="2603503" y="0"/>
                </a:lnTo>
                <a:cubicBezTo>
                  <a:pt x="2638571" y="0"/>
                  <a:pt x="2667000" y="28429"/>
                  <a:pt x="2667000" y="63497"/>
                </a:cubicBezTo>
                <a:lnTo>
                  <a:pt x="2667000" y="762003"/>
                </a:lnTo>
                <a:cubicBezTo>
                  <a:pt x="2667000" y="797071"/>
                  <a:pt x="2638571" y="825500"/>
                  <a:pt x="2603503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571500" y="5937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早停策略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571500" y="6191250"/>
            <a:ext cx="2540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Early Stopping</a:t>
            </a: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，防止过拟合，提升泛化能力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238500" y="5842000"/>
            <a:ext cx="2667000" cy="825500"/>
          </a:xfrm>
          <a:custGeom>
            <a:avLst/>
            <a:gdLst/>
            <a:ahLst/>
            <a:cxnLst/>
            <a:rect l="l" t="t" r="r" b="b"/>
            <a:pathLst>
              <a:path w="2667000" h="825500">
                <a:moveTo>
                  <a:pt x="63497" y="0"/>
                </a:moveTo>
                <a:lnTo>
                  <a:pt x="2603503" y="0"/>
                </a:lnTo>
                <a:cubicBezTo>
                  <a:pt x="2638571" y="0"/>
                  <a:pt x="2667000" y="28429"/>
                  <a:pt x="2667000" y="63497"/>
                </a:cubicBezTo>
                <a:lnTo>
                  <a:pt x="2667000" y="762003"/>
                </a:lnTo>
                <a:cubicBezTo>
                  <a:pt x="2667000" y="797071"/>
                  <a:pt x="2638571" y="825500"/>
                  <a:pt x="2603503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3333750" y="5937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Dropout正则化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333750" y="6191250"/>
            <a:ext cx="2540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随机丢弃神经元，避免过拟合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59500" y="984250"/>
            <a:ext cx="5715000" cy="3714750"/>
          </a:xfrm>
          <a:custGeom>
            <a:avLst/>
            <a:gdLst/>
            <a:ahLst/>
            <a:cxnLst/>
            <a:rect l="l" t="t" r="r" b="b"/>
            <a:pathLst>
              <a:path w="5715000" h="3714750">
                <a:moveTo>
                  <a:pt x="95246" y="0"/>
                </a:moveTo>
                <a:lnTo>
                  <a:pt x="5619754" y="0"/>
                </a:lnTo>
                <a:cubicBezTo>
                  <a:pt x="5672357" y="0"/>
                  <a:pt x="5715000" y="42643"/>
                  <a:pt x="5715000" y="95246"/>
                </a:cubicBezTo>
                <a:lnTo>
                  <a:pt x="5715000" y="3619504"/>
                </a:lnTo>
                <a:cubicBezTo>
                  <a:pt x="5715000" y="3672107"/>
                  <a:pt x="5672357" y="3714750"/>
                  <a:pt x="5619754" y="3714750"/>
                </a:cubicBezTo>
                <a:lnTo>
                  <a:pt x="95246" y="3714750"/>
                </a:lnTo>
                <a:cubicBezTo>
                  <a:pt x="42643" y="3714750"/>
                  <a:pt x="0" y="3672107"/>
                  <a:pt x="0" y="3619504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286500" y="1111250"/>
            <a:ext cx="5540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BP神经网络结构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286500" y="1428750"/>
            <a:ext cx="5461000" cy="2508250"/>
          </a:xfrm>
          <a:custGeom>
            <a:avLst/>
            <a:gdLst/>
            <a:ahLst/>
            <a:cxnLst/>
            <a:rect l="l" t="t" r="r" b="b"/>
            <a:pathLst>
              <a:path w="5461000" h="2508250">
                <a:moveTo>
                  <a:pt x="63509" y="0"/>
                </a:moveTo>
                <a:lnTo>
                  <a:pt x="5397491" y="0"/>
                </a:lnTo>
                <a:cubicBezTo>
                  <a:pt x="5432566" y="0"/>
                  <a:pt x="5461000" y="28434"/>
                  <a:pt x="5461000" y="63509"/>
                </a:cubicBezTo>
                <a:lnTo>
                  <a:pt x="5461000" y="2444741"/>
                </a:lnTo>
                <a:cubicBezTo>
                  <a:pt x="5461000" y="2479816"/>
                  <a:pt x="5432566" y="2508250"/>
                  <a:pt x="5397491" y="2508250"/>
                </a:cubicBezTo>
                <a:lnTo>
                  <a:pt x="63509" y="2508250"/>
                </a:lnTo>
                <a:cubicBezTo>
                  <a:pt x="28434" y="2508250"/>
                  <a:pt x="0" y="2479816"/>
                  <a:pt x="0" y="2444741"/>
                </a:cubicBezTo>
                <a:lnTo>
                  <a:pt x="0" y="63509"/>
                </a:lnTo>
                <a:cubicBezTo>
                  <a:pt x="0" y="28434"/>
                  <a:pt x="28434" y="0"/>
                  <a:pt x="6350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6381750" y="1524000"/>
            <a:ext cx="5270500" cy="317500"/>
          </a:xfrm>
          <a:custGeom>
            <a:avLst/>
            <a:gdLst/>
            <a:ahLst/>
            <a:cxnLst/>
            <a:rect l="l" t="t" r="r" b="b"/>
            <a:pathLst>
              <a:path w="5270500" h="317500">
                <a:moveTo>
                  <a:pt x="31750" y="0"/>
                </a:moveTo>
                <a:lnTo>
                  <a:pt x="5238750" y="0"/>
                </a:lnTo>
                <a:cubicBezTo>
                  <a:pt x="5256273" y="0"/>
                  <a:pt x="5270500" y="14227"/>
                  <a:pt x="5270500" y="31750"/>
                </a:cubicBezTo>
                <a:lnTo>
                  <a:pt x="5270500" y="285750"/>
                </a:lnTo>
                <a:cubicBezTo>
                  <a:pt x="5270500" y="303273"/>
                  <a:pt x="5256273" y="317500"/>
                  <a:pt x="5238750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8" name="Text 45"/>
          <p:cNvSpPr/>
          <p:nvPr/>
        </p:nvSpPr>
        <p:spPr>
          <a:xfrm>
            <a:off x="6445250" y="15875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11080750" y="1587500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特征维度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342063" y="1873250"/>
            <a:ext cx="534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81750" y="2127250"/>
            <a:ext cx="5270500" cy="381000"/>
          </a:xfrm>
          <a:custGeom>
            <a:avLst/>
            <a:gdLst/>
            <a:ahLst/>
            <a:cxnLst/>
            <a:rect l="l" t="t" r="r" b="b"/>
            <a:pathLst>
              <a:path w="5270500" h="381000">
                <a:moveTo>
                  <a:pt x="31749" y="0"/>
                </a:moveTo>
                <a:lnTo>
                  <a:pt x="5238751" y="0"/>
                </a:lnTo>
                <a:cubicBezTo>
                  <a:pt x="5256286" y="0"/>
                  <a:pt x="5270500" y="14214"/>
                  <a:pt x="5270500" y="31749"/>
                </a:cubicBezTo>
                <a:lnTo>
                  <a:pt x="5270500" y="349251"/>
                </a:lnTo>
                <a:cubicBezTo>
                  <a:pt x="5270500" y="366786"/>
                  <a:pt x="5256286" y="381000"/>
                  <a:pt x="52387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2" name="Text 49"/>
          <p:cNvSpPr/>
          <p:nvPr/>
        </p:nvSpPr>
        <p:spPr>
          <a:xfrm>
            <a:off x="6445250" y="2222500"/>
            <a:ext cx="49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隐藏层1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0816828" y="2190750"/>
            <a:ext cx="769938" cy="254000"/>
          </a:xfrm>
          <a:custGeom>
            <a:avLst/>
            <a:gdLst/>
            <a:ahLst/>
            <a:cxnLst/>
            <a:rect l="l" t="t" r="r" b="b"/>
            <a:pathLst>
              <a:path w="769938" h="254000">
                <a:moveTo>
                  <a:pt x="127000" y="0"/>
                </a:moveTo>
                <a:lnTo>
                  <a:pt x="642938" y="0"/>
                </a:lnTo>
                <a:cubicBezTo>
                  <a:pt x="713031" y="0"/>
                  <a:pt x="769938" y="56907"/>
                  <a:pt x="769938" y="127000"/>
                </a:cubicBezTo>
                <a:lnTo>
                  <a:pt x="769938" y="127000"/>
                </a:lnTo>
                <a:cubicBezTo>
                  <a:pt x="769938" y="197093"/>
                  <a:pt x="713031" y="254000"/>
                  <a:pt x="6429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4" name="Text 51"/>
          <p:cNvSpPr/>
          <p:nvPr/>
        </p:nvSpPr>
        <p:spPr>
          <a:xfrm>
            <a:off x="10816828" y="2190750"/>
            <a:ext cx="833438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128神经元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342063" y="2540000"/>
            <a:ext cx="534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81750" y="2794000"/>
            <a:ext cx="5270500" cy="381000"/>
          </a:xfrm>
          <a:custGeom>
            <a:avLst/>
            <a:gdLst/>
            <a:ahLst/>
            <a:cxnLst/>
            <a:rect l="l" t="t" r="r" b="b"/>
            <a:pathLst>
              <a:path w="5270500" h="381000">
                <a:moveTo>
                  <a:pt x="31749" y="0"/>
                </a:moveTo>
                <a:lnTo>
                  <a:pt x="5238751" y="0"/>
                </a:lnTo>
                <a:cubicBezTo>
                  <a:pt x="5256286" y="0"/>
                  <a:pt x="5270500" y="14214"/>
                  <a:pt x="5270500" y="31749"/>
                </a:cubicBezTo>
                <a:lnTo>
                  <a:pt x="5270500" y="349251"/>
                </a:lnTo>
                <a:cubicBezTo>
                  <a:pt x="5270500" y="366786"/>
                  <a:pt x="5256286" y="381000"/>
                  <a:pt x="52387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7" name="Text 54"/>
          <p:cNvSpPr/>
          <p:nvPr/>
        </p:nvSpPr>
        <p:spPr>
          <a:xfrm>
            <a:off x="6445250" y="2889250"/>
            <a:ext cx="515938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隐藏层2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0866438" y="2857500"/>
            <a:ext cx="722313" cy="254000"/>
          </a:xfrm>
          <a:custGeom>
            <a:avLst/>
            <a:gdLst/>
            <a:ahLst/>
            <a:cxnLst/>
            <a:rect l="l" t="t" r="r" b="b"/>
            <a:pathLst>
              <a:path w="722313" h="254000">
                <a:moveTo>
                  <a:pt x="127000" y="0"/>
                </a:moveTo>
                <a:lnTo>
                  <a:pt x="595313" y="0"/>
                </a:lnTo>
                <a:cubicBezTo>
                  <a:pt x="665406" y="0"/>
                  <a:pt x="722313" y="56907"/>
                  <a:pt x="722313" y="127000"/>
                </a:cubicBezTo>
                <a:lnTo>
                  <a:pt x="722313" y="127000"/>
                </a:lnTo>
                <a:cubicBezTo>
                  <a:pt x="722313" y="197093"/>
                  <a:pt x="665406" y="254000"/>
                  <a:pt x="595313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9" name="Text 56"/>
          <p:cNvSpPr/>
          <p:nvPr/>
        </p:nvSpPr>
        <p:spPr>
          <a:xfrm>
            <a:off x="10866438" y="2857500"/>
            <a:ext cx="785813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64神经元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342063" y="3206750"/>
            <a:ext cx="53498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↓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81750" y="3460750"/>
            <a:ext cx="5270500" cy="381000"/>
          </a:xfrm>
          <a:custGeom>
            <a:avLst/>
            <a:gdLst/>
            <a:ahLst/>
            <a:cxnLst/>
            <a:rect l="l" t="t" r="r" b="b"/>
            <a:pathLst>
              <a:path w="5270500" h="381000">
                <a:moveTo>
                  <a:pt x="31749" y="0"/>
                </a:moveTo>
                <a:lnTo>
                  <a:pt x="5238751" y="0"/>
                </a:lnTo>
                <a:cubicBezTo>
                  <a:pt x="5256286" y="0"/>
                  <a:pt x="5270500" y="14214"/>
                  <a:pt x="5270500" y="31749"/>
                </a:cubicBezTo>
                <a:lnTo>
                  <a:pt x="5270500" y="349251"/>
                </a:lnTo>
                <a:cubicBezTo>
                  <a:pt x="5270500" y="366786"/>
                  <a:pt x="5256286" y="381000"/>
                  <a:pt x="5238751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2" name="Text 59"/>
          <p:cNvSpPr/>
          <p:nvPr/>
        </p:nvSpPr>
        <p:spPr>
          <a:xfrm>
            <a:off x="6445250" y="3556000"/>
            <a:ext cx="44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输出层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10945813" y="3524250"/>
            <a:ext cx="642938" cy="254000"/>
          </a:xfrm>
          <a:custGeom>
            <a:avLst/>
            <a:gdLst/>
            <a:ahLst/>
            <a:cxnLst/>
            <a:rect l="l" t="t" r="r" b="b"/>
            <a:pathLst>
              <a:path w="642938" h="254000">
                <a:moveTo>
                  <a:pt x="127000" y="0"/>
                </a:moveTo>
                <a:lnTo>
                  <a:pt x="515938" y="0"/>
                </a:lnTo>
                <a:cubicBezTo>
                  <a:pt x="586031" y="0"/>
                  <a:pt x="642938" y="56907"/>
                  <a:pt x="642938" y="127000"/>
                </a:cubicBezTo>
                <a:lnTo>
                  <a:pt x="642938" y="127000"/>
                </a:lnTo>
                <a:cubicBezTo>
                  <a:pt x="642938" y="197093"/>
                  <a:pt x="586031" y="254000"/>
                  <a:pt x="515938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64" name="Text 61"/>
          <p:cNvSpPr/>
          <p:nvPr/>
        </p:nvSpPr>
        <p:spPr>
          <a:xfrm>
            <a:off x="10945813" y="3524250"/>
            <a:ext cx="706438" cy="25400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2神经元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286500" y="4032250"/>
            <a:ext cx="2698750" cy="539750"/>
          </a:xfrm>
          <a:custGeom>
            <a:avLst/>
            <a:gdLst/>
            <a:ahLst/>
            <a:cxnLst/>
            <a:rect l="l" t="t" r="r" b="b"/>
            <a:pathLst>
              <a:path w="2698750" h="539750">
                <a:moveTo>
                  <a:pt x="63502" y="0"/>
                </a:moveTo>
                <a:lnTo>
                  <a:pt x="2635248" y="0"/>
                </a:lnTo>
                <a:cubicBezTo>
                  <a:pt x="2670319" y="0"/>
                  <a:pt x="2698750" y="28431"/>
                  <a:pt x="2698750" y="63502"/>
                </a:cubicBezTo>
                <a:lnTo>
                  <a:pt x="2698750" y="476248"/>
                </a:lnTo>
                <a:cubicBezTo>
                  <a:pt x="2698750" y="511319"/>
                  <a:pt x="2670319" y="539750"/>
                  <a:pt x="2635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66" name="Text 63"/>
          <p:cNvSpPr/>
          <p:nvPr/>
        </p:nvSpPr>
        <p:spPr>
          <a:xfrm>
            <a:off x="6318250" y="4095750"/>
            <a:ext cx="263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7385265" y="4296831"/>
            <a:ext cx="501220" cy="232833"/>
          </a:xfrm>
          <a:custGeom>
            <a:avLst/>
            <a:gdLst/>
            <a:ahLst/>
            <a:cxnLst/>
            <a:rect l="l" t="t" r="r" b="b"/>
            <a:pathLst>
              <a:path w="501220" h="232833">
                <a:moveTo>
                  <a:pt x="116417" y="0"/>
                </a:moveTo>
                <a:lnTo>
                  <a:pt x="384803" y="0"/>
                </a:lnTo>
                <a:cubicBezTo>
                  <a:pt x="449056" y="0"/>
                  <a:pt x="501220" y="52165"/>
                  <a:pt x="501220" y="116417"/>
                </a:cubicBezTo>
                <a:lnTo>
                  <a:pt x="501220" y="116417"/>
                </a:lnTo>
                <a:cubicBezTo>
                  <a:pt x="501220" y="180669"/>
                  <a:pt x="449056" y="232833"/>
                  <a:pt x="384803" y="232833"/>
                </a:cubicBezTo>
                <a:lnTo>
                  <a:pt x="116417" y="232833"/>
                </a:lnTo>
                <a:cubicBezTo>
                  <a:pt x="52165" y="232833"/>
                  <a:pt x="0" y="180669"/>
                  <a:pt x="0" y="116417"/>
                </a:cubicBezTo>
                <a:lnTo>
                  <a:pt x="0" y="116417"/>
                </a:lnTo>
                <a:cubicBezTo>
                  <a:pt x="0" y="52165"/>
                  <a:pt x="52165" y="0"/>
                  <a:pt x="116417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8" name="Text 65"/>
          <p:cNvSpPr/>
          <p:nvPr/>
        </p:nvSpPr>
        <p:spPr>
          <a:xfrm>
            <a:off x="7353515" y="4296831"/>
            <a:ext cx="564720" cy="232833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ReLU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9048750" y="4032250"/>
            <a:ext cx="2698750" cy="539750"/>
          </a:xfrm>
          <a:custGeom>
            <a:avLst/>
            <a:gdLst/>
            <a:ahLst/>
            <a:cxnLst/>
            <a:rect l="l" t="t" r="r" b="b"/>
            <a:pathLst>
              <a:path w="2698750" h="539750">
                <a:moveTo>
                  <a:pt x="63502" y="0"/>
                </a:moveTo>
                <a:lnTo>
                  <a:pt x="2635248" y="0"/>
                </a:lnTo>
                <a:cubicBezTo>
                  <a:pt x="2670319" y="0"/>
                  <a:pt x="2698750" y="28431"/>
                  <a:pt x="2698750" y="63502"/>
                </a:cubicBezTo>
                <a:lnTo>
                  <a:pt x="2698750" y="476248"/>
                </a:lnTo>
                <a:cubicBezTo>
                  <a:pt x="2698750" y="511319"/>
                  <a:pt x="2670319" y="539750"/>
                  <a:pt x="2635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70" name="Text 67"/>
          <p:cNvSpPr/>
          <p:nvPr/>
        </p:nvSpPr>
        <p:spPr>
          <a:xfrm>
            <a:off x="9080500" y="4095750"/>
            <a:ext cx="2635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学习率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10101957" y="4296831"/>
            <a:ext cx="592336" cy="232833"/>
          </a:xfrm>
          <a:custGeom>
            <a:avLst/>
            <a:gdLst/>
            <a:ahLst/>
            <a:cxnLst/>
            <a:rect l="l" t="t" r="r" b="b"/>
            <a:pathLst>
              <a:path w="592336" h="232833">
                <a:moveTo>
                  <a:pt x="116417" y="0"/>
                </a:moveTo>
                <a:lnTo>
                  <a:pt x="475919" y="0"/>
                </a:lnTo>
                <a:cubicBezTo>
                  <a:pt x="540171" y="0"/>
                  <a:pt x="592336" y="52165"/>
                  <a:pt x="592336" y="116417"/>
                </a:cubicBezTo>
                <a:lnTo>
                  <a:pt x="592336" y="116417"/>
                </a:lnTo>
                <a:cubicBezTo>
                  <a:pt x="592336" y="180669"/>
                  <a:pt x="540171" y="232833"/>
                  <a:pt x="475919" y="232833"/>
                </a:cubicBezTo>
                <a:lnTo>
                  <a:pt x="116417" y="232833"/>
                </a:lnTo>
                <a:cubicBezTo>
                  <a:pt x="52165" y="232833"/>
                  <a:pt x="0" y="180669"/>
                  <a:pt x="0" y="116417"/>
                </a:cubicBezTo>
                <a:lnTo>
                  <a:pt x="0" y="116417"/>
                </a:lnTo>
                <a:cubicBezTo>
                  <a:pt x="0" y="52165"/>
                  <a:pt x="52165" y="0"/>
                  <a:pt x="116417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2" name="Text 69"/>
          <p:cNvSpPr/>
          <p:nvPr/>
        </p:nvSpPr>
        <p:spPr>
          <a:xfrm>
            <a:off x="10070207" y="4296831"/>
            <a:ext cx="655836" cy="232833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0.0001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6162146" y="4796896"/>
            <a:ext cx="5712354" cy="1688042"/>
          </a:xfrm>
          <a:custGeom>
            <a:avLst/>
            <a:gdLst/>
            <a:ahLst/>
            <a:cxnLst/>
            <a:rect l="l" t="t" r="r" b="b"/>
            <a:pathLst>
              <a:path w="5712354" h="1688042">
                <a:moveTo>
                  <a:pt x="95256" y="0"/>
                </a:moveTo>
                <a:lnTo>
                  <a:pt x="5617098" y="0"/>
                </a:lnTo>
                <a:cubicBezTo>
                  <a:pt x="5669707" y="0"/>
                  <a:pt x="5712354" y="42648"/>
                  <a:pt x="5712354" y="95256"/>
                </a:cubicBezTo>
                <a:lnTo>
                  <a:pt x="5712354" y="1592785"/>
                </a:lnTo>
                <a:cubicBezTo>
                  <a:pt x="5712354" y="1645394"/>
                  <a:pt x="5669707" y="1688042"/>
                  <a:pt x="5617098" y="1688042"/>
                </a:cubicBezTo>
                <a:lnTo>
                  <a:pt x="95256" y="1688042"/>
                </a:lnTo>
                <a:cubicBezTo>
                  <a:pt x="42648" y="1688042"/>
                  <a:pt x="0" y="1645394"/>
                  <a:pt x="0" y="1592785"/>
                </a:cubicBezTo>
                <a:lnTo>
                  <a:pt x="0" y="95256"/>
                </a:lnTo>
                <a:cubicBezTo>
                  <a:pt x="0" y="42648"/>
                  <a:pt x="42648" y="0"/>
                  <a:pt x="95256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  <a:ln w="8467">
            <a:solidFill>
              <a:srgbClr val="8FA7D0">
                <a:alpha val="20000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260042" y="4894786"/>
            <a:ext cx="55880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神经网络优势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6279886" y="521228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6" name="Text 73"/>
          <p:cNvSpPr/>
          <p:nvPr/>
        </p:nvSpPr>
        <p:spPr>
          <a:xfrm>
            <a:off x="6502136" y="5180536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自动特征学习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6502136" y="5371036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自动学习特征组合，减少人工干预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6279886" y="562503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79" name="Text 76"/>
          <p:cNvSpPr/>
          <p:nvPr/>
        </p:nvSpPr>
        <p:spPr>
          <a:xfrm>
            <a:off x="6502136" y="5593286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强大的非线性能力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6502136" y="5783786"/>
            <a:ext cx="196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多层神经网络可逼近任意复杂函数</a:t>
            </a: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6279886" y="6037786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2" name="Text 79"/>
          <p:cNvSpPr/>
          <p:nvPr/>
        </p:nvSpPr>
        <p:spPr>
          <a:xfrm>
            <a:off x="6502136" y="6006036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适合大规模数据</a:t>
            </a:r>
            <a:endParaRPr lang="en-US" sz="1600" dirty="0"/>
          </a:p>
        </p:txBody>
      </p:sp>
      <p:sp>
        <p:nvSpPr>
          <p:cNvPr id="83" name="Text 80"/>
          <p:cNvSpPr/>
          <p:nvPr/>
        </p:nvSpPr>
        <p:spPr>
          <a:xfrm>
            <a:off x="6502136" y="6196536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数据量越大，性能优势越明显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88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PREDICTION EFFECT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神经网络复购预测效果分析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375" y="984250"/>
            <a:ext cx="6270625" cy="2921000"/>
          </a:xfrm>
          <a:custGeom>
            <a:avLst/>
            <a:gdLst/>
            <a:ahLst/>
            <a:cxnLst/>
            <a:rect l="l" t="t" r="r" b="b"/>
            <a:pathLst>
              <a:path w="6270625" h="2921000">
                <a:moveTo>
                  <a:pt x="31750" y="0"/>
                </a:moveTo>
                <a:lnTo>
                  <a:pt x="6175371" y="0"/>
                </a:lnTo>
                <a:cubicBezTo>
                  <a:pt x="6227978" y="0"/>
                  <a:pt x="6270625" y="42647"/>
                  <a:pt x="6270625" y="95254"/>
                </a:cubicBezTo>
                <a:lnTo>
                  <a:pt x="6270625" y="2825746"/>
                </a:lnTo>
                <a:cubicBezTo>
                  <a:pt x="6270625" y="2878353"/>
                  <a:pt x="6227978" y="2921000"/>
                  <a:pt x="6175371" y="2921000"/>
                </a:cubicBezTo>
                <a:lnTo>
                  <a:pt x="31750" y="2921000"/>
                </a:lnTo>
                <a:cubicBezTo>
                  <a:pt x="14227" y="2921000"/>
                  <a:pt x="0" y="2906773"/>
                  <a:pt x="0" y="288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33375" y="984250"/>
            <a:ext cx="31750" cy="2921000"/>
          </a:xfrm>
          <a:custGeom>
            <a:avLst/>
            <a:gdLst/>
            <a:ahLst/>
            <a:cxnLst/>
            <a:rect l="l" t="t" r="r" b="b"/>
            <a:pathLst>
              <a:path w="31750" h="2921000">
                <a:moveTo>
                  <a:pt x="31750" y="0"/>
                </a:moveTo>
                <a:lnTo>
                  <a:pt x="31750" y="0"/>
                </a:lnTo>
                <a:lnTo>
                  <a:pt x="31750" y="2921000"/>
                </a:lnTo>
                <a:lnTo>
                  <a:pt x="31750" y="2921000"/>
                </a:lnTo>
                <a:cubicBezTo>
                  <a:pt x="14227" y="2921000"/>
                  <a:pt x="0" y="2906773"/>
                  <a:pt x="0" y="2889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" name="Text 4"/>
          <p:cNvSpPr/>
          <p:nvPr/>
        </p:nvSpPr>
        <p:spPr>
          <a:xfrm>
            <a:off x="476250" y="111125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模型性能对比 (10折交叉验证)</a:t>
            </a:r>
            <a:endParaRPr lang="en-US" sz="1600" dirty="0"/>
          </a:p>
        </p:txBody>
      </p:sp>
      <p:pic>
        <p:nvPicPr>
          <p:cNvPr id="8" name="Image 1" descr="https://kimi-img.moonshot.cn/pub/slides/25-12-23-15:22:46-d5546hique5ggcqj1olg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476250" y="1428750"/>
            <a:ext cx="4881563" cy="1746250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476250" y="3238500"/>
            <a:ext cx="6000750" cy="539750"/>
          </a:xfrm>
          <a:custGeom>
            <a:avLst/>
            <a:gdLst/>
            <a:ahLst/>
            <a:cxnLst/>
            <a:rect l="l" t="t" r="r" b="b"/>
            <a:pathLst>
              <a:path w="6000750" h="539750">
                <a:moveTo>
                  <a:pt x="63502" y="0"/>
                </a:moveTo>
                <a:lnTo>
                  <a:pt x="5937248" y="0"/>
                </a:lnTo>
                <a:cubicBezTo>
                  <a:pt x="5972319" y="0"/>
                  <a:pt x="6000750" y="28431"/>
                  <a:pt x="6000750" y="63502"/>
                </a:cubicBezTo>
                <a:lnTo>
                  <a:pt x="6000750" y="476248"/>
                </a:lnTo>
                <a:cubicBezTo>
                  <a:pt x="6000750" y="511319"/>
                  <a:pt x="5972319" y="539750"/>
                  <a:pt x="5937248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</p:spPr>
      </p:sp>
      <p:sp>
        <p:nvSpPr>
          <p:cNvPr id="10" name="Text 6"/>
          <p:cNvSpPr/>
          <p:nvPr/>
        </p:nvSpPr>
        <p:spPr>
          <a:xfrm>
            <a:off x="539750" y="3302000"/>
            <a:ext cx="593725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10折交叉验证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，BP神经网络在查准率、查全率、F1值、ROC值上</a:t>
            </a: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全面优于传统算法</a:t>
            </a:r>
            <a:r>
              <a:rPr lang="en-US" sz="10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，F1值稳定且波动小。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33375" y="4000500"/>
            <a:ext cx="6270625" cy="1508125"/>
          </a:xfrm>
          <a:custGeom>
            <a:avLst/>
            <a:gdLst/>
            <a:ahLst/>
            <a:cxnLst/>
            <a:rect l="l" t="t" r="r" b="b"/>
            <a:pathLst>
              <a:path w="6270625" h="1508125">
                <a:moveTo>
                  <a:pt x="31750" y="0"/>
                </a:moveTo>
                <a:lnTo>
                  <a:pt x="6175372" y="0"/>
                </a:lnTo>
                <a:cubicBezTo>
                  <a:pt x="6227979" y="0"/>
                  <a:pt x="6270625" y="42646"/>
                  <a:pt x="6270625" y="95253"/>
                </a:cubicBezTo>
                <a:lnTo>
                  <a:pt x="6270625" y="1412872"/>
                </a:lnTo>
                <a:cubicBezTo>
                  <a:pt x="6270625" y="1465479"/>
                  <a:pt x="6227979" y="1508125"/>
                  <a:pt x="6175372" y="1508125"/>
                </a:cubicBezTo>
                <a:lnTo>
                  <a:pt x="31750" y="1508125"/>
                </a:lnTo>
                <a:cubicBezTo>
                  <a:pt x="14215" y="1508125"/>
                  <a:pt x="0" y="1493910"/>
                  <a:pt x="0" y="147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375" y="4000500"/>
            <a:ext cx="31750" cy="1508125"/>
          </a:xfrm>
          <a:custGeom>
            <a:avLst/>
            <a:gdLst/>
            <a:ahLst/>
            <a:cxnLst/>
            <a:rect l="l" t="t" r="r" b="b"/>
            <a:pathLst>
              <a:path w="31750" h="1508125">
                <a:moveTo>
                  <a:pt x="31750" y="0"/>
                </a:moveTo>
                <a:lnTo>
                  <a:pt x="31750" y="0"/>
                </a:lnTo>
                <a:lnTo>
                  <a:pt x="31750" y="1508125"/>
                </a:lnTo>
                <a:lnTo>
                  <a:pt x="31750" y="1508125"/>
                </a:lnTo>
                <a:cubicBezTo>
                  <a:pt x="14227" y="1508125"/>
                  <a:pt x="0" y="1493898"/>
                  <a:pt x="0" y="147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3" name="Text 9"/>
          <p:cNvSpPr/>
          <p:nvPr/>
        </p:nvSpPr>
        <p:spPr>
          <a:xfrm>
            <a:off x="476250" y="4127500"/>
            <a:ext cx="6080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实际业务效果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76250" y="4445000"/>
            <a:ext cx="1936750" cy="666750"/>
          </a:xfrm>
          <a:custGeom>
            <a:avLst/>
            <a:gdLst/>
            <a:ahLst/>
            <a:cxnLst/>
            <a:rect l="l" t="t" r="r" b="b"/>
            <a:pathLst>
              <a:path w="1936750" h="666750">
                <a:moveTo>
                  <a:pt x="63501" y="0"/>
                </a:moveTo>
                <a:lnTo>
                  <a:pt x="1873249" y="0"/>
                </a:lnTo>
                <a:cubicBezTo>
                  <a:pt x="1908320" y="0"/>
                  <a:pt x="1936750" y="28430"/>
                  <a:pt x="1936750" y="63501"/>
                </a:cubicBezTo>
                <a:lnTo>
                  <a:pt x="1936750" y="603249"/>
                </a:lnTo>
                <a:cubicBezTo>
                  <a:pt x="1936750" y="638320"/>
                  <a:pt x="1908320" y="666750"/>
                  <a:pt x="1873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5" name="Text 11"/>
          <p:cNvSpPr/>
          <p:nvPr/>
        </p:nvSpPr>
        <p:spPr>
          <a:xfrm>
            <a:off x="523875" y="4540250"/>
            <a:ext cx="1841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39750" y="48260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复购率提升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508250" y="4445000"/>
            <a:ext cx="1936750" cy="666750"/>
          </a:xfrm>
          <a:custGeom>
            <a:avLst/>
            <a:gdLst/>
            <a:ahLst/>
            <a:cxnLst/>
            <a:rect l="l" t="t" r="r" b="b"/>
            <a:pathLst>
              <a:path w="1936750" h="666750">
                <a:moveTo>
                  <a:pt x="63501" y="0"/>
                </a:moveTo>
                <a:lnTo>
                  <a:pt x="1873249" y="0"/>
                </a:lnTo>
                <a:cubicBezTo>
                  <a:pt x="1908320" y="0"/>
                  <a:pt x="1936750" y="28430"/>
                  <a:pt x="1936750" y="63501"/>
                </a:cubicBezTo>
                <a:lnTo>
                  <a:pt x="1936750" y="603249"/>
                </a:lnTo>
                <a:cubicBezTo>
                  <a:pt x="1936750" y="638320"/>
                  <a:pt x="1908320" y="666750"/>
                  <a:pt x="1873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8" name="Text 14"/>
          <p:cNvSpPr/>
          <p:nvPr/>
        </p:nvSpPr>
        <p:spPr>
          <a:xfrm>
            <a:off x="2555875" y="4540250"/>
            <a:ext cx="1841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+30%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571750" y="48260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营销转化率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540250" y="4445000"/>
            <a:ext cx="1936750" cy="666750"/>
          </a:xfrm>
          <a:custGeom>
            <a:avLst/>
            <a:gdLst/>
            <a:ahLst/>
            <a:cxnLst/>
            <a:rect l="l" t="t" r="r" b="b"/>
            <a:pathLst>
              <a:path w="1936750" h="666750">
                <a:moveTo>
                  <a:pt x="63501" y="0"/>
                </a:moveTo>
                <a:lnTo>
                  <a:pt x="1873249" y="0"/>
                </a:lnTo>
                <a:cubicBezTo>
                  <a:pt x="1908320" y="0"/>
                  <a:pt x="1936750" y="28430"/>
                  <a:pt x="1936750" y="63501"/>
                </a:cubicBezTo>
                <a:lnTo>
                  <a:pt x="1936750" y="603249"/>
                </a:lnTo>
                <a:cubicBezTo>
                  <a:pt x="1936750" y="638320"/>
                  <a:pt x="1908320" y="666750"/>
                  <a:pt x="1873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4587875" y="4540250"/>
            <a:ext cx="1841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+20%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603750" y="4826000"/>
            <a:ext cx="1809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客户价值提升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76250" y="5175250"/>
            <a:ext cx="6064250" cy="2063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实际业务应用中，神经网络复购预测模型显著提升了核心营销指标，帮助平台实现精准营销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746875" y="984250"/>
            <a:ext cx="5127625" cy="3429000"/>
          </a:xfrm>
          <a:custGeom>
            <a:avLst/>
            <a:gdLst/>
            <a:ahLst/>
            <a:cxnLst/>
            <a:rect l="l" t="t" r="r" b="b"/>
            <a:pathLst>
              <a:path w="5127625" h="3429000">
                <a:moveTo>
                  <a:pt x="31750" y="0"/>
                </a:moveTo>
                <a:lnTo>
                  <a:pt x="5032367" y="0"/>
                </a:lnTo>
                <a:cubicBezTo>
                  <a:pt x="5084977" y="0"/>
                  <a:pt x="5127625" y="42648"/>
                  <a:pt x="5127625" y="95258"/>
                </a:cubicBezTo>
                <a:lnTo>
                  <a:pt x="5127625" y="3333742"/>
                </a:lnTo>
                <a:cubicBezTo>
                  <a:pt x="5127625" y="3386352"/>
                  <a:pt x="5084977" y="3429000"/>
                  <a:pt x="5032367" y="3429000"/>
                </a:cubicBezTo>
                <a:lnTo>
                  <a:pt x="31750" y="3429000"/>
                </a:lnTo>
                <a:cubicBezTo>
                  <a:pt x="14215" y="3429000"/>
                  <a:pt x="0" y="3414785"/>
                  <a:pt x="0" y="339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746875" y="984250"/>
            <a:ext cx="31750" cy="3429000"/>
          </a:xfrm>
          <a:custGeom>
            <a:avLst/>
            <a:gdLst/>
            <a:ahLst/>
            <a:cxnLst/>
            <a:rect l="l" t="t" r="r" b="b"/>
            <a:pathLst>
              <a:path w="31750" h="3429000">
                <a:moveTo>
                  <a:pt x="31750" y="0"/>
                </a:moveTo>
                <a:lnTo>
                  <a:pt x="31750" y="0"/>
                </a:lnTo>
                <a:lnTo>
                  <a:pt x="31750" y="3429000"/>
                </a:lnTo>
                <a:lnTo>
                  <a:pt x="31750" y="3429000"/>
                </a:lnTo>
                <a:cubicBezTo>
                  <a:pt x="14227" y="3429000"/>
                  <a:pt x="0" y="3414773"/>
                  <a:pt x="0" y="339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6" name="Text 22"/>
          <p:cNvSpPr/>
          <p:nvPr/>
        </p:nvSpPr>
        <p:spPr>
          <a:xfrm>
            <a:off x="6889750" y="1111250"/>
            <a:ext cx="493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 vs 其他算法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889750" y="142875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63501" y="0"/>
                </a:moveTo>
                <a:lnTo>
                  <a:pt x="4794249" y="0"/>
                </a:lnTo>
                <a:cubicBezTo>
                  <a:pt x="4829320" y="0"/>
                  <a:pt x="4857750" y="28430"/>
                  <a:pt x="4857750" y="63501"/>
                </a:cubicBezTo>
                <a:lnTo>
                  <a:pt x="4857750" y="603249"/>
                </a:lnTo>
                <a:cubicBezTo>
                  <a:pt x="4857750" y="638320"/>
                  <a:pt x="4829320" y="666750"/>
                  <a:pt x="4794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8" name="Text 24"/>
          <p:cNvSpPr/>
          <p:nvPr/>
        </p:nvSpPr>
        <p:spPr>
          <a:xfrm>
            <a:off x="6985000" y="1539875"/>
            <a:ext cx="730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BP神经网络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11018738" y="1524000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0" name="Text 26"/>
          <p:cNvSpPr/>
          <p:nvPr/>
        </p:nvSpPr>
        <p:spPr>
          <a:xfrm>
            <a:off x="11018738" y="1524000"/>
            <a:ext cx="690563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F1: 0.841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985000" y="180975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自动特征学习，非线性能力强，预测准确率最高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6889750" y="21590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63501" y="0"/>
                </a:moveTo>
                <a:lnTo>
                  <a:pt x="4794249" y="0"/>
                </a:lnTo>
                <a:cubicBezTo>
                  <a:pt x="4829320" y="0"/>
                  <a:pt x="4857750" y="28430"/>
                  <a:pt x="4857750" y="63501"/>
                </a:cubicBezTo>
                <a:lnTo>
                  <a:pt x="4857750" y="603249"/>
                </a:lnTo>
                <a:cubicBezTo>
                  <a:pt x="4857750" y="638320"/>
                  <a:pt x="4829320" y="666750"/>
                  <a:pt x="4794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3" name="Text 29"/>
          <p:cNvSpPr/>
          <p:nvPr/>
        </p:nvSpPr>
        <p:spPr>
          <a:xfrm>
            <a:off x="6985000" y="227012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10998316" y="2254250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5" name="Text 31"/>
          <p:cNvSpPr/>
          <p:nvPr/>
        </p:nvSpPr>
        <p:spPr>
          <a:xfrm>
            <a:off x="10998316" y="2254250"/>
            <a:ext cx="706438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F1: 0.826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985000" y="25400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梯度提升算法，性能优秀，但略低于神经网络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889750" y="288925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63501" y="0"/>
                </a:moveTo>
                <a:lnTo>
                  <a:pt x="4794249" y="0"/>
                </a:lnTo>
                <a:cubicBezTo>
                  <a:pt x="4829320" y="0"/>
                  <a:pt x="4857750" y="28430"/>
                  <a:pt x="4857750" y="63501"/>
                </a:cubicBezTo>
                <a:lnTo>
                  <a:pt x="4857750" y="603249"/>
                </a:lnTo>
                <a:cubicBezTo>
                  <a:pt x="4857750" y="638320"/>
                  <a:pt x="4829320" y="666750"/>
                  <a:pt x="4794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8" name="Text 34"/>
          <p:cNvSpPr/>
          <p:nvPr/>
        </p:nvSpPr>
        <p:spPr>
          <a:xfrm>
            <a:off x="6985000" y="300037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11003691" y="2984500"/>
            <a:ext cx="650875" cy="222250"/>
          </a:xfrm>
          <a:custGeom>
            <a:avLst/>
            <a:gdLst/>
            <a:ahLst/>
            <a:cxnLst/>
            <a:rect l="l" t="t" r="r" b="b"/>
            <a:pathLst>
              <a:path w="650875" h="222250">
                <a:moveTo>
                  <a:pt x="111125" y="0"/>
                </a:moveTo>
                <a:lnTo>
                  <a:pt x="539750" y="0"/>
                </a:lnTo>
                <a:cubicBezTo>
                  <a:pt x="601082" y="0"/>
                  <a:pt x="650875" y="49793"/>
                  <a:pt x="650875" y="111125"/>
                </a:cubicBezTo>
                <a:lnTo>
                  <a:pt x="650875" y="111125"/>
                </a:lnTo>
                <a:cubicBezTo>
                  <a:pt x="650875" y="172457"/>
                  <a:pt x="601082" y="222250"/>
                  <a:pt x="5397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0" name="Text 36"/>
          <p:cNvSpPr/>
          <p:nvPr/>
        </p:nvSpPr>
        <p:spPr>
          <a:xfrm>
            <a:off x="11003691" y="2984500"/>
            <a:ext cx="706438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F1: 0.758</a:t>
            </a:r>
            <a:endParaRPr lang="en-US" sz="1600" dirty="0"/>
          </a:p>
        </p:txBody>
      </p:sp>
      <p:sp>
        <p:nvSpPr>
          <p:cNvPr id="41" name="Text 37"/>
          <p:cNvSpPr/>
          <p:nvPr/>
        </p:nvSpPr>
        <p:spPr>
          <a:xfrm>
            <a:off x="6985000" y="327025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集成学习，可解释性好，但准确率稍低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889750" y="3619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63501" y="0"/>
                </a:moveTo>
                <a:lnTo>
                  <a:pt x="4794249" y="0"/>
                </a:lnTo>
                <a:cubicBezTo>
                  <a:pt x="4829320" y="0"/>
                  <a:pt x="4857750" y="28430"/>
                  <a:pt x="4857750" y="63501"/>
                </a:cubicBezTo>
                <a:lnTo>
                  <a:pt x="4857750" y="603249"/>
                </a:lnTo>
                <a:cubicBezTo>
                  <a:pt x="4857750" y="638320"/>
                  <a:pt x="4829320" y="666750"/>
                  <a:pt x="47942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3" name="Text 39"/>
          <p:cNvSpPr/>
          <p:nvPr/>
        </p:nvSpPr>
        <p:spPr>
          <a:xfrm>
            <a:off x="6985000" y="3730625"/>
            <a:ext cx="3333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SVM</a:t>
            </a:r>
            <a:endParaRPr lang="en-US" sz="1600" dirty="0"/>
          </a:p>
        </p:txBody>
      </p:sp>
      <p:sp>
        <p:nvSpPr>
          <p:cNvPr id="44" name="Shape 40"/>
          <p:cNvSpPr/>
          <p:nvPr/>
        </p:nvSpPr>
        <p:spPr>
          <a:xfrm>
            <a:off x="11030232" y="3714750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111125" y="0"/>
                </a:moveTo>
                <a:lnTo>
                  <a:pt x="508000" y="0"/>
                </a:lnTo>
                <a:cubicBezTo>
                  <a:pt x="569332" y="0"/>
                  <a:pt x="619125" y="49793"/>
                  <a:pt x="619125" y="111125"/>
                </a:cubicBezTo>
                <a:lnTo>
                  <a:pt x="619125" y="111125"/>
                </a:lnTo>
                <a:cubicBezTo>
                  <a:pt x="619125" y="172457"/>
                  <a:pt x="569332" y="222250"/>
                  <a:pt x="508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45" name="Text 41"/>
          <p:cNvSpPr/>
          <p:nvPr/>
        </p:nvSpPr>
        <p:spPr>
          <a:xfrm>
            <a:off x="11030232" y="3714750"/>
            <a:ext cx="674688" cy="222250"/>
          </a:xfrm>
          <a:prstGeom prst="rect">
            <a:avLst/>
          </a:prstGeom>
          <a:noFill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F1: 0.713</a:t>
            </a:r>
            <a:endParaRPr lang="en-US" sz="1600" dirty="0"/>
          </a:p>
        </p:txBody>
      </p:sp>
      <p:sp>
        <p:nvSpPr>
          <p:cNvPr id="46" name="Text 42"/>
          <p:cNvSpPr/>
          <p:nvPr/>
        </p:nvSpPr>
        <p:spPr>
          <a:xfrm>
            <a:off x="6985000" y="40005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适合高维数据，但消费者行为数据线性不可分</a:t>
            </a:r>
            <a:endParaRPr lang="en-US" sz="1600" dirty="0"/>
          </a:p>
        </p:txBody>
      </p:sp>
      <p:sp>
        <p:nvSpPr>
          <p:cNvPr id="47" name="Shape 43"/>
          <p:cNvSpPr/>
          <p:nvPr/>
        </p:nvSpPr>
        <p:spPr>
          <a:xfrm>
            <a:off x="6746875" y="4508500"/>
            <a:ext cx="5127625" cy="2413000"/>
          </a:xfrm>
          <a:custGeom>
            <a:avLst/>
            <a:gdLst/>
            <a:ahLst/>
            <a:cxnLst/>
            <a:rect l="l" t="t" r="r" b="b"/>
            <a:pathLst>
              <a:path w="5127625" h="2413000">
                <a:moveTo>
                  <a:pt x="31750" y="0"/>
                </a:moveTo>
                <a:lnTo>
                  <a:pt x="5032384" y="0"/>
                </a:lnTo>
                <a:cubicBezTo>
                  <a:pt x="5084984" y="0"/>
                  <a:pt x="5127625" y="42641"/>
                  <a:pt x="5127625" y="95241"/>
                </a:cubicBezTo>
                <a:lnTo>
                  <a:pt x="5127625" y="2317759"/>
                </a:lnTo>
                <a:cubicBezTo>
                  <a:pt x="5127625" y="2370359"/>
                  <a:pt x="5084984" y="2413000"/>
                  <a:pt x="5032384" y="2413000"/>
                </a:cubicBezTo>
                <a:lnTo>
                  <a:pt x="31750" y="2413000"/>
                </a:lnTo>
                <a:cubicBezTo>
                  <a:pt x="14215" y="2413000"/>
                  <a:pt x="0" y="2398785"/>
                  <a:pt x="0" y="238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4"/>
          <p:cNvSpPr/>
          <p:nvPr/>
        </p:nvSpPr>
        <p:spPr>
          <a:xfrm>
            <a:off x="6746875" y="4508500"/>
            <a:ext cx="31750" cy="2413000"/>
          </a:xfrm>
          <a:custGeom>
            <a:avLst/>
            <a:gdLst/>
            <a:ahLst/>
            <a:cxnLst/>
            <a:rect l="l" t="t" r="r" b="b"/>
            <a:pathLst>
              <a:path w="31750" h="2413000">
                <a:moveTo>
                  <a:pt x="31750" y="0"/>
                </a:moveTo>
                <a:lnTo>
                  <a:pt x="31750" y="0"/>
                </a:lnTo>
                <a:lnTo>
                  <a:pt x="31750" y="2413000"/>
                </a:lnTo>
                <a:lnTo>
                  <a:pt x="31750" y="2413000"/>
                </a:lnTo>
                <a:cubicBezTo>
                  <a:pt x="14227" y="2413000"/>
                  <a:pt x="0" y="2398773"/>
                  <a:pt x="0" y="2381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49" name="Text 45"/>
          <p:cNvSpPr/>
          <p:nvPr/>
        </p:nvSpPr>
        <p:spPr>
          <a:xfrm>
            <a:off x="6889750" y="4635500"/>
            <a:ext cx="4937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算法优势与挑战</a:t>
            </a:r>
            <a:endParaRPr lang="en-US" sz="1600" dirty="0"/>
          </a:p>
        </p:txBody>
      </p:sp>
      <p:sp>
        <p:nvSpPr>
          <p:cNvPr id="50" name="Shape 46"/>
          <p:cNvSpPr/>
          <p:nvPr/>
        </p:nvSpPr>
        <p:spPr>
          <a:xfrm>
            <a:off x="6905625" y="4984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9844" y="39688"/>
                </a:moveTo>
                <a:cubicBezTo>
                  <a:pt x="24234" y="39688"/>
                  <a:pt x="27781" y="43235"/>
                  <a:pt x="27781" y="47625"/>
                </a:cubicBezTo>
                <a:lnTo>
                  <a:pt x="27781" y="111125"/>
                </a:lnTo>
                <a:cubicBezTo>
                  <a:pt x="27781" y="115515"/>
                  <a:pt x="24234" y="119063"/>
                  <a:pt x="19844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47625"/>
                </a:lnTo>
                <a:cubicBezTo>
                  <a:pt x="0" y="43235"/>
                  <a:pt x="3547" y="39688"/>
                  <a:pt x="7938" y="39688"/>
                </a:cubicBezTo>
                <a:lnTo>
                  <a:pt x="19844" y="39688"/>
                </a:lnTo>
                <a:close/>
                <a:moveTo>
                  <a:pt x="67121" y="3969"/>
                </a:moveTo>
                <a:cubicBezTo>
                  <a:pt x="73893" y="3969"/>
                  <a:pt x="79375" y="9451"/>
                  <a:pt x="79375" y="16222"/>
                </a:cubicBezTo>
                <a:lnTo>
                  <a:pt x="79375" y="17264"/>
                </a:lnTo>
                <a:cubicBezTo>
                  <a:pt x="79375" y="18951"/>
                  <a:pt x="79053" y="20638"/>
                  <a:pt x="78432" y="22200"/>
                </a:cubicBezTo>
                <a:lnTo>
                  <a:pt x="71438" y="39688"/>
                </a:lnTo>
                <a:lnTo>
                  <a:pt x="111125" y="39688"/>
                </a:lnTo>
                <a:cubicBezTo>
                  <a:pt x="117698" y="39688"/>
                  <a:pt x="123031" y="45021"/>
                  <a:pt x="123031" y="51594"/>
                </a:cubicBezTo>
                <a:cubicBezTo>
                  <a:pt x="123031" y="56480"/>
                  <a:pt x="120079" y="60672"/>
                  <a:pt x="115863" y="62508"/>
                </a:cubicBezTo>
                <a:cubicBezTo>
                  <a:pt x="120079" y="64343"/>
                  <a:pt x="123031" y="68535"/>
                  <a:pt x="123031" y="73422"/>
                </a:cubicBezTo>
                <a:cubicBezTo>
                  <a:pt x="123031" y="79226"/>
                  <a:pt x="118864" y="84063"/>
                  <a:pt x="113357" y="85105"/>
                </a:cubicBezTo>
                <a:cubicBezTo>
                  <a:pt x="114449" y="86916"/>
                  <a:pt x="115094" y="89024"/>
                  <a:pt x="115094" y="91281"/>
                </a:cubicBezTo>
                <a:cubicBezTo>
                  <a:pt x="115094" y="96788"/>
                  <a:pt x="111373" y="101402"/>
                  <a:pt x="106313" y="102766"/>
                </a:cubicBezTo>
                <a:cubicBezTo>
                  <a:pt x="106859" y="104130"/>
                  <a:pt x="107156" y="105618"/>
                  <a:pt x="107156" y="107156"/>
                </a:cubicBezTo>
                <a:cubicBezTo>
                  <a:pt x="107156" y="113729"/>
                  <a:pt x="101823" y="119063"/>
                  <a:pt x="95250" y="119063"/>
                </a:cubicBezTo>
                <a:lnTo>
                  <a:pt x="73447" y="119063"/>
                </a:lnTo>
                <a:cubicBezTo>
                  <a:pt x="64443" y="119063"/>
                  <a:pt x="55687" y="115987"/>
                  <a:pt x="48667" y="110356"/>
                </a:cubicBezTo>
                <a:lnTo>
                  <a:pt x="45641" y="107950"/>
                </a:lnTo>
                <a:cubicBezTo>
                  <a:pt x="41870" y="104949"/>
                  <a:pt x="39688" y="100385"/>
                  <a:pt x="39688" y="95548"/>
                </a:cubicBezTo>
                <a:lnTo>
                  <a:pt x="39688" y="49262"/>
                </a:lnTo>
                <a:cubicBezTo>
                  <a:pt x="39688" y="45566"/>
                  <a:pt x="40556" y="41920"/>
                  <a:pt x="42193" y="38621"/>
                </a:cubicBezTo>
                <a:lnTo>
                  <a:pt x="56133" y="10740"/>
                </a:lnTo>
                <a:cubicBezTo>
                  <a:pt x="58217" y="6598"/>
                  <a:pt x="62458" y="3969"/>
                  <a:pt x="67121" y="3969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1" name="Text 47"/>
          <p:cNvSpPr/>
          <p:nvPr/>
        </p:nvSpPr>
        <p:spPr>
          <a:xfrm>
            <a:off x="7048500" y="4953000"/>
            <a:ext cx="476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52" name="Text 48"/>
          <p:cNvSpPr/>
          <p:nvPr/>
        </p:nvSpPr>
        <p:spPr>
          <a:xfrm>
            <a:off x="7080250" y="52070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自动学习特征组合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7080250" y="542925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强大的非线性建模能力</a:t>
            </a:r>
            <a:endParaRPr lang="en-US" sz="1600" dirty="0"/>
          </a:p>
        </p:txBody>
      </p:sp>
      <p:sp>
        <p:nvSpPr>
          <p:cNvPr id="54" name="Text 50"/>
          <p:cNvSpPr/>
          <p:nvPr/>
        </p:nvSpPr>
        <p:spPr>
          <a:xfrm>
            <a:off x="7080250" y="56515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适合处理大规模数据</a:t>
            </a:r>
            <a:endParaRPr lang="en-US" sz="1600" dirty="0"/>
          </a:p>
        </p:txBody>
      </p:sp>
      <p:sp>
        <p:nvSpPr>
          <p:cNvPr id="55" name="Shape 51"/>
          <p:cNvSpPr/>
          <p:nvPr/>
        </p:nvSpPr>
        <p:spPr>
          <a:xfrm>
            <a:off x="6905625" y="5937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6" name="Text 52"/>
          <p:cNvSpPr/>
          <p:nvPr/>
        </p:nvSpPr>
        <p:spPr>
          <a:xfrm>
            <a:off x="7048500" y="5905500"/>
            <a:ext cx="476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</a:t>
            </a:r>
            <a:endParaRPr lang="en-US" sz="1600" dirty="0"/>
          </a:p>
        </p:txBody>
      </p:sp>
      <p:sp>
        <p:nvSpPr>
          <p:cNvPr id="57" name="Text 53"/>
          <p:cNvSpPr/>
          <p:nvPr/>
        </p:nvSpPr>
        <p:spPr>
          <a:xfrm>
            <a:off x="7080250" y="61595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黑盒模型，可解释性差</a:t>
            </a:r>
            <a:endParaRPr lang="en-US" sz="1600" dirty="0"/>
          </a:p>
        </p:txBody>
      </p:sp>
      <p:sp>
        <p:nvSpPr>
          <p:cNvPr id="58" name="Text 54"/>
          <p:cNvSpPr/>
          <p:nvPr/>
        </p:nvSpPr>
        <p:spPr>
          <a:xfrm>
            <a:off x="7080250" y="638175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训练时间长，计算资源大</a:t>
            </a:r>
            <a:endParaRPr lang="en-US" sz="1600" dirty="0"/>
          </a:p>
        </p:txBody>
      </p:sp>
      <p:sp>
        <p:nvSpPr>
          <p:cNvPr id="59" name="Text 55"/>
          <p:cNvSpPr/>
          <p:nvPr/>
        </p:nvSpPr>
        <p:spPr>
          <a:xfrm>
            <a:off x="7080250" y="6604000"/>
            <a:ext cx="4730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参数调优复杂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 算法性能对比分析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算法性能全面对比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1000" y="1181100"/>
            <a:ext cx="11430000" cy="3390900"/>
          </a:xfrm>
          <a:custGeom>
            <a:avLst/>
            <a:gdLst/>
            <a:ahLst/>
            <a:cxnLst/>
            <a:rect l="l" t="t" r="r" b="b"/>
            <a:pathLst>
              <a:path w="11430000" h="3390900">
                <a:moveTo>
                  <a:pt x="114307" y="0"/>
                </a:moveTo>
                <a:lnTo>
                  <a:pt x="11315693" y="0"/>
                </a:lnTo>
                <a:cubicBezTo>
                  <a:pt x="11378823" y="0"/>
                  <a:pt x="11430000" y="51177"/>
                  <a:pt x="11430000" y="114307"/>
                </a:cubicBezTo>
                <a:lnTo>
                  <a:pt x="11430000" y="3276593"/>
                </a:lnTo>
                <a:cubicBezTo>
                  <a:pt x="11430000" y="3339723"/>
                  <a:pt x="11378823" y="3390900"/>
                  <a:pt x="11315693" y="3390900"/>
                </a:cubicBezTo>
                <a:lnTo>
                  <a:pt x="114307" y="3390900"/>
                </a:lnTo>
                <a:cubicBezTo>
                  <a:pt x="51177" y="3390900"/>
                  <a:pt x="0" y="3339723"/>
                  <a:pt x="0" y="327659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33400" y="1333500"/>
          <a:ext cx="11125200" cy="3086104"/>
        </p:xfrm>
        <a:graphic>
          <a:graphicData uri="http://schemas.openxmlformats.org/drawingml/2006/table">
            <a:tbl>
              <a:tblPr/>
              <a:tblGrid>
                <a:gridCol w="4086225"/>
                <a:gridCol w="2447925"/>
                <a:gridCol w="2143125"/>
                <a:gridCol w="2447925"/>
              </a:tblGrid>
              <a:tr h="38576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对比维度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随机森林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SVM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神经网络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预测准确率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92%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较高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最高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训练速度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快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慢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慢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预测速度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快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快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可解释性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好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差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差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参数调优难度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简单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复杂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对数据量要求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小样本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大数据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846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7373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对缺失数据鲁棒性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5C7CB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强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7097E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8FA7D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中等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C7CB3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00050" y="4686300"/>
            <a:ext cx="3714750" cy="1714500"/>
          </a:xfrm>
          <a:custGeom>
            <a:avLst/>
            <a:gdLst/>
            <a:ahLst/>
            <a:cxnLst/>
            <a:rect l="l" t="t" r="r" b="b"/>
            <a:pathLst>
              <a:path w="3714750" h="1714500">
                <a:moveTo>
                  <a:pt x="38100" y="0"/>
                </a:moveTo>
                <a:lnTo>
                  <a:pt x="3600444" y="0"/>
                </a:lnTo>
                <a:cubicBezTo>
                  <a:pt x="3663574" y="0"/>
                  <a:pt x="3714750" y="51176"/>
                  <a:pt x="3714750" y="114306"/>
                </a:cubicBezTo>
                <a:lnTo>
                  <a:pt x="3714750" y="1600194"/>
                </a:lnTo>
                <a:cubicBezTo>
                  <a:pt x="3714750" y="1663324"/>
                  <a:pt x="3663574" y="1714500"/>
                  <a:pt x="36004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00050" y="46863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9" name="Shape 5"/>
          <p:cNvSpPr/>
          <p:nvPr/>
        </p:nvSpPr>
        <p:spPr>
          <a:xfrm>
            <a:off x="571500" y="4838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0" name="Text 6"/>
          <p:cNvSpPr/>
          <p:nvPr/>
        </p:nvSpPr>
        <p:spPr>
          <a:xfrm>
            <a:off x="523875" y="4838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RF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43000" y="49339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1500" y="5410200"/>
            <a:ext cx="346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准确率高(92%)，训练速度快，可解释性好，适合大规模高维数据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715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4" name="Text 10"/>
          <p:cNvSpPr/>
          <p:nvPr/>
        </p:nvSpPr>
        <p:spPr>
          <a:xfrm>
            <a:off x="5715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3335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6" name="Text 12"/>
          <p:cNvSpPr/>
          <p:nvPr/>
        </p:nvSpPr>
        <p:spPr>
          <a:xfrm>
            <a:off x="13335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特征选择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248150" y="4686300"/>
            <a:ext cx="3714750" cy="1714500"/>
          </a:xfrm>
          <a:custGeom>
            <a:avLst/>
            <a:gdLst/>
            <a:ahLst/>
            <a:cxnLst/>
            <a:rect l="l" t="t" r="r" b="b"/>
            <a:pathLst>
              <a:path w="3714750" h="1714500">
                <a:moveTo>
                  <a:pt x="38100" y="0"/>
                </a:moveTo>
                <a:lnTo>
                  <a:pt x="3600444" y="0"/>
                </a:lnTo>
                <a:cubicBezTo>
                  <a:pt x="3663574" y="0"/>
                  <a:pt x="3714750" y="51176"/>
                  <a:pt x="3714750" y="114306"/>
                </a:cubicBezTo>
                <a:lnTo>
                  <a:pt x="3714750" y="1600194"/>
                </a:lnTo>
                <a:cubicBezTo>
                  <a:pt x="3714750" y="1663324"/>
                  <a:pt x="3663574" y="1714500"/>
                  <a:pt x="36004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248150" y="46863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9" name="Shape 15"/>
          <p:cNvSpPr/>
          <p:nvPr/>
        </p:nvSpPr>
        <p:spPr>
          <a:xfrm>
            <a:off x="4419600" y="4838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0" name="Text 16"/>
          <p:cNvSpPr/>
          <p:nvPr/>
        </p:nvSpPr>
        <p:spPr>
          <a:xfrm>
            <a:off x="4371975" y="4838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SVM</a:t>
            </a:r>
            <a:endParaRPr lang="en-US" sz="1600" dirty="0"/>
          </a:p>
        </p:txBody>
      </p:sp>
      <p:sp>
        <p:nvSpPr>
          <p:cNvPr id="6" name="Text 17"/>
          <p:cNvSpPr/>
          <p:nvPr/>
        </p:nvSpPr>
        <p:spPr>
          <a:xfrm>
            <a:off x="4991100" y="4933950"/>
            <a:ext cx="1047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支持向量机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419600" y="5410200"/>
            <a:ext cx="346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准确率较高，泛化能力强，适合高维小样本数据，但训练速度慢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4196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44196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1816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6" name="Text 22"/>
          <p:cNvSpPr/>
          <p:nvPr/>
        </p:nvSpPr>
        <p:spPr>
          <a:xfrm>
            <a:off x="51816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文本分类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096250" y="4686300"/>
            <a:ext cx="3714750" cy="1714500"/>
          </a:xfrm>
          <a:custGeom>
            <a:avLst/>
            <a:gdLst/>
            <a:ahLst/>
            <a:cxnLst/>
            <a:rect l="l" t="t" r="r" b="b"/>
            <a:pathLst>
              <a:path w="3714750" h="1714500">
                <a:moveTo>
                  <a:pt x="38100" y="0"/>
                </a:moveTo>
                <a:lnTo>
                  <a:pt x="3600444" y="0"/>
                </a:lnTo>
                <a:cubicBezTo>
                  <a:pt x="3663574" y="0"/>
                  <a:pt x="3714750" y="51176"/>
                  <a:pt x="3714750" y="114306"/>
                </a:cubicBezTo>
                <a:lnTo>
                  <a:pt x="3714750" y="1600194"/>
                </a:lnTo>
                <a:cubicBezTo>
                  <a:pt x="3714750" y="1663324"/>
                  <a:pt x="3663574" y="1714500"/>
                  <a:pt x="3600444" y="1714500"/>
                </a:cubicBez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096250" y="468630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3810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38100" y="1714500"/>
                </a:lnTo>
                <a:cubicBezTo>
                  <a:pt x="17072" y="1714500"/>
                  <a:pt x="0" y="1697428"/>
                  <a:pt x="0" y="1676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9" name="Shape 25"/>
          <p:cNvSpPr/>
          <p:nvPr/>
        </p:nvSpPr>
        <p:spPr>
          <a:xfrm>
            <a:off x="8267700" y="4838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0" name="Text 26"/>
          <p:cNvSpPr/>
          <p:nvPr/>
        </p:nvSpPr>
        <p:spPr>
          <a:xfrm>
            <a:off x="8220075" y="48387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NN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839200" y="4933950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267700" y="5410200"/>
            <a:ext cx="34671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准确率最高(F1:0.841)，自动特征学习，适合大规模数据，但可解释性差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82677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4" name="Text 30"/>
          <p:cNvSpPr/>
          <p:nvPr/>
        </p:nvSpPr>
        <p:spPr>
          <a:xfrm>
            <a:off x="82677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复购预测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9029700" y="5981700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6" name="Text 32"/>
          <p:cNvSpPr/>
          <p:nvPr/>
        </p:nvSpPr>
        <p:spPr>
          <a:xfrm>
            <a:off x="9029700" y="5981700"/>
            <a:ext cx="75247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图像识别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342" y="333342"/>
            <a:ext cx="11583650" cy="166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kern="0" spc="92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DECISION GUIDE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342" y="566682"/>
            <a:ext cx="11675319" cy="33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算法选择决策树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33342" y="1033362"/>
            <a:ext cx="6833520" cy="6016831"/>
          </a:xfrm>
          <a:custGeom>
            <a:avLst/>
            <a:gdLst/>
            <a:ahLst/>
            <a:cxnLst/>
            <a:rect l="l" t="t" r="r" b="b"/>
            <a:pathLst>
              <a:path w="6833520" h="6016831">
                <a:moveTo>
                  <a:pt x="100000" y="0"/>
                </a:moveTo>
                <a:lnTo>
                  <a:pt x="6733520" y="0"/>
                </a:lnTo>
                <a:cubicBezTo>
                  <a:pt x="6788749" y="0"/>
                  <a:pt x="6833520" y="44771"/>
                  <a:pt x="6833520" y="100000"/>
                </a:cubicBezTo>
                <a:lnTo>
                  <a:pt x="6833520" y="5916831"/>
                </a:lnTo>
                <a:cubicBezTo>
                  <a:pt x="6833520" y="5972060"/>
                  <a:pt x="6788749" y="6016831"/>
                  <a:pt x="6733520" y="6016831"/>
                </a:cubicBezTo>
                <a:lnTo>
                  <a:pt x="100000" y="6016831"/>
                </a:lnTo>
                <a:cubicBezTo>
                  <a:pt x="44771" y="6016831"/>
                  <a:pt x="0" y="5972060"/>
                  <a:pt x="0" y="5916831"/>
                </a:cubicBezTo>
                <a:lnTo>
                  <a:pt x="0" y="100000"/>
                </a:lnTo>
                <a:cubicBezTo>
                  <a:pt x="0" y="44771"/>
                  <a:pt x="44771" y="0"/>
                  <a:pt x="1000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003" dist="8333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66679" y="1166699"/>
            <a:ext cx="6666849" cy="2666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算法选择决策流程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3347" y="1566710"/>
            <a:ext cx="6550179" cy="966693"/>
          </a:xfrm>
          <a:custGeom>
            <a:avLst/>
            <a:gdLst/>
            <a:ahLst/>
            <a:cxnLst/>
            <a:rect l="l" t="t" r="r" b="b"/>
            <a:pathLst>
              <a:path w="6550179" h="966693">
                <a:moveTo>
                  <a:pt x="33334" y="0"/>
                </a:moveTo>
                <a:lnTo>
                  <a:pt x="6483506" y="0"/>
                </a:lnTo>
                <a:cubicBezTo>
                  <a:pt x="6520329" y="0"/>
                  <a:pt x="6550179" y="29850"/>
                  <a:pt x="6550179" y="66673"/>
                </a:cubicBezTo>
                <a:lnTo>
                  <a:pt x="6550179" y="900020"/>
                </a:lnTo>
                <a:cubicBezTo>
                  <a:pt x="6550179" y="936843"/>
                  <a:pt x="6520329" y="966693"/>
                  <a:pt x="6483506" y="966693"/>
                </a:cubicBez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8" name="Shape 5"/>
          <p:cNvSpPr/>
          <p:nvPr/>
        </p:nvSpPr>
        <p:spPr>
          <a:xfrm>
            <a:off x="483347" y="1566710"/>
            <a:ext cx="33334" cy="966693"/>
          </a:xfrm>
          <a:custGeom>
            <a:avLst/>
            <a:gdLst/>
            <a:ahLst/>
            <a:cxnLst/>
            <a:rect l="l" t="t" r="r" b="b"/>
            <a:pathLst>
              <a:path w="33334" h="966693">
                <a:moveTo>
                  <a:pt x="33334" y="0"/>
                </a:moveTo>
                <a:lnTo>
                  <a:pt x="33334" y="0"/>
                </a:lnTo>
                <a:lnTo>
                  <a:pt x="33334" y="966693"/>
                </a:ln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9" name="Shape 6"/>
          <p:cNvSpPr/>
          <p:nvPr/>
        </p:nvSpPr>
        <p:spPr>
          <a:xfrm>
            <a:off x="600016" y="1666712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166671" y="0"/>
                </a:moveTo>
                <a:lnTo>
                  <a:pt x="166671" y="0"/>
                </a:lnTo>
                <a:cubicBezTo>
                  <a:pt x="258660" y="0"/>
                  <a:pt x="333342" y="74683"/>
                  <a:pt x="333342" y="166671"/>
                </a:cubicBezTo>
                <a:lnTo>
                  <a:pt x="333342" y="166671"/>
                </a:lnTo>
                <a:cubicBezTo>
                  <a:pt x="333342" y="258660"/>
                  <a:pt x="258660" y="333342"/>
                  <a:pt x="166671" y="333342"/>
                </a:cubicBezTo>
                <a:lnTo>
                  <a:pt x="166671" y="333342"/>
                </a:lnTo>
                <a:cubicBezTo>
                  <a:pt x="74683" y="333342"/>
                  <a:pt x="0" y="258660"/>
                  <a:pt x="0" y="166671"/>
                </a:cubicBezTo>
                <a:lnTo>
                  <a:pt x="0" y="166671"/>
                </a:lnTo>
                <a:cubicBezTo>
                  <a:pt x="0" y="74683"/>
                  <a:pt x="74683" y="0"/>
                  <a:pt x="166671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0" name="Text 7"/>
          <p:cNvSpPr/>
          <p:nvPr/>
        </p:nvSpPr>
        <p:spPr>
          <a:xfrm>
            <a:off x="562515" y="1666712"/>
            <a:ext cx="408344" cy="33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3362" y="1666712"/>
            <a:ext cx="5975163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数据量大、特征多、需要可解释性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33362" y="1977837"/>
            <a:ext cx="1266701" cy="17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推荐算法：随机森林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33362" y="2233394"/>
            <a:ext cx="5966830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随机森林处理高维数据能力强，训练速度快，可解释性好，适合需要理解特征重要性的场景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3347" y="2633405"/>
            <a:ext cx="6550179" cy="966693"/>
          </a:xfrm>
          <a:custGeom>
            <a:avLst/>
            <a:gdLst/>
            <a:ahLst/>
            <a:cxnLst/>
            <a:rect l="l" t="t" r="r" b="b"/>
            <a:pathLst>
              <a:path w="6550179" h="966693">
                <a:moveTo>
                  <a:pt x="33334" y="0"/>
                </a:moveTo>
                <a:lnTo>
                  <a:pt x="6483506" y="0"/>
                </a:lnTo>
                <a:cubicBezTo>
                  <a:pt x="6520329" y="0"/>
                  <a:pt x="6550179" y="29850"/>
                  <a:pt x="6550179" y="66673"/>
                </a:cubicBezTo>
                <a:lnTo>
                  <a:pt x="6550179" y="900020"/>
                </a:lnTo>
                <a:cubicBezTo>
                  <a:pt x="6550179" y="936843"/>
                  <a:pt x="6520329" y="966693"/>
                  <a:pt x="6483506" y="966693"/>
                </a:cubicBez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483347" y="2633405"/>
            <a:ext cx="33334" cy="966693"/>
          </a:xfrm>
          <a:custGeom>
            <a:avLst/>
            <a:gdLst/>
            <a:ahLst/>
            <a:cxnLst/>
            <a:rect l="l" t="t" r="r" b="b"/>
            <a:pathLst>
              <a:path w="33334" h="966693">
                <a:moveTo>
                  <a:pt x="33334" y="0"/>
                </a:moveTo>
                <a:lnTo>
                  <a:pt x="33334" y="0"/>
                </a:lnTo>
                <a:lnTo>
                  <a:pt x="33334" y="966693"/>
                </a:ln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6" name="Shape 13"/>
          <p:cNvSpPr/>
          <p:nvPr/>
        </p:nvSpPr>
        <p:spPr>
          <a:xfrm>
            <a:off x="600016" y="2733408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166671" y="0"/>
                </a:moveTo>
                <a:lnTo>
                  <a:pt x="166671" y="0"/>
                </a:lnTo>
                <a:cubicBezTo>
                  <a:pt x="258660" y="0"/>
                  <a:pt x="333342" y="74683"/>
                  <a:pt x="333342" y="166671"/>
                </a:cubicBezTo>
                <a:lnTo>
                  <a:pt x="333342" y="166671"/>
                </a:lnTo>
                <a:cubicBezTo>
                  <a:pt x="333342" y="258660"/>
                  <a:pt x="258660" y="333342"/>
                  <a:pt x="166671" y="333342"/>
                </a:cubicBezTo>
                <a:lnTo>
                  <a:pt x="166671" y="333342"/>
                </a:lnTo>
                <a:cubicBezTo>
                  <a:pt x="74683" y="333342"/>
                  <a:pt x="0" y="258660"/>
                  <a:pt x="0" y="166671"/>
                </a:cubicBezTo>
                <a:lnTo>
                  <a:pt x="0" y="166671"/>
                </a:lnTo>
                <a:cubicBezTo>
                  <a:pt x="0" y="74683"/>
                  <a:pt x="74683" y="0"/>
                  <a:pt x="166671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7" name="Text 14"/>
          <p:cNvSpPr/>
          <p:nvPr/>
        </p:nvSpPr>
        <p:spPr>
          <a:xfrm>
            <a:off x="562515" y="2733408"/>
            <a:ext cx="408344" cy="33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33362" y="2733408"/>
            <a:ext cx="5975163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数据维度高、样本量中等、重视泛化能力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33362" y="3044533"/>
            <a:ext cx="1017823" cy="17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推荐算法：SVM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33362" y="3300090"/>
            <a:ext cx="5966830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SVM在高维空间中表现优异，泛化能力强，适合小样本、高维度的分类问题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83347" y="3700101"/>
            <a:ext cx="6550179" cy="966693"/>
          </a:xfrm>
          <a:custGeom>
            <a:avLst/>
            <a:gdLst/>
            <a:ahLst/>
            <a:cxnLst/>
            <a:rect l="l" t="t" r="r" b="b"/>
            <a:pathLst>
              <a:path w="6550179" h="966693">
                <a:moveTo>
                  <a:pt x="33334" y="0"/>
                </a:moveTo>
                <a:lnTo>
                  <a:pt x="6483506" y="0"/>
                </a:lnTo>
                <a:cubicBezTo>
                  <a:pt x="6520329" y="0"/>
                  <a:pt x="6550179" y="29850"/>
                  <a:pt x="6550179" y="66673"/>
                </a:cubicBezTo>
                <a:lnTo>
                  <a:pt x="6550179" y="900020"/>
                </a:lnTo>
                <a:cubicBezTo>
                  <a:pt x="6550179" y="936843"/>
                  <a:pt x="6520329" y="966693"/>
                  <a:pt x="6483506" y="966693"/>
                </a:cubicBez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483347" y="3700101"/>
            <a:ext cx="33334" cy="966693"/>
          </a:xfrm>
          <a:custGeom>
            <a:avLst/>
            <a:gdLst/>
            <a:ahLst/>
            <a:cxnLst/>
            <a:rect l="l" t="t" r="r" b="b"/>
            <a:pathLst>
              <a:path w="33334" h="966693">
                <a:moveTo>
                  <a:pt x="33334" y="0"/>
                </a:moveTo>
                <a:lnTo>
                  <a:pt x="33334" y="0"/>
                </a:lnTo>
                <a:lnTo>
                  <a:pt x="33334" y="966693"/>
                </a:lnTo>
                <a:lnTo>
                  <a:pt x="33334" y="966693"/>
                </a:lnTo>
                <a:cubicBezTo>
                  <a:pt x="14924" y="966693"/>
                  <a:pt x="0" y="951769"/>
                  <a:pt x="0" y="933359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3" name="Shape 20"/>
          <p:cNvSpPr/>
          <p:nvPr/>
        </p:nvSpPr>
        <p:spPr>
          <a:xfrm>
            <a:off x="600016" y="3800104"/>
            <a:ext cx="333342" cy="333342"/>
          </a:xfrm>
          <a:custGeom>
            <a:avLst/>
            <a:gdLst/>
            <a:ahLst/>
            <a:cxnLst/>
            <a:rect l="l" t="t" r="r" b="b"/>
            <a:pathLst>
              <a:path w="333342" h="333342">
                <a:moveTo>
                  <a:pt x="166671" y="0"/>
                </a:moveTo>
                <a:lnTo>
                  <a:pt x="166671" y="0"/>
                </a:lnTo>
                <a:cubicBezTo>
                  <a:pt x="258660" y="0"/>
                  <a:pt x="333342" y="74683"/>
                  <a:pt x="333342" y="166671"/>
                </a:cubicBezTo>
                <a:lnTo>
                  <a:pt x="333342" y="166671"/>
                </a:lnTo>
                <a:cubicBezTo>
                  <a:pt x="333342" y="258660"/>
                  <a:pt x="258660" y="333342"/>
                  <a:pt x="166671" y="333342"/>
                </a:cubicBezTo>
                <a:lnTo>
                  <a:pt x="166671" y="333342"/>
                </a:lnTo>
                <a:cubicBezTo>
                  <a:pt x="74683" y="333342"/>
                  <a:pt x="0" y="258660"/>
                  <a:pt x="0" y="166671"/>
                </a:cubicBezTo>
                <a:lnTo>
                  <a:pt x="0" y="166671"/>
                </a:lnTo>
                <a:cubicBezTo>
                  <a:pt x="0" y="74683"/>
                  <a:pt x="74683" y="0"/>
                  <a:pt x="166671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4" name="Text 21"/>
          <p:cNvSpPr/>
          <p:nvPr/>
        </p:nvSpPr>
        <p:spPr>
          <a:xfrm>
            <a:off x="562515" y="3800104"/>
            <a:ext cx="408344" cy="33334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33362" y="3800104"/>
            <a:ext cx="5975163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数据量大、需要自动特征学习、追求最高准确率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33362" y="4111229"/>
            <a:ext cx="1266701" cy="177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推荐算法：神经网络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33362" y="4366786"/>
            <a:ext cx="5966830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神经网络自动特征学习能力强，非线性建模能力优秀，适合大规模数据和复杂模式识别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19037" y="1033362"/>
            <a:ext cx="4541791" cy="2733408"/>
          </a:xfrm>
          <a:custGeom>
            <a:avLst/>
            <a:gdLst/>
            <a:ahLst/>
            <a:cxnLst/>
            <a:rect l="l" t="t" r="r" b="b"/>
            <a:pathLst>
              <a:path w="4541791" h="2733408">
                <a:moveTo>
                  <a:pt x="33334" y="0"/>
                </a:moveTo>
                <a:lnTo>
                  <a:pt x="4441775" y="0"/>
                </a:lnTo>
                <a:cubicBezTo>
                  <a:pt x="4497012" y="0"/>
                  <a:pt x="4541791" y="44778"/>
                  <a:pt x="4541791" y="100015"/>
                </a:cubicBezTo>
                <a:lnTo>
                  <a:pt x="4541791" y="2633393"/>
                </a:lnTo>
                <a:cubicBezTo>
                  <a:pt x="4541791" y="2688630"/>
                  <a:pt x="4497012" y="2733408"/>
                  <a:pt x="4441775" y="2733408"/>
                </a:cubicBezTo>
                <a:lnTo>
                  <a:pt x="33334" y="2733408"/>
                </a:lnTo>
                <a:cubicBezTo>
                  <a:pt x="14924" y="2733408"/>
                  <a:pt x="0" y="2718484"/>
                  <a:pt x="0" y="270007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5003" dist="8333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319037" y="1033362"/>
            <a:ext cx="33334" cy="2733408"/>
          </a:xfrm>
          <a:custGeom>
            <a:avLst/>
            <a:gdLst/>
            <a:ahLst/>
            <a:cxnLst/>
            <a:rect l="l" t="t" r="r" b="b"/>
            <a:pathLst>
              <a:path w="33334" h="2733408">
                <a:moveTo>
                  <a:pt x="33334" y="0"/>
                </a:moveTo>
                <a:lnTo>
                  <a:pt x="33334" y="0"/>
                </a:lnTo>
                <a:lnTo>
                  <a:pt x="33334" y="2733408"/>
                </a:lnTo>
                <a:lnTo>
                  <a:pt x="33334" y="2733408"/>
                </a:lnTo>
                <a:cubicBezTo>
                  <a:pt x="14924" y="2733408"/>
                  <a:pt x="0" y="2718484"/>
                  <a:pt x="0" y="2700074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0" name="Text 27"/>
          <p:cNvSpPr/>
          <p:nvPr/>
        </p:nvSpPr>
        <p:spPr>
          <a:xfrm>
            <a:off x="7469041" y="1166699"/>
            <a:ext cx="4341785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实际项目建议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69041" y="1500041"/>
            <a:ext cx="4258450" cy="666685"/>
          </a:xfrm>
          <a:custGeom>
            <a:avLst/>
            <a:gdLst/>
            <a:ahLst/>
            <a:cxnLst/>
            <a:rect l="l" t="t" r="r" b="b"/>
            <a:pathLst>
              <a:path w="4258450" h="666685">
                <a:moveTo>
                  <a:pt x="66668" y="0"/>
                </a:moveTo>
                <a:lnTo>
                  <a:pt x="4191781" y="0"/>
                </a:lnTo>
                <a:cubicBezTo>
                  <a:pt x="4228601" y="0"/>
                  <a:pt x="4258450" y="29848"/>
                  <a:pt x="4258450" y="66668"/>
                </a:cubicBezTo>
                <a:lnTo>
                  <a:pt x="4258450" y="600016"/>
                </a:lnTo>
                <a:cubicBezTo>
                  <a:pt x="4258450" y="636836"/>
                  <a:pt x="4228601" y="666685"/>
                  <a:pt x="4191781" y="666685"/>
                </a:cubicBezTo>
                <a:lnTo>
                  <a:pt x="66668" y="666685"/>
                </a:lnTo>
                <a:cubicBezTo>
                  <a:pt x="29848" y="666685"/>
                  <a:pt x="0" y="636836"/>
                  <a:pt x="0" y="600016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7569044" y="1600044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集成学习策略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69044" y="1866718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结合多个算法预测同一问题，通过投票或加权平均提升性能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469041" y="2233394"/>
            <a:ext cx="4258450" cy="666685"/>
          </a:xfrm>
          <a:custGeom>
            <a:avLst/>
            <a:gdLst/>
            <a:ahLst/>
            <a:cxnLst/>
            <a:rect l="l" t="t" r="r" b="b"/>
            <a:pathLst>
              <a:path w="4258450" h="666685">
                <a:moveTo>
                  <a:pt x="66668" y="0"/>
                </a:moveTo>
                <a:lnTo>
                  <a:pt x="4191781" y="0"/>
                </a:lnTo>
                <a:cubicBezTo>
                  <a:pt x="4228601" y="0"/>
                  <a:pt x="4258450" y="29848"/>
                  <a:pt x="4258450" y="66668"/>
                </a:cubicBezTo>
                <a:lnTo>
                  <a:pt x="4258450" y="600016"/>
                </a:lnTo>
                <a:cubicBezTo>
                  <a:pt x="4258450" y="636836"/>
                  <a:pt x="4228601" y="666685"/>
                  <a:pt x="4191781" y="666685"/>
                </a:cubicBezTo>
                <a:lnTo>
                  <a:pt x="66668" y="666685"/>
                </a:lnTo>
                <a:cubicBezTo>
                  <a:pt x="29848" y="666685"/>
                  <a:pt x="0" y="636836"/>
                  <a:pt x="0" y="600016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7569044" y="2333397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电商推荐系统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69044" y="2600071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结合随机森林、XGBoost、神经网络的结果，提升推荐质量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69041" y="2966748"/>
            <a:ext cx="4258450" cy="666685"/>
          </a:xfrm>
          <a:custGeom>
            <a:avLst/>
            <a:gdLst/>
            <a:ahLst/>
            <a:cxnLst/>
            <a:rect l="l" t="t" r="r" b="b"/>
            <a:pathLst>
              <a:path w="4258450" h="666685">
                <a:moveTo>
                  <a:pt x="66668" y="0"/>
                </a:moveTo>
                <a:lnTo>
                  <a:pt x="4191781" y="0"/>
                </a:lnTo>
                <a:cubicBezTo>
                  <a:pt x="4228601" y="0"/>
                  <a:pt x="4258450" y="29848"/>
                  <a:pt x="4258450" y="66668"/>
                </a:cubicBezTo>
                <a:lnTo>
                  <a:pt x="4258450" y="600016"/>
                </a:lnTo>
                <a:cubicBezTo>
                  <a:pt x="4258450" y="636836"/>
                  <a:pt x="4228601" y="666685"/>
                  <a:pt x="4191781" y="666685"/>
                </a:cubicBezTo>
                <a:lnTo>
                  <a:pt x="66668" y="666685"/>
                </a:lnTo>
                <a:cubicBezTo>
                  <a:pt x="29848" y="666685"/>
                  <a:pt x="0" y="636836"/>
                  <a:pt x="0" y="600016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8" name="Text 35"/>
          <p:cNvSpPr/>
          <p:nvPr/>
        </p:nvSpPr>
        <p:spPr>
          <a:xfrm>
            <a:off x="7569044" y="3066751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A/B测试验证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569044" y="3333424"/>
            <a:ext cx="4125113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通过线上A/B测试验证算法效果，选择最优方案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305148" y="3869550"/>
            <a:ext cx="4555680" cy="1538931"/>
          </a:xfrm>
          <a:custGeom>
            <a:avLst/>
            <a:gdLst/>
            <a:ahLst/>
            <a:cxnLst/>
            <a:rect l="l" t="t" r="r" b="b"/>
            <a:pathLst>
              <a:path w="4555680" h="1538931">
                <a:moveTo>
                  <a:pt x="100000" y="0"/>
                </a:moveTo>
                <a:lnTo>
                  <a:pt x="4455680" y="0"/>
                </a:lnTo>
                <a:cubicBezTo>
                  <a:pt x="4510909" y="0"/>
                  <a:pt x="4555680" y="44771"/>
                  <a:pt x="4555680" y="100000"/>
                </a:cubicBezTo>
                <a:lnTo>
                  <a:pt x="4555680" y="1438931"/>
                </a:lnTo>
                <a:cubicBezTo>
                  <a:pt x="4555680" y="1494160"/>
                  <a:pt x="4510909" y="1538931"/>
                  <a:pt x="4455680" y="1538931"/>
                </a:cubicBezTo>
                <a:lnTo>
                  <a:pt x="100000" y="1538931"/>
                </a:lnTo>
                <a:cubicBezTo>
                  <a:pt x="44771" y="1538931"/>
                  <a:pt x="0" y="1494160"/>
                  <a:pt x="0" y="1438931"/>
                </a:cubicBezTo>
                <a:lnTo>
                  <a:pt x="0" y="100000"/>
                </a:lnTo>
                <a:cubicBezTo>
                  <a:pt x="0" y="44808"/>
                  <a:pt x="44808" y="0"/>
                  <a:pt x="100000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07929" y="3972325"/>
            <a:ext cx="4425121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关键考虑因素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432929" y="4339002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>
                <a:moveTo>
                  <a:pt x="113232" y="18256"/>
                </a:moveTo>
                <a:cubicBezTo>
                  <a:pt x="116956" y="20964"/>
                  <a:pt x="117790" y="26173"/>
                  <a:pt x="115081" y="29897"/>
                </a:cubicBezTo>
                <a:lnTo>
                  <a:pt x="48413" y="121566"/>
                </a:lnTo>
                <a:cubicBezTo>
                  <a:pt x="46980" y="123545"/>
                  <a:pt x="44767" y="124769"/>
                  <a:pt x="42319" y="124977"/>
                </a:cubicBezTo>
                <a:cubicBezTo>
                  <a:pt x="39871" y="125186"/>
                  <a:pt x="37501" y="124274"/>
                  <a:pt x="35782" y="122555"/>
                </a:cubicBezTo>
                <a:lnTo>
                  <a:pt x="2448" y="89221"/>
                </a:lnTo>
                <a:cubicBezTo>
                  <a:pt x="-807" y="85966"/>
                  <a:pt x="-807" y="80679"/>
                  <a:pt x="2448" y="77424"/>
                </a:cubicBezTo>
                <a:cubicBezTo>
                  <a:pt x="5703" y="74169"/>
                  <a:pt x="10990" y="74169"/>
                  <a:pt x="14245" y="77424"/>
                </a:cubicBezTo>
                <a:lnTo>
                  <a:pt x="40678" y="103857"/>
                </a:lnTo>
                <a:lnTo>
                  <a:pt x="101617" y="20079"/>
                </a:lnTo>
                <a:cubicBezTo>
                  <a:pt x="104326" y="16355"/>
                  <a:pt x="109534" y="15521"/>
                  <a:pt x="113258" y="1823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3" name="Text 40"/>
          <p:cNvSpPr/>
          <p:nvPr/>
        </p:nvSpPr>
        <p:spPr>
          <a:xfrm>
            <a:off x="7641268" y="4305668"/>
            <a:ext cx="1875051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业务需求</a:t>
            </a:r>
            <a:r>
              <a:rPr lang="en-US" sz="105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：准确率 vs 可解释性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432929" y="4605676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>
                <a:moveTo>
                  <a:pt x="113232" y="18256"/>
                </a:moveTo>
                <a:cubicBezTo>
                  <a:pt x="116956" y="20964"/>
                  <a:pt x="117790" y="26173"/>
                  <a:pt x="115081" y="29897"/>
                </a:cubicBezTo>
                <a:lnTo>
                  <a:pt x="48413" y="121566"/>
                </a:lnTo>
                <a:cubicBezTo>
                  <a:pt x="46980" y="123545"/>
                  <a:pt x="44767" y="124769"/>
                  <a:pt x="42319" y="124977"/>
                </a:cubicBezTo>
                <a:cubicBezTo>
                  <a:pt x="39871" y="125186"/>
                  <a:pt x="37501" y="124274"/>
                  <a:pt x="35782" y="122555"/>
                </a:cubicBezTo>
                <a:lnTo>
                  <a:pt x="2448" y="89221"/>
                </a:lnTo>
                <a:cubicBezTo>
                  <a:pt x="-807" y="85966"/>
                  <a:pt x="-807" y="80679"/>
                  <a:pt x="2448" y="77424"/>
                </a:cubicBezTo>
                <a:cubicBezTo>
                  <a:pt x="5703" y="74169"/>
                  <a:pt x="10990" y="74169"/>
                  <a:pt x="14245" y="77424"/>
                </a:cubicBezTo>
                <a:lnTo>
                  <a:pt x="40678" y="103857"/>
                </a:lnTo>
                <a:lnTo>
                  <a:pt x="101617" y="20079"/>
                </a:lnTo>
                <a:cubicBezTo>
                  <a:pt x="104326" y="16355"/>
                  <a:pt x="109534" y="15521"/>
                  <a:pt x="113258" y="1823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5" name="Text 42"/>
          <p:cNvSpPr/>
          <p:nvPr/>
        </p:nvSpPr>
        <p:spPr>
          <a:xfrm>
            <a:off x="7641268" y="4572342"/>
            <a:ext cx="1933386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数据特点</a:t>
            </a:r>
            <a:r>
              <a:rPr lang="en-US" sz="105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：数据量、维度、质量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7432929" y="4872350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>
                <a:moveTo>
                  <a:pt x="113232" y="18256"/>
                </a:moveTo>
                <a:cubicBezTo>
                  <a:pt x="116956" y="20964"/>
                  <a:pt x="117790" y="26173"/>
                  <a:pt x="115081" y="29897"/>
                </a:cubicBezTo>
                <a:lnTo>
                  <a:pt x="48413" y="121566"/>
                </a:lnTo>
                <a:cubicBezTo>
                  <a:pt x="46980" y="123545"/>
                  <a:pt x="44767" y="124769"/>
                  <a:pt x="42319" y="124977"/>
                </a:cubicBezTo>
                <a:cubicBezTo>
                  <a:pt x="39871" y="125186"/>
                  <a:pt x="37501" y="124274"/>
                  <a:pt x="35782" y="122555"/>
                </a:cubicBezTo>
                <a:lnTo>
                  <a:pt x="2448" y="89221"/>
                </a:lnTo>
                <a:cubicBezTo>
                  <a:pt x="-807" y="85966"/>
                  <a:pt x="-807" y="80679"/>
                  <a:pt x="2448" y="77424"/>
                </a:cubicBezTo>
                <a:cubicBezTo>
                  <a:pt x="5703" y="74169"/>
                  <a:pt x="10990" y="74169"/>
                  <a:pt x="14245" y="77424"/>
                </a:cubicBezTo>
                <a:lnTo>
                  <a:pt x="40678" y="103857"/>
                </a:lnTo>
                <a:lnTo>
                  <a:pt x="101617" y="20079"/>
                </a:lnTo>
                <a:cubicBezTo>
                  <a:pt x="104326" y="16355"/>
                  <a:pt x="109534" y="15521"/>
                  <a:pt x="113258" y="1823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47" name="Text 44"/>
          <p:cNvSpPr/>
          <p:nvPr/>
        </p:nvSpPr>
        <p:spPr>
          <a:xfrm>
            <a:off x="7641268" y="4839016"/>
            <a:ext cx="1933386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性能要求</a:t>
            </a:r>
            <a:r>
              <a:rPr lang="en-US" sz="105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：训练时间、预测时间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432929" y="5139024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>
                <a:moveTo>
                  <a:pt x="113232" y="18256"/>
                </a:moveTo>
                <a:cubicBezTo>
                  <a:pt x="116956" y="20964"/>
                  <a:pt x="117790" y="26173"/>
                  <a:pt x="115081" y="29897"/>
                </a:cubicBezTo>
                <a:lnTo>
                  <a:pt x="48413" y="121566"/>
                </a:lnTo>
                <a:cubicBezTo>
                  <a:pt x="46980" y="123545"/>
                  <a:pt x="44767" y="124769"/>
                  <a:pt x="42319" y="124977"/>
                </a:cubicBezTo>
                <a:cubicBezTo>
                  <a:pt x="39871" y="125186"/>
                  <a:pt x="37501" y="124274"/>
                  <a:pt x="35782" y="122555"/>
                </a:cubicBezTo>
                <a:lnTo>
                  <a:pt x="2448" y="89221"/>
                </a:lnTo>
                <a:cubicBezTo>
                  <a:pt x="-807" y="85966"/>
                  <a:pt x="-807" y="80679"/>
                  <a:pt x="2448" y="77424"/>
                </a:cubicBezTo>
                <a:cubicBezTo>
                  <a:pt x="5703" y="74169"/>
                  <a:pt x="10990" y="74169"/>
                  <a:pt x="14245" y="77424"/>
                </a:cubicBezTo>
                <a:lnTo>
                  <a:pt x="40678" y="103857"/>
                </a:lnTo>
                <a:lnTo>
                  <a:pt x="101617" y="20079"/>
                </a:lnTo>
                <a:cubicBezTo>
                  <a:pt x="104326" y="16355"/>
                  <a:pt x="109534" y="15521"/>
                  <a:pt x="113258" y="1823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9" name="Text 46"/>
          <p:cNvSpPr/>
          <p:nvPr/>
        </p:nvSpPr>
        <p:spPr>
          <a:xfrm>
            <a:off x="7641268" y="5105690"/>
            <a:ext cx="1933386" cy="2000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资源限制</a:t>
            </a:r>
            <a:r>
              <a:rPr lang="en-US" sz="105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：计算资源、人力成本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305148" y="5514045"/>
            <a:ext cx="4555680" cy="938915"/>
          </a:xfrm>
          <a:custGeom>
            <a:avLst/>
            <a:gdLst/>
            <a:ahLst/>
            <a:cxnLst/>
            <a:rect l="l" t="t" r="r" b="b"/>
            <a:pathLst>
              <a:path w="4555680" h="938915">
                <a:moveTo>
                  <a:pt x="100004" y="0"/>
                </a:moveTo>
                <a:lnTo>
                  <a:pt x="4455676" y="0"/>
                </a:lnTo>
                <a:cubicBezTo>
                  <a:pt x="4510907" y="0"/>
                  <a:pt x="4555680" y="44773"/>
                  <a:pt x="4555680" y="100004"/>
                </a:cubicBezTo>
                <a:lnTo>
                  <a:pt x="4555680" y="838911"/>
                </a:lnTo>
                <a:cubicBezTo>
                  <a:pt x="4555680" y="894141"/>
                  <a:pt x="4510907" y="938915"/>
                  <a:pt x="4455676" y="938915"/>
                </a:cubicBezTo>
                <a:lnTo>
                  <a:pt x="100004" y="938915"/>
                </a:lnTo>
                <a:cubicBezTo>
                  <a:pt x="44773" y="938915"/>
                  <a:pt x="0" y="894141"/>
                  <a:pt x="0" y="838911"/>
                </a:cubicBezTo>
                <a:lnTo>
                  <a:pt x="0" y="100004"/>
                </a:lnTo>
                <a:cubicBezTo>
                  <a:pt x="0" y="44810"/>
                  <a:pt x="44810" y="0"/>
                  <a:pt x="100004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  <a:ln w="8467">
            <a:solidFill>
              <a:srgbClr val="7097E5">
                <a:alpha val="2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07929" y="5616820"/>
            <a:ext cx="4425121" cy="2333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407929" y="5916828"/>
            <a:ext cx="4416787" cy="433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没有最好的算法，只有最合适的算法。</a:t>
            </a:r>
            <a:r>
              <a:rPr lang="en-US" sz="105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算法选择应基于业务需求、数据特点、性能要求综合考虑。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06-d2sggsm1bb2p4onbon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1:33:05-d2sggse1bb2p4onbomv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4-11:33:05-d2sggse1bb2p4onbom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4-11:33:06-d2sggsm1bb2p4onbon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4-11:33:04-d2sggs61bb2p4onbomu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3989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F2F7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07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 技术实现细节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</p:sp>
      <p:sp>
        <p:nvSpPr>
          <p:cNvPr id="13" name="Shape 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4" name="Shape 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数据处理与特征工程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181100"/>
            <a:ext cx="7553325" cy="2019300"/>
          </a:xfrm>
          <a:custGeom>
            <a:avLst/>
            <a:gdLst/>
            <a:ahLst/>
            <a:cxnLst/>
            <a:rect l="l" t="t" r="r" b="b"/>
            <a:pathLst>
              <a:path w="7553325" h="2019300">
                <a:moveTo>
                  <a:pt x="38100" y="0"/>
                </a:moveTo>
                <a:lnTo>
                  <a:pt x="7439033" y="0"/>
                </a:lnTo>
                <a:cubicBezTo>
                  <a:pt x="7502155" y="0"/>
                  <a:pt x="7553325" y="51170"/>
                  <a:pt x="7553325" y="114292"/>
                </a:cubicBezTo>
                <a:lnTo>
                  <a:pt x="7553325" y="1905008"/>
                </a:lnTo>
                <a:cubicBezTo>
                  <a:pt x="7553325" y="1968130"/>
                  <a:pt x="7502155" y="2019300"/>
                  <a:pt x="7439033" y="2019300"/>
                </a:cubicBezTo>
                <a:lnTo>
                  <a:pt x="38100" y="2019300"/>
                </a:lnTo>
                <a:cubicBezTo>
                  <a:pt x="17058" y="2019300"/>
                  <a:pt x="0" y="2002242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181100"/>
            <a:ext cx="38100" cy="2019300"/>
          </a:xfrm>
          <a:custGeom>
            <a:avLst/>
            <a:gdLst/>
            <a:ahLst/>
            <a:cxnLst/>
            <a:rect l="l" t="t" r="r" b="b"/>
            <a:pathLst>
              <a:path w="38100" h="2019300">
                <a:moveTo>
                  <a:pt x="3810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38100" y="2019300"/>
                </a:lnTo>
                <a:cubicBezTo>
                  <a:pt x="17072" y="2019300"/>
                  <a:pt x="0" y="2002228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Text 4"/>
          <p:cNvSpPr/>
          <p:nvPr/>
        </p:nvSpPr>
        <p:spPr>
          <a:xfrm>
            <a:off x="571500" y="1333500"/>
            <a:ext cx="7343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数据预处理流程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17526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98897" y="189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89734" y="18284"/>
                </a:moveTo>
                <a:cubicBezTo>
                  <a:pt x="193919" y="14098"/>
                  <a:pt x="193919" y="7300"/>
                  <a:pt x="189734" y="3114"/>
                </a:cubicBezTo>
                <a:cubicBezTo>
                  <a:pt x="185548" y="-1072"/>
                  <a:pt x="178750" y="-1072"/>
                  <a:pt x="174564" y="3114"/>
                </a:cubicBezTo>
                <a:lnTo>
                  <a:pt x="110270" y="67408"/>
                </a:lnTo>
                <a:lnTo>
                  <a:pt x="98651" y="55788"/>
                </a:lnTo>
                <a:cubicBezTo>
                  <a:pt x="97244" y="54382"/>
                  <a:pt x="95302" y="53578"/>
                  <a:pt x="93293" y="53578"/>
                </a:cubicBezTo>
                <a:cubicBezTo>
                  <a:pt x="89107" y="53578"/>
                  <a:pt x="85725" y="56960"/>
                  <a:pt x="85725" y="61146"/>
                </a:cubicBezTo>
                <a:lnTo>
                  <a:pt x="85725" y="70891"/>
                </a:lnTo>
                <a:lnTo>
                  <a:pt x="121991" y="107156"/>
                </a:lnTo>
                <a:lnTo>
                  <a:pt x="131735" y="107156"/>
                </a:lnTo>
                <a:cubicBezTo>
                  <a:pt x="135921" y="107156"/>
                  <a:pt x="139303" y="103774"/>
                  <a:pt x="139303" y="99588"/>
                </a:cubicBezTo>
                <a:cubicBezTo>
                  <a:pt x="139303" y="97579"/>
                  <a:pt x="138499" y="95637"/>
                  <a:pt x="137093" y="94231"/>
                </a:cubicBezTo>
                <a:lnTo>
                  <a:pt x="125473" y="82611"/>
                </a:lnTo>
                <a:lnTo>
                  <a:pt x="189767" y="18317"/>
                </a:lnTo>
                <a:close/>
                <a:moveTo>
                  <a:pt x="114222" y="118341"/>
                </a:moveTo>
                <a:lnTo>
                  <a:pt x="74541" y="78659"/>
                </a:lnTo>
                <a:cubicBezTo>
                  <a:pt x="60242" y="77420"/>
                  <a:pt x="46010" y="82577"/>
                  <a:pt x="35763" y="92824"/>
                </a:cubicBezTo>
                <a:lnTo>
                  <a:pt x="33084" y="95503"/>
                </a:lnTo>
                <a:cubicBezTo>
                  <a:pt x="25617" y="102970"/>
                  <a:pt x="21431" y="113083"/>
                  <a:pt x="21431" y="123632"/>
                </a:cubicBezTo>
                <a:cubicBezTo>
                  <a:pt x="21431" y="125909"/>
                  <a:pt x="23809" y="127382"/>
                  <a:pt x="25851" y="126377"/>
                </a:cubicBezTo>
                <a:lnTo>
                  <a:pt x="42963" y="117838"/>
                </a:lnTo>
                <a:cubicBezTo>
                  <a:pt x="44637" y="117001"/>
                  <a:pt x="46144" y="119211"/>
                  <a:pt x="44771" y="120484"/>
                </a:cubicBezTo>
                <a:lnTo>
                  <a:pt x="2445" y="158524"/>
                </a:lnTo>
                <a:cubicBezTo>
                  <a:pt x="904" y="159931"/>
                  <a:pt x="0" y="161940"/>
                  <a:pt x="0" y="164050"/>
                </a:cubicBezTo>
                <a:cubicBezTo>
                  <a:pt x="0" y="168135"/>
                  <a:pt x="3315" y="171450"/>
                  <a:pt x="7400" y="171450"/>
                </a:cubicBezTo>
                <a:lnTo>
                  <a:pt x="65432" y="171450"/>
                </a:lnTo>
                <a:cubicBezTo>
                  <a:pt x="78425" y="171450"/>
                  <a:pt x="90848" y="166293"/>
                  <a:pt x="100057" y="157118"/>
                </a:cubicBezTo>
                <a:cubicBezTo>
                  <a:pt x="110304" y="146871"/>
                  <a:pt x="115427" y="132639"/>
                  <a:pt x="114222" y="118341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10" name="Text 7"/>
          <p:cNvSpPr/>
          <p:nvPr/>
        </p:nvSpPr>
        <p:spPr>
          <a:xfrm>
            <a:off x="976312" y="1866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数据清洗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171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去重处理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4384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缺失值处理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27051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异常值处理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018334" y="17526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3135015" y="18954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6" name="Text 13"/>
          <p:cNvSpPr/>
          <p:nvPr/>
        </p:nvSpPr>
        <p:spPr>
          <a:xfrm>
            <a:off x="3423146" y="1866900"/>
            <a:ext cx="838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数据标准化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32634" y="2171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StandardScaler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132634" y="24384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MinMaxScaler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32634" y="27051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归一化处理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65168" y="17526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5592564" y="1895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22" name="Text 19"/>
          <p:cNvSpPr/>
          <p:nvPr/>
        </p:nvSpPr>
        <p:spPr>
          <a:xfrm>
            <a:off x="5869980" y="186690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特征编码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79468" y="2171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One-hot编码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79468" y="24384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Label编码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79468" y="27051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目标编码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00050" y="3314700"/>
            <a:ext cx="7553325" cy="2019300"/>
          </a:xfrm>
          <a:custGeom>
            <a:avLst/>
            <a:gdLst/>
            <a:ahLst/>
            <a:cxnLst/>
            <a:rect l="l" t="t" r="r" b="b"/>
            <a:pathLst>
              <a:path w="7553325" h="2019300">
                <a:moveTo>
                  <a:pt x="38100" y="0"/>
                </a:moveTo>
                <a:lnTo>
                  <a:pt x="7439033" y="0"/>
                </a:lnTo>
                <a:cubicBezTo>
                  <a:pt x="7502155" y="0"/>
                  <a:pt x="7553325" y="51170"/>
                  <a:pt x="7553325" y="114292"/>
                </a:cubicBezTo>
                <a:lnTo>
                  <a:pt x="7553325" y="1905008"/>
                </a:lnTo>
                <a:cubicBezTo>
                  <a:pt x="7553325" y="1968130"/>
                  <a:pt x="7502155" y="2019300"/>
                  <a:pt x="7439033" y="2019300"/>
                </a:cubicBezTo>
                <a:lnTo>
                  <a:pt x="38100" y="2019300"/>
                </a:lnTo>
                <a:cubicBezTo>
                  <a:pt x="17058" y="2019300"/>
                  <a:pt x="0" y="2002242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00050" y="3314700"/>
            <a:ext cx="38100" cy="2019300"/>
          </a:xfrm>
          <a:custGeom>
            <a:avLst/>
            <a:gdLst/>
            <a:ahLst/>
            <a:cxnLst/>
            <a:rect l="l" t="t" r="r" b="b"/>
            <a:pathLst>
              <a:path w="38100" h="2019300">
                <a:moveTo>
                  <a:pt x="3810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38100" y="2019300"/>
                </a:lnTo>
                <a:cubicBezTo>
                  <a:pt x="17072" y="2019300"/>
                  <a:pt x="0" y="2002228"/>
                  <a:pt x="0" y="1981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8" name="Text 25"/>
          <p:cNvSpPr/>
          <p:nvPr/>
        </p:nvSpPr>
        <p:spPr>
          <a:xfrm>
            <a:off x="571500" y="3467100"/>
            <a:ext cx="7343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特征工程最佳实践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71500" y="38862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685800" y="40005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用户画像特征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85800" y="43053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RFM指标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85800" y="45720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用户生命周期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85800" y="4838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活跃度评分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018334" y="38862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3132634" y="40005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商品画像特征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3132634" y="43053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类别、品牌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132634" y="45720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价格区间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3132634" y="4838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热度评分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5465168" y="3886200"/>
            <a:ext cx="2333625" cy="1295400"/>
          </a:xfrm>
          <a:custGeom>
            <a:avLst/>
            <a:gdLst/>
            <a:ahLst/>
            <a:cxnLst/>
            <a:rect l="l" t="t" r="r" b="b"/>
            <a:pathLst>
              <a:path w="2333625" h="1295400">
                <a:moveTo>
                  <a:pt x="76195" y="0"/>
                </a:moveTo>
                <a:lnTo>
                  <a:pt x="2257430" y="0"/>
                </a:lnTo>
                <a:cubicBezTo>
                  <a:pt x="2299483" y="0"/>
                  <a:pt x="2333625" y="34142"/>
                  <a:pt x="2333625" y="76195"/>
                </a:cubicBezTo>
                <a:lnTo>
                  <a:pt x="2333625" y="1219205"/>
                </a:lnTo>
                <a:cubicBezTo>
                  <a:pt x="2333625" y="1261286"/>
                  <a:pt x="2299511" y="1295400"/>
                  <a:pt x="2257430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5579468" y="40005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交互特征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579468" y="43053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用户-商品交互矩阵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579468" y="45720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时间衰减权重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579468" y="4838700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行为序列模式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102600" y="1181100"/>
            <a:ext cx="3705225" cy="3009900"/>
          </a:xfrm>
          <a:custGeom>
            <a:avLst/>
            <a:gdLst/>
            <a:ahLst/>
            <a:cxnLst/>
            <a:rect l="l" t="t" r="r" b="b"/>
            <a:pathLst>
              <a:path w="3705225" h="3009900">
                <a:moveTo>
                  <a:pt x="114286" y="0"/>
                </a:moveTo>
                <a:lnTo>
                  <a:pt x="3590939" y="0"/>
                </a:lnTo>
                <a:cubicBezTo>
                  <a:pt x="3654057" y="0"/>
                  <a:pt x="3705225" y="51168"/>
                  <a:pt x="3705225" y="114286"/>
                </a:cubicBezTo>
                <a:lnTo>
                  <a:pt x="3705225" y="2895614"/>
                </a:lnTo>
                <a:cubicBezTo>
                  <a:pt x="3705225" y="2958732"/>
                  <a:pt x="3654057" y="3009900"/>
                  <a:pt x="3590939" y="3009900"/>
                </a:cubicBezTo>
                <a:lnTo>
                  <a:pt x="114286" y="3009900"/>
                </a:lnTo>
                <a:cubicBezTo>
                  <a:pt x="51168" y="3009900"/>
                  <a:pt x="0" y="2958732"/>
                  <a:pt x="0" y="2895614"/>
                </a:cubicBezTo>
                <a:lnTo>
                  <a:pt x="0" y="114286"/>
                </a:lnTo>
                <a:cubicBezTo>
                  <a:pt x="0" y="51168"/>
                  <a:pt x="51168" y="0"/>
                  <a:pt x="11428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8255000" y="1333500"/>
            <a:ext cx="3495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特征选择方法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55000" y="1714500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7" name="Text 44"/>
          <p:cNvSpPr/>
          <p:nvPr/>
        </p:nvSpPr>
        <p:spPr>
          <a:xfrm>
            <a:off x="8369300" y="18288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随机森林特征重要性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369300" y="20955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基于基尼不纯度或袋外误差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255000" y="2514600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8369300" y="26289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相关系数分析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369300" y="28956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Pearson或Spearman相关系数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255000" y="3314700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53" name="Text 50"/>
          <p:cNvSpPr/>
          <p:nvPr/>
        </p:nvSpPr>
        <p:spPr>
          <a:xfrm>
            <a:off x="8369300" y="34290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递归特征消除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369300" y="3695700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RFE逐步剔除不重要特征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8105775" y="4308475"/>
            <a:ext cx="3702050" cy="1987550"/>
          </a:xfrm>
          <a:custGeom>
            <a:avLst/>
            <a:gdLst/>
            <a:ahLst/>
            <a:cxnLst/>
            <a:rect l="l" t="t" r="r" b="b"/>
            <a:pathLst>
              <a:path w="3702050" h="1987550">
                <a:moveTo>
                  <a:pt x="114304" y="0"/>
                </a:moveTo>
                <a:lnTo>
                  <a:pt x="3587746" y="0"/>
                </a:lnTo>
                <a:cubicBezTo>
                  <a:pt x="3650874" y="0"/>
                  <a:pt x="3702050" y="51176"/>
                  <a:pt x="3702050" y="114304"/>
                </a:cubicBezTo>
                <a:lnTo>
                  <a:pt x="3702050" y="1873246"/>
                </a:lnTo>
                <a:cubicBezTo>
                  <a:pt x="3702050" y="1936374"/>
                  <a:pt x="3650874" y="1987550"/>
                  <a:pt x="3587746" y="1987550"/>
                </a:cubicBezTo>
                <a:lnTo>
                  <a:pt x="114304" y="1987550"/>
                </a:lnTo>
                <a:cubicBezTo>
                  <a:pt x="51176" y="1987550"/>
                  <a:pt x="0" y="1936374"/>
                  <a:pt x="0" y="18732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23250" y="4425944"/>
            <a:ext cx="3552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数据划分策略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223250" y="4845044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训练集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11162209" y="4806944"/>
            <a:ext cx="523875" cy="304800"/>
          </a:xfrm>
          <a:custGeom>
            <a:avLst/>
            <a:gdLst/>
            <a:ahLst/>
            <a:cxnLst/>
            <a:rect l="l" t="t" r="r" b="b"/>
            <a:pathLst>
              <a:path w="523875" h="304800">
                <a:moveTo>
                  <a:pt x="152400" y="0"/>
                </a:moveTo>
                <a:lnTo>
                  <a:pt x="371475" y="0"/>
                </a:lnTo>
                <a:cubicBezTo>
                  <a:pt x="455587" y="0"/>
                  <a:pt x="523875" y="68288"/>
                  <a:pt x="523875" y="152400"/>
                </a:cubicBezTo>
                <a:lnTo>
                  <a:pt x="523875" y="152400"/>
                </a:lnTo>
                <a:cubicBezTo>
                  <a:pt x="523875" y="236512"/>
                  <a:pt x="455587" y="304800"/>
                  <a:pt x="37147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59" name="Text 56"/>
          <p:cNvSpPr/>
          <p:nvPr/>
        </p:nvSpPr>
        <p:spPr>
          <a:xfrm>
            <a:off x="11162209" y="4806944"/>
            <a:ext cx="60007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8223250" y="5226044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验证集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1185823" y="5187944"/>
            <a:ext cx="504825" cy="304800"/>
          </a:xfrm>
          <a:custGeom>
            <a:avLst/>
            <a:gdLst/>
            <a:ahLst/>
            <a:cxnLst/>
            <a:rect l="l" t="t" r="r" b="b"/>
            <a:pathLst>
              <a:path w="504825" h="304800">
                <a:moveTo>
                  <a:pt x="152400" y="0"/>
                </a:moveTo>
                <a:lnTo>
                  <a:pt x="352425" y="0"/>
                </a:lnTo>
                <a:cubicBezTo>
                  <a:pt x="436537" y="0"/>
                  <a:pt x="504825" y="68288"/>
                  <a:pt x="504825" y="152400"/>
                </a:cubicBezTo>
                <a:lnTo>
                  <a:pt x="504825" y="152400"/>
                </a:lnTo>
                <a:cubicBezTo>
                  <a:pt x="504825" y="236512"/>
                  <a:pt x="436537" y="304800"/>
                  <a:pt x="3524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62" name="Text 59"/>
          <p:cNvSpPr/>
          <p:nvPr/>
        </p:nvSpPr>
        <p:spPr>
          <a:xfrm>
            <a:off x="11185823" y="5187944"/>
            <a:ext cx="58102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223250" y="5607044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测试集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11185823" y="5568944"/>
            <a:ext cx="504825" cy="304800"/>
          </a:xfrm>
          <a:custGeom>
            <a:avLst/>
            <a:gdLst/>
            <a:ahLst/>
            <a:cxnLst/>
            <a:rect l="l" t="t" r="r" b="b"/>
            <a:pathLst>
              <a:path w="504825" h="304800">
                <a:moveTo>
                  <a:pt x="152400" y="0"/>
                </a:moveTo>
                <a:lnTo>
                  <a:pt x="352425" y="0"/>
                </a:lnTo>
                <a:cubicBezTo>
                  <a:pt x="436537" y="0"/>
                  <a:pt x="504825" y="68288"/>
                  <a:pt x="504825" y="152400"/>
                </a:cubicBezTo>
                <a:lnTo>
                  <a:pt x="504825" y="152400"/>
                </a:lnTo>
                <a:cubicBezTo>
                  <a:pt x="504825" y="236512"/>
                  <a:pt x="436537" y="304800"/>
                  <a:pt x="352425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65" name="Text 62"/>
          <p:cNvSpPr/>
          <p:nvPr/>
        </p:nvSpPr>
        <p:spPr>
          <a:xfrm>
            <a:off x="11185823" y="5568944"/>
            <a:ext cx="581025" cy="3048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8223250" y="5949944"/>
            <a:ext cx="3543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200" b="1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K折交叉验证</a:t>
            </a: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(K=10)保证结果稳定性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模型训练与调参技巧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1811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3657592"/>
                </a:lnTo>
                <a:cubicBezTo>
                  <a:pt x="3686175" y="3720722"/>
                  <a:pt x="3634997" y="3771900"/>
                  <a:pt x="3571867" y="3771900"/>
                </a:cubicBez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181100"/>
            <a:ext cx="38100" cy="3771900"/>
          </a:xfrm>
          <a:custGeom>
            <a:avLst/>
            <a:gdLst/>
            <a:ahLst/>
            <a:cxnLst/>
            <a:rect l="l" t="t" r="r" b="b"/>
            <a:pathLst>
              <a:path w="38100" h="3771900">
                <a:moveTo>
                  <a:pt x="38100" y="0"/>
                </a:moveTo>
                <a:lnTo>
                  <a:pt x="38100" y="0"/>
                </a:lnTo>
                <a:lnTo>
                  <a:pt x="38100" y="3771900"/>
                </a:ln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7" name="Shape 4"/>
          <p:cNvSpPr/>
          <p:nvPr/>
        </p:nvSpPr>
        <p:spPr>
          <a:xfrm>
            <a:off x="5715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8" name="Text 5"/>
          <p:cNvSpPr/>
          <p:nvPr/>
        </p:nvSpPr>
        <p:spPr>
          <a:xfrm>
            <a:off x="523875" y="13335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142875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随机森林调参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1500" y="1905000"/>
            <a:ext cx="3362325" cy="952500"/>
          </a:xfrm>
          <a:custGeom>
            <a:avLst/>
            <a:gdLst/>
            <a:ahLst/>
            <a:cxnLst/>
            <a:rect l="l" t="t" r="r" b="b"/>
            <a:pathLst>
              <a:path w="3362325" h="952500">
                <a:moveTo>
                  <a:pt x="76200" y="0"/>
                </a:moveTo>
                <a:lnTo>
                  <a:pt x="3286125" y="0"/>
                </a:lnTo>
                <a:cubicBezTo>
                  <a:pt x="3328181" y="0"/>
                  <a:pt x="3362325" y="34144"/>
                  <a:pt x="3362325" y="76200"/>
                </a:cubicBezTo>
                <a:lnTo>
                  <a:pt x="3362325" y="876300"/>
                </a:lnTo>
                <a:cubicBezTo>
                  <a:pt x="3362325" y="918356"/>
                  <a:pt x="3328181" y="952500"/>
                  <a:pt x="3286125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685800" y="20193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网格搜索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286000"/>
            <a:ext cx="32099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参数组合: n_estimators、max_depth、min_samples_split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71500" y="29337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685800" y="30480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OOB误差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33147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使用袋外数据评估模型性能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71500" y="37338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685800" y="38481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特征筛选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5800" y="41148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通过特征重要性筛选关键特征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260850" y="11811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3657592"/>
                </a:lnTo>
                <a:cubicBezTo>
                  <a:pt x="3686175" y="3720722"/>
                  <a:pt x="3634997" y="3771900"/>
                  <a:pt x="3571867" y="3771900"/>
                </a:cubicBez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260850" y="1181100"/>
            <a:ext cx="38100" cy="3771900"/>
          </a:xfrm>
          <a:custGeom>
            <a:avLst/>
            <a:gdLst/>
            <a:ahLst/>
            <a:cxnLst/>
            <a:rect l="l" t="t" r="r" b="b"/>
            <a:pathLst>
              <a:path w="38100" h="3771900">
                <a:moveTo>
                  <a:pt x="38100" y="0"/>
                </a:moveTo>
                <a:lnTo>
                  <a:pt x="38100" y="0"/>
                </a:lnTo>
                <a:lnTo>
                  <a:pt x="38100" y="3771900"/>
                </a:ln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1" name="Shape 18"/>
          <p:cNvSpPr/>
          <p:nvPr/>
        </p:nvSpPr>
        <p:spPr>
          <a:xfrm>
            <a:off x="44323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2" name="Text 19"/>
          <p:cNvSpPr/>
          <p:nvPr/>
        </p:nvSpPr>
        <p:spPr>
          <a:xfrm>
            <a:off x="4384675" y="13335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SVM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03800" y="1428750"/>
            <a:ext cx="885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SVM调参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432300" y="19050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5" name="Text 22"/>
          <p:cNvSpPr/>
          <p:nvPr/>
        </p:nvSpPr>
        <p:spPr>
          <a:xfrm>
            <a:off x="4546600" y="20193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核函数选择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546600" y="22860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RBF核适合非线性问题，线性核适合线性问题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32300" y="27051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4546600" y="28194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惩罚系数C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546600" y="30861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通过交叉验证选择最优C值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432300" y="35052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1" name="Text 28"/>
          <p:cNvSpPr/>
          <p:nvPr/>
        </p:nvSpPr>
        <p:spPr>
          <a:xfrm>
            <a:off x="4546600" y="36195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gamma参数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546600" y="38862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影响决策边界复杂度，gamma越大边界越复杂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21650" y="1181100"/>
            <a:ext cx="3686175" cy="3771900"/>
          </a:xfrm>
          <a:custGeom>
            <a:avLst/>
            <a:gdLst/>
            <a:ahLst/>
            <a:cxnLst/>
            <a:rect l="l" t="t" r="r" b="b"/>
            <a:pathLst>
              <a:path w="3686175" h="3771900">
                <a:moveTo>
                  <a:pt x="38100" y="0"/>
                </a:moveTo>
                <a:lnTo>
                  <a:pt x="3571867" y="0"/>
                </a:lnTo>
                <a:cubicBezTo>
                  <a:pt x="3634997" y="0"/>
                  <a:pt x="3686175" y="51178"/>
                  <a:pt x="3686175" y="114308"/>
                </a:cubicBezTo>
                <a:lnTo>
                  <a:pt x="3686175" y="3657592"/>
                </a:lnTo>
                <a:cubicBezTo>
                  <a:pt x="3686175" y="3720722"/>
                  <a:pt x="3634997" y="3771900"/>
                  <a:pt x="3571867" y="3771900"/>
                </a:cubicBez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121650" y="1181100"/>
            <a:ext cx="38100" cy="3771900"/>
          </a:xfrm>
          <a:custGeom>
            <a:avLst/>
            <a:gdLst/>
            <a:ahLst/>
            <a:cxnLst/>
            <a:rect l="l" t="t" r="r" b="b"/>
            <a:pathLst>
              <a:path w="38100" h="3771900">
                <a:moveTo>
                  <a:pt x="38100" y="0"/>
                </a:moveTo>
                <a:lnTo>
                  <a:pt x="38100" y="0"/>
                </a:lnTo>
                <a:lnTo>
                  <a:pt x="38100" y="3771900"/>
                </a:lnTo>
                <a:lnTo>
                  <a:pt x="38100" y="3771900"/>
                </a:lnTo>
                <a:cubicBezTo>
                  <a:pt x="17072" y="3771900"/>
                  <a:pt x="0" y="3754828"/>
                  <a:pt x="0" y="3733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5" name="Shape 32"/>
          <p:cNvSpPr/>
          <p:nvPr/>
        </p:nvSpPr>
        <p:spPr>
          <a:xfrm>
            <a:off x="8293100" y="1333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36" name="Text 33"/>
          <p:cNvSpPr/>
          <p:nvPr/>
        </p:nvSpPr>
        <p:spPr>
          <a:xfrm>
            <a:off x="8245475" y="133350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864600" y="142875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神经网络调参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293100" y="19050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8407400" y="20193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隐藏层结构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8407400" y="22860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输入层→隐藏层1→隐藏层2→输出层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93100" y="27051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8407400" y="28194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激活函数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407400" y="30861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ReLU避免梯度消失，适合深层网络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293100" y="3505200"/>
            <a:ext cx="3362325" cy="723900"/>
          </a:xfrm>
          <a:custGeom>
            <a:avLst/>
            <a:gdLst/>
            <a:ahLst/>
            <a:cxnLst/>
            <a:rect l="l" t="t" r="r" b="b"/>
            <a:pathLst>
              <a:path w="3362325" h="723900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5" name="Text 42"/>
          <p:cNvSpPr/>
          <p:nvPr/>
        </p:nvSpPr>
        <p:spPr>
          <a:xfrm>
            <a:off x="8407400" y="36195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学习率调度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407400" y="3886200"/>
            <a:ext cx="3209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初始0.0001，动态调整，早停策略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381000" y="5067300"/>
            <a:ext cx="11430000" cy="1409700"/>
          </a:xfrm>
          <a:custGeom>
            <a:avLst/>
            <a:gdLst/>
            <a:ahLst/>
            <a:cxnLst/>
            <a:rect l="l" t="t" r="r" b="b"/>
            <a:pathLst>
              <a:path w="11430000" h="1409700">
                <a:moveTo>
                  <a:pt x="114298" y="0"/>
                </a:moveTo>
                <a:lnTo>
                  <a:pt x="11315702" y="0"/>
                </a:lnTo>
                <a:cubicBezTo>
                  <a:pt x="11378827" y="0"/>
                  <a:pt x="11430000" y="51173"/>
                  <a:pt x="11430000" y="114298"/>
                </a:cubicBezTo>
                <a:lnTo>
                  <a:pt x="11430000" y="1295402"/>
                </a:lnTo>
                <a:cubicBezTo>
                  <a:pt x="11430000" y="1358527"/>
                  <a:pt x="11378827" y="1409700"/>
                  <a:pt x="1131570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33400" y="5219700"/>
            <a:ext cx="11220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模型评估指标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3340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0" name="Text 47"/>
          <p:cNvSpPr/>
          <p:nvPr/>
        </p:nvSpPr>
        <p:spPr>
          <a:xfrm>
            <a:off x="60960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0960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正确预测比例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240665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53" name="Text 50"/>
          <p:cNvSpPr/>
          <p:nvPr/>
        </p:nvSpPr>
        <p:spPr>
          <a:xfrm>
            <a:off x="248285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248285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正例预测准确性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27990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56" name="Text 53"/>
          <p:cNvSpPr/>
          <p:nvPr/>
        </p:nvSpPr>
        <p:spPr>
          <a:xfrm>
            <a:off x="435610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召回率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435610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正例覆盖率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15315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9" name="Text 56"/>
          <p:cNvSpPr/>
          <p:nvPr/>
        </p:nvSpPr>
        <p:spPr>
          <a:xfrm>
            <a:off x="622935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F1值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622935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精确率召回率调和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2640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62" name="Text 59"/>
          <p:cNvSpPr/>
          <p:nvPr/>
        </p:nvSpPr>
        <p:spPr>
          <a:xfrm>
            <a:off x="810260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10260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模型泛化能力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9899650" y="5600700"/>
            <a:ext cx="1762125" cy="723900"/>
          </a:xfrm>
          <a:custGeom>
            <a:avLst/>
            <a:gdLst/>
            <a:ahLst/>
            <a:cxnLst/>
            <a:rect l="l" t="t" r="r" b="b"/>
            <a:pathLst>
              <a:path w="1762125" h="723900">
                <a:moveTo>
                  <a:pt x="76198" y="0"/>
                </a:moveTo>
                <a:lnTo>
                  <a:pt x="1685927" y="0"/>
                </a:lnTo>
                <a:cubicBezTo>
                  <a:pt x="1727982" y="0"/>
                  <a:pt x="1762125" y="34143"/>
                  <a:pt x="1762125" y="76198"/>
                </a:cubicBezTo>
                <a:lnTo>
                  <a:pt x="1762125" y="647702"/>
                </a:lnTo>
                <a:cubicBezTo>
                  <a:pt x="1762125" y="689757"/>
                  <a:pt x="1727982" y="723900"/>
                  <a:pt x="16859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65" name="Text 62"/>
          <p:cNvSpPr/>
          <p:nvPr/>
        </p:nvSpPr>
        <p:spPr>
          <a:xfrm>
            <a:off x="9975850" y="57150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混淆矩阵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975850" y="5981700"/>
            <a:ext cx="1609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7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详细分类结果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项目成果与业务价值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0050" y="1181100"/>
            <a:ext cx="6181725" cy="2705100"/>
          </a:xfrm>
          <a:custGeom>
            <a:avLst/>
            <a:gdLst/>
            <a:ahLst/>
            <a:cxnLst/>
            <a:rect l="l" t="t" r="r" b="b"/>
            <a:pathLst>
              <a:path w="6181725" h="2705100">
                <a:moveTo>
                  <a:pt x="38100" y="0"/>
                </a:moveTo>
                <a:lnTo>
                  <a:pt x="6067435" y="0"/>
                </a:lnTo>
                <a:cubicBezTo>
                  <a:pt x="6130555" y="0"/>
                  <a:pt x="6181725" y="51170"/>
                  <a:pt x="6181725" y="114290"/>
                </a:cubicBezTo>
                <a:lnTo>
                  <a:pt x="6181725" y="2590810"/>
                </a:lnTo>
                <a:cubicBezTo>
                  <a:pt x="6181725" y="2653930"/>
                  <a:pt x="6130555" y="2705100"/>
                  <a:pt x="6067435" y="2705100"/>
                </a:cubicBez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00050" y="1181100"/>
            <a:ext cx="38100" cy="2705100"/>
          </a:xfrm>
          <a:custGeom>
            <a:avLst/>
            <a:gdLst/>
            <a:ahLst/>
            <a:cxnLst/>
            <a:rect l="l" t="t" r="r" b="b"/>
            <a:pathLst>
              <a:path w="38100" h="2705100">
                <a:moveTo>
                  <a:pt x="38100" y="0"/>
                </a:moveTo>
                <a:lnTo>
                  <a:pt x="38100" y="0"/>
                </a:lnTo>
                <a:lnTo>
                  <a:pt x="38100" y="2705100"/>
                </a:lnTo>
                <a:lnTo>
                  <a:pt x="38100" y="2705100"/>
                </a:lnTo>
                <a:cubicBezTo>
                  <a:pt x="17072" y="2705100"/>
                  <a:pt x="0" y="2688028"/>
                  <a:pt x="0" y="2667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" name="Text 4"/>
          <p:cNvSpPr/>
          <p:nvPr/>
        </p:nvSpPr>
        <p:spPr>
          <a:xfrm>
            <a:off x="571500" y="1333500"/>
            <a:ext cx="5972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量化业务成果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1752600"/>
            <a:ext cx="1876425" cy="1066800"/>
          </a:xfrm>
          <a:custGeom>
            <a:avLst/>
            <a:gdLst/>
            <a:ahLst/>
            <a:cxnLst/>
            <a:rect l="l" t="t" r="r" b="b"/>
            <a:pathLst>
              <a:path w="1876425" h="10668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990598"/>
                </a:lnTo>
                <a:cubicBezTo>
                  <a:pt x="1876425" y="1032683"/>
                  <a:pt x="1842308" y="1066800"/>
                  <a:pt x="18002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14363" y="1866900"/>
            <a:ext cx="17907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+15%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7700" y="2247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点击率提升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2463" y="25146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推荐系统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562820" y="1752600"/>
            <a:ext cx="1876425" cy="1066800"/>
          </a:xfrm>
          <a:custGeom>
            <a:avLst/>
            <a:gdLst/>
            <a:ahLst/>
            <a:cxnLst/>
            <a:rect l="l" t="t" r="r" b="b"/>
            <a:pathLst>
              <a:path w="1876425" h="10668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990598"/>
                </a:lnTo>
                <a:cubicBezTo>
                  <a:pt x="1876425" y="1032683"/>
                  <a:pt x="1842308" y="1066800"/>
                  <a:pt x="18002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2605683" y="1866900"/>
            <a:ext cx="17907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+40%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39020" y="2247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异常识别率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43783" y="25146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异常检测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54141" y="1752600"/>
            <a:ext cx="1876425" cy="1066800"/>
          </a:xfrm>
          <a:custGeom>
            <a:avLst/>
            <a:gdLst/>
            <a:ahLst/>
            <a:cxnLst/>
            <a:rect l="l" t="t" r="r" b="b"/>
            <a:pathLst>
              <a:path w="1876425" h="10668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990598"/>
                </a:lnTo>
                <a:cubicBezTo>
                  <a:pt x="1876425" y="1032683"/>
                  <a:pt x="1842308" y="1066800"/>
                  <a:pt x="180022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597003" y="1866900"/>
            <a:ext cx="17907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30341" y="2247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复购率提升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35103" y="2514600"/>
            <a:ext cx="1714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73737">
                    <a:alpha val="6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复购预测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1500" y="2933700"/>
            <a:ext cx="1876425" cy="800100"/>
          </a:xfrm>
          <a:custGeom>
            <a:avLst/>
            <a:gdLst/>
            <a:ahLst/>
            <a:cxnLst/>
            <a:rect l="l" t="t" r="r" b="b"/>
            <a:pathLst>
              <a:path w="1876425" h="8001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723898"/>
                </a:lnTo>
                <a:cubicBezTo>
                  <a:pt x="1876425" y="765983"/>
                  <a:pt x="1842308" y="800100"/>
                  <a:pt x="1800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21" name="Text 18"/>
          <p:cNvSpPr/>
          <p:nvPr/>
        </p:nvSpPr>
        <p:spPr>
          <a:xfrm>
            <a:off x="628650" y="3048000"/>
            <a:ext cx="1762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5C7CB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+20%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7700" y="3390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转化率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562820" y="2933700"/>
            <a:ext cx="1876425" cy="800100"/>
          </a:xfrm>
          <a:custGeom>
            <a:avLst/>
            <a:gdLst/>
            <a:ahLst/>
            <a:cxnLst/>
            <a:rect l="l" t="t" r="r" b="b"/>
            <a:pathLst>
              <a:path w="1876425" h="8001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723898"/>
                </a:lnTo>
                <a:cubicBezTo>
                  <a:pt x="1876425" y="765983"/>
                  <a:pt x="1842308" y="800100"/>
                  <a:pt x="1800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4" name="Text 21"/>
          <p:cNvSpPr/>
          <p:nvPr/>
        </p:nvSpPr>
        <p:spPr>
          <a:xfrm>
            <a:off x="2619970" y="3048000"/>
            <a:ext cx="1762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7097E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&lt;1%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639020" y="3390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误报率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554141" y="2933700"/>
            <a:ext cx="1876425" cy="800100"/>
          </a:xfrm>
          <a:custGeom>
            <a:avLst/>
            <a:gdLst/>
            <a:ahLst/>
            <a:cxnLst/>
            <a:rect l="l" t="t" r="r" b="b"/>
            <a:pathLst>
              <a:path w="1876425" h="800100">
                <a:moveTo>
                  <a:pt x="76202" y="0"/>
                </a:moveTo>
                <a:lnTo>
                  <a:pt x="1800223" y="0"/>
                </a:lnTo>
                <a:cubicBezTo>
                  <a:pt x="1842308" y="0"/>
                  <a:pt x="1876425" y="34117"/>
                  <a:pt x="1876425" y="76202"/>
                </a:cubicBezTo>
                <a:lnTo>
                  <a:pt x="1876425" y="723898"/>
                </a:lnTo>
                <a:cubicBezTo>
                  <a:pt x="1876425" y="765983"/>
                  <a:pt x="1842308" y="800100"/>
                  <a:pt x="1800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4611291" y="3048000"/>
            <a:ext cx="17621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+30%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30341" y="3390900"/>
            <a:ext cx="1724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营销转化率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00050" y="4000500"/>
            <a:ext cx="6181725" cy="2324100"/>
          </a:xfrm>
          <a:custGeom>
            <a:avLst/>
            <a:gdLst/>
            <a:ahLst/>
            <a:cxnLst/>
            <a:rect l="l" t="t" r="r" b="b"/>
            <a:pathLst>
              <a:path w="6181725" h="2324100">
                <a:moveTo>
                  <a:pt x="38100" y="0"/>
                </a:moveTo>
                <a:lnTo>
                  <a:pt x="6067426" y="0"/>
                </a:lnTo>
                <a:cubicBezTo>
                  <a:pt x="6130551" y="0"/>
                  <a:pt x="6181725" y="51174"/>
                  <a:pt x="6181725" y="114299"/>
                </a:cubicBezTo>
                <a:lnTo>
                  <a:pt x="6181725" y="2209801"/>
                </a:lnTo>
                <a:cubicBezTo>
                  <a:pt x="6181725" y="2272926"/>
                  <a:pt x="6130551" y="2324100"/>
                  <a:pt x="6067426" y="2324100"/>
                </a:cubicBez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00050" y="40005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3810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31" name="Text 28"/>
          <p:cNvSpPr/>
          <p:nvPr/>
        </p:nvSpPr>
        <p:spPr>
          <a:xfrm>
            <a:off x="571500" y="4152900"/>
            <a:ext cx="5953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技术成果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71500" y="4533900"/>
            <a:ext cx="2876550" cy="762000"/>
          </a:xfrm>
          <a:custGeom>
            <a:avLst/>
            <a:gdLst/>
            <a:ahLst/>
            <a:cxnLst/>
            <a:rect l="l" t="t" r="r" b="b"/>
            <a:pathLst>
              <a:path w="2876550" h="762000">
                <a:moveTo>
                  <a:pt x="76200" y="0"/>
                </a:moveTo>
                <a:lnTo>
                  <a:pt x="2800350" y="0"/>
                </a:lnTo>
                <a:cubicBezTo>
                  <a:pt x="2842406" y="0"/>
                  <a:pt x="2876550" y="34144"/>
                  <a:pt x="2876550" y="76200"/>
                </a:cubicBezTo>
                <a:lnTo>
                  <a:pt x="2876550" y="685800"/>
                </a:lnTo>
                <a:cubicBezTo>
                  <a:pt x="2876550" y="727856"/>
                  <a:pt x="2842406" y="762000"/>
                  <a:pt x="28003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685800" y="46482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平台搭建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85800" y="49530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建立了完整的用户行为分析平台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558480" y="4533900"/>
            <a:ext cx="2876550" cy="762000"/>
          </a:xfrm>
          <a:custGeom>
            <a:avLst/>
            <a:gdLst/>
            <a:ahLst/>
            <a:cxnLst/>
            <a:rect l="l" t="t" r="r" b="b"/>
            <a:pathLst>
              <a:path w="2876550" h="762000">
                <a:moveTo>
                  <a:pt x="76200" y="0"/>
                </a:moveTo>
                <a:lnTo>
                  <a:pt x="2800350" y="0"/>
                </a:lnTo>
                <a:cubicBezTo>
                  <a:pt x="2842406" y="0"/>
                  <a:pt x="2876550" y="34144"/>
                  <a:pt x="2876550" y="76200"/>
                </a:cubicBezTo>
                <a:lnTo>
                  <a:pt x="2876550" y="685800"/>
                </a:lnTo>
                <a:cubicBezTo>
                  <a:pt x="2876550" y="727856"/>
                  <a:pt x="2842406" y="762000"/>
                  <a:pt x="28003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3672780" y="46482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算法库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672780" y="49530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形成了可复用的算法库和特征工程流程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71500" y="5410200"/>
            <a:ext cx="2876550" cy="762000"/>
          </a:xfrm>
          <a:custGeom>
            <a:avLst/>
            <a:gdLst/>
            <a:ahLst/>
            <a:cxnLst/>
            <a:rect l="l" t="t" r="r" b="b"/>
            <a:pathLst>
              <a:path w="2876550" h="762000">
                <a:moveTo>
                  <a:pt x="76200" y="0"/>
                </a:moveTo>
                <a:lnTo>
                  <a:pt x="2800350" y="0"/>
                </a:lnTo>
                <a:cubicBezTo>
                  <a:pt x="2842406" y="0"/>
                  <a:pt x="2876550" y="34144"/>
                  <a:pt x="2876550" y="76200"/>
                </a:cubicBezTo>
                <a:lnTo>
                  <a:pt x="2876550" y="685800"/>
                </a:lnTo>
                <a:cubicBezTo>
                  <a:pt x="2876550" y="727856"/>
                  <a:pt x="2842406" y="762000"/>
                  <a:pt x="28003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9" name="Text 36"/>
          <p:cNvSpPr/>
          <p:nvPr/>
        </p:nvSpPr>
        <p:spPr>
          <a:xfrm>
            <a:off x="685800" y="55245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经验积累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85800" y="58293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积累了丰富的模型调参经验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3558480" y="5410200"/>
            <a:ext cx="2876550" cy="762000"/>
          </a:xfrm>
          <a:custGeom>
            <a:avLst/>
            <a:gdLst/>
            <a:ahLst/>
            <a:cxnLst/>
            <a:rect l="l" t="t" r="r" b="b"/>
            <a:pathLst>
              <a:path w="2876550" h="762000">
                <a:moveTo>
                  <a:pt x="76200" y="0"/>
                </a:moveTo>
                <a:lnTo>
                  <a:pt x="2800350" y="0"/>
                </a:lnTo>
                <a:cubicBezTo>
                  <a:pt x="2842406" y="0"/>
                  <a:pt x="2876550" y="34144"/>
                  <a:pt x="2876550" y="76200"/>
                </a:cubicBezTo>
                <a:lnTo>
                  <a:pt x="2876550" y="685800"/>
                </a:lnTo>
                <a:cubicBezTo>
                  <a:pt x="2876550" y="727856"/>
                  <a:pt x="2842406" y="762000"/>
                  <a:pt x="28003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3672780" y="55245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3672780" y="5829300"/>
            <a:ext cx="27241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形成了项目实施的最佳实践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755110" y="1181100"/>
            <a:ext cx="5057775" cy="2324100"/>
          </a:xfrm>
          <a:custGeom>
            <a:avLst/>
            <a:gdLst/>
            <a:ahLst/>
            <a:cxnLst/>
            <a:rect l="l" t="t" r="r" b="b"/>
            <a:pathLst>
              <a:path w="5057775" h="2324100">
                <a:moveTo>
                  <a:pt x="38100" y="0"/>
                </a:moveTo>
                <a:lnTo>
                  <a:pt x="4943476" y="0"/>
                </a:lnTo>
                <a:cubicBezTo>
                  <a:pt x="5006601" y="0"/>
                  <a:pt x="5057775" y="51174"/>
                  <a:pt x="5057775" y="114299"/>
                </a:cubicBezTo>
                <a:lnTo>
                  <a:pt x="5057775" y="2209801"/>
                </a:lnTo>
                <a:cubicBezTo>
                  <a:pt x="5057775" y="2272926"/>
                  <a:pt x="5006601" y="2324100"/>
                  <a:pt x="4943476" y="2324100"/>
                </a:cubicBez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755110" y="1181100"/>
            <a:ext cx="38100" cy="2324100"/>
          </a:xfrm>
          <a:custGeom>
            <a:avLst/>
            <a:gdLst/>
            <a:ahLst/>
            <a:cxnLst/>
            <a:rect l="l" t="t" r="r" b="b"/>
            <a:pathLst>
              <a:path w="38100" h="2324100">
                <a:moveTo>
                  <a:pt x="38100" y="0"/>
                </a:moveTo>
                <a:lnTo>
                  <a:pt x="38100" y="0"/>
                </a:lnTo>
                <a:lnTo>
                  <a:pt x="38100" y="2324100"/>
                </a:lnTo>
                <a:lnTo>
                  <a:pt x="38100" y="2324100"/>
                </a:lnTo>
                <a:cubicBezTo>
                  <a:pt x="17072" y="2324100"/>
                  <a:pt x="0" y="2307028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46" name="Text 43"/>
          <p:cNvSpPr/>
          <p:nvPr/>
        </p:nvSpPr>
        <p:spPr>
          <a:xfrm>
            <a:off x="6926560" y="1333500"/>
            <a:ext cx="4829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团队能力提升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950373" y="1752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8" name="Text 45"/>
          <p:cNvSpPr/>
          <p:nvPr/>
        </p:nvSpPr>
        <p:spPr>
          <a:xfrm>
            <a:off x="7255173" y="17145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算法掌握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255173" y="19812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掌握了三种核心机器学习算法的原理和应用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950373" y="23241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51" name="Text 48"/>
          <p:cNvSpPr/>
          <p:nvPr/>
        </p:nvSpPr>
        <p:spPr>
          <a:xfrm>
            <a:off x="7255173" y="22860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项目能力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255173" y="2552700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具备了端到端的项目实施能力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950373" y="28956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4" name="Text 51"/>
          <p:cNvSpPr/>
          <p:nvPr/>
        </p:nvSpPr>
        <p:spPr>
          <a:xfrm>
            <a:off x="7255173" y="28575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数据驱动文化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255173" y="31242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建立了数据驱动的决策文化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739235" y="3622675"/>
            <a:ext cx="5064125" cy="1758950"/>
          </a:xfrm>
          <a:custGeom>
            <a:avLst/>
            <a:gdLst/>
            <a:ahLst/>
            <a:cxnLst/>
            <a:rect l="l" t="t" r="r" b="b"/>
            <a:pathLst>
              <a:path w="5064125" h="1758950">
                <a:moveTo>
                  <a:pt x="114297" y="0"/>
                </a:moveTo>
                <a:lnTo>
                  <a:pt x="4949828" y="0"/>
                </a:lnTo>
                <a:cubicBezTo>
                  <a:pt x="5012953" y="0"/>
                  <a:pt x="5064125" y="51172"/>
                  <a:pt x="5064125" y="114297"/>
                </a:cubicBezTo>
                <a:lnTo>
                  <a:pt x="5064125" y="1644653"/>
                </a:lnTo>
                <a:cubicBezTo>
                  <a:pt x="5064125" y="1707778"/>
                  <a:pt x="5012953" y="1758950"/>
                  <a:pt x="4949828" y="1758950"/>
                </a:cubicBezTo>
                <a:lnTo>
                  <a:pt x="114297" y="1758950"/>
                </a:lnTo>
                <a:cubicBezTo>
                  <a:pt x="51172" y="1758950"/>
                  <a:pt x="0" y="1707778"/>
                  <a:pt x="0" y="16446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  <a:ln w="8467">
            <a:solidFill>
              <a:srgbClr val="8FA7D0">
                <a:alpha val="2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6711" y="3740144"/>
            <a:ext cx="491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关键成功因素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6866236" y="41592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59" name="Text 56"/>
          <p:cNvSpPr/>
          <p:nvPr/>
        </p:nvSpPr>
        <p:spPr>
          <a:xfrm>
            <a:off x="7123411" y="4121144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业务理解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：深入理解业务需求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866236" y="44640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7097E5"/>
          </a:solidFill>
        </p:spPr>
      </p:sp>
      <p:sp>
        <p:nvSpPr>
          <p:cNvPr id="61" name="Text 58"/>
          <p:cNvSpPr/>
          <p:nvPr/>
        </p:nvSpPr>
        <p:spPr>
          <a:xfrm>
            <a:off x="7123411" y="4425944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数据质量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：保证数据准确性和完整性</a:t>
            </a:r>
            <a:endParaRPr lang="en-US" sz="1600" dirty="0"/>
          </a:p>
        </p:txBody>
      </p:sp>
      <p:sp>
        <p:nvSpPr>
          <p:cNvPr id="62" name="Shape 59"/>
          <p:cNvSpPr/>
          <p:nvPr/>
        </p:nvSpPr>
        <p:spPr>
          <a:xfrm>
            <a:off x="6866236" y="47688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8FA7D0"/>
          </a:solidFill>
        </p:spPr>
      </p:sp>
      <p:sp>
        <p:nvSpPr>
          <p:cNvPr id="63" name="Text 60"/>
          <p:cNvSpPr/>
          <p:nvPr/>
        </p:nvSpPr>
        <p:spPr>
          <a:xfrm>
            <a:off x="7123411" y="4730744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算法选择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：根据场景选择合适算法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6866236" y="507364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65" name="Text 62"/>
          <p:cNvSpPr/>
          <p:nvPr/>
        </p:nvSpPr>
        <p:spPr>
          <a:xfrm>
            <a:off x="7123411" y="5035544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持续优化</a:t>
            </a:r>
            <a:r>
              <a:rPr lang="en-US" sz="120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：模型迭代和性能提升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739235" y="5502263"/>
            <a:ext cx="5064125" cy="1073150"/>
          </a:xfrm>
          <a:custGeom>
            <a:avLst/>
            <a:gdLst/>
            <a:ahLst/>
            <a:cxnLst/>
            <a:rect l="l" t="t" r="r" b="b"/>
            <a:pathLst>
              <a:path w="5064125" h="1073150">
                <a:moveTo>
                  <a:pt x="114301" y="0"/>
                </a:moveTo>
                <a:lnTo>
                  <a:pt x="4949824" y="0"/>
                </a:lnTo>
                <a:cubicBezTo>
                  <a:pt x="5012951" y="0"/>
                  <a:pt x="5064125" y="51174"/>
                  <a:pt x="5064125" y="114301"/>
                </a:cubicBezTo>
                <a:lnTo>
                  <a:pt x="5064125" y="958849"/>
                </a:lnTo>
                <a:cubicBezTo>
                  <a:pt x="5064125" y="1021976"/>
                  <a:pt x="5012951" y="1073150"/>
                  <a:pt x="4949824" y="1073150"/>
                </a:cubicBezTo>
                <a:lnTo>
                  <a:pt x="114301" y="1073150"/>
                </a:lnTo>
                <a:cubicBezTo>
                  <a:pt x="51174" y="1073150"/>
                  <a:pt x="0" y="1021976"/>
                  <a:pt x="0" y="958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C7CB3">
              <a:alpha val="5098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56711" y="5619750"/>
            <a:ext cx="49149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业务价值总结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6856711" y="5962650"/>
            <a:ext cx="490537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通过三种机器学习算法的应用，我们成功解决了电商用户行为分析的核心问题，为业务创造了显著价值。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6563" y="336563"/>
            <a:ext cx="11577772" cy="1682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0" b="1" kern="0" spc="93" dirty="0">
                <a:solidFill>
                  <a:srgbClr val="8FA7D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6563" y="572157"/>
            <a:ext cx="11670327" cy="3365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未来发展方向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53391" y="1043346"/>
            <a:ext cx="5671089" cy="3500257"/>
          </a:xfrm>
          <a:custGeom>
            <a:avLst/>
            <a:gdLst/>
            <a:ahLst/>
            <a:cxnLst/>
            <a:rect l="l" t="t" r="r" b="b"/>
            <a:pathLst>
              <a:path w="5671089" h="3500257">
                <a:moveTo>
                  <a:pt x="33656" y="0"/>
                </a:moveTo>
                <a:lnTo>
                  <a:pt x="5570107" y="0"/>
                </a:lnTo>
                <a:cubicBezTo>
                  <a:pt x="5625878" y="0"/>
                  <a:pt x="5671089" y="45211"/>
                  <a:pt x="5671089" y="100982"/>
                </a:cubicBezTo>
                <a:lnTo>
                  <a:pt x="5671089" y="3399274"/>
                </a:lnTo>
                <a:cubicBezTo>
                  <a:pt x="5671089" y="3455045"/>
                  <a:pt x="5625878" y="3500257"/>
                  <a:pt x="5570107" y="3500257"/>
                </a:cubicBezTo>
                <a:lnTo>
                  <a:pt x="33656" y="3500257"/>
                </a:lnTo>
                <a:cubicBezTo>
                  <a:pt x="15068" y="3500257"/>
                  <a:pt x="0" y="3485188"/>
                  <a:pt x="0" y="346660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211" dist="841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3391" y="1043346"/>
            <a:ext cx="33656" cy="3500257"/>
          </a:xfrm>
          <a:custGeom>
            <a:avLst/>
            <a:gdLst/>
            <a:ahLst/>
            <a:cxnLst/>
            <a:rect l="l" t="t" r="r" b="b"/>
            <a:pathLst>
              <a:path w="33656" h="3500257">
                <a:moveTo>
                  <a:pt x="33656" y="0"/>
                </a:moveTo>
                <a:lnTo>
                  <a:pt x="33656" y="0"/>
                </a:lnTo>
                <a:lnTo>
                  <a:pt x="33656" y="3500257"/>
                </a:lnTo>
                <a:lnTo>
                  <a:pt x="33656" y="3500257"/>
                </a:lnTo>
                <a:cubicBezTo>
                  <a:pt x="15068" y="3500257"/>
                  <a:pt x="0" y="3485188"/>
                  <a:pt x="0" y="346660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7" name="Text 4"/>
          <p:cNvSpPr/>
          <p:nvPr/>
        </p:nvSpPr>
        <p:spPr>
          <a:xfrm>
            <a:off x="504845" y="1177971"/>
            <a:ext cx="5485979" cy="2692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算法优化方向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4845" y="1548190"/>
            <a:ext cx="5385010" cy="908720"/>
          </a:xfrm>
          <a:custGeom>
            <a:avLst/>
            <a:gdLst/>
            <a:ahLst/>
            <a:cxnLst/>
            <a:rect l="l" t="t" r="r" b="b"/>
            <a:pathLst>
              <a:path w="5385010" h="908720">
                <a:moveTo>
                  <a:pt x="67309" y="0"/>
                </a:moveTo>
                <a:lnTo>
                  <a:pt x="5317701" y="0"/>
                </a:lnTo>
                <a:cubicBezTo>
                  <a:pt x="5354875" y="0"/>
                  <a:pt x="5385010" y="30135"/>
                  <a:pt x="5385010" y="67309"/>
                </a:cubicBezTo>
                <a:lnTo>
                  <a:pt x="5385010" y="841412"/>
                </a:lnTo>
                <a:cubicBezTo>
                  <a:pt x="5385010" y="878585"/>
                  <a:pt x="5354875" y="908720"/>
                  <a:pt x="5317701" y="908720"/>
                </a:cubicBezTo>
                <a:lnTo>
                  <a:pt x="67309" y="908720"/>
                </a:lnTo>
                <a:cubicBezTo>
                  <a:pt x="30135" y="908720"/>
                  <a:pt x="0" y="878585"/>
                  <a:pt x="0" y="841412"/>
                </a:cubicBezTo>
                <a:lnTo>
                  <a:pt x="0" y="67309"/>
                </a:lnTo>
                <a:cubicBezTo>
                  <a:pt x="0" y="30160"/>
                  <a:pt x="30160" y="0"/>
                  <a:pt x="67309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626849" y="1674402"/>
            <a:ext cx="151453" cy="151453"/>
          </a:xfrm>
          <a:custGeom>
            <a:avLst/>
            <a:gdLst/>
            <a:ahLst/>
            <a:cxnLst/>
            <a:rect l="l" t="t" r="r" b="b"/>
            <a:pathLst>
              <a:path w="151453" h="151453">
                <a:moveTo>
                  <a:pt x="35497" y="16565"/>
                </a:moveTo>
                <a:cubicBezTo>
                  <a:pt x="35497" y="7425"/>
                  <a:pt x="42922" y="0"/>
                  <a:pt x="52062" y="0"/>
                </a:cubicBezTo>
                <a:lnTo>
                  <a:pt x="59161" y="0"/>
                </a:lnTo>
                <a:cubicBezTo>
                  <a:pt x="64397" y="0"/>
                  <a:pt x="68627" y="4230"/>
                  <a:pt x="68627" y="9466"/>
                </a:cubicBezTo>
                <a:lnTo>
                  <a:pt x="68627" y="141988"/>
                </a:lnTo>
                <a:cubicBezTo>
                  <a:pt x="68627" y="147223"/>
                  <a:pt x="64397" y="151453"/>
                  <a:pt x="59161" y="151453"/>
                </a:cubicBezTo>
                <a:lnTo>
                  <a:pt x="49696" y="151453"/>
                </a:lnTo>
                <a:cubicBezTo>
                  <a:pt x="40881" y="151453"/>
                  <a:pt x="33456" y="145419"/>
                  <a:pt x="31356" y="137255"/>
                </a:cubicBezTo>
                <a:cubicBezTo>
                  <a:pt x="31149" y="137255"/>
                  <a:pt x="30971" y="137255"/>
                  <a:pt x="30764" y="137255"/>
                </a:cubicBezTo>
                <a:cubicBezTo>
                  <a:pt x="17689" y="137255"/>
                  <a:pt x="7099" y="126665"/>
                  <a:pt x="7099" y="113590"/>
                </a:cubicBezTo>
                <a:cubicBezTo>
                  <a:pt x="7099" y="108266"/>
                  <a:pt x="8874" y="103355"/>
                  <a:pt x="11832" y="99391"/>
                </a:cubicBezTo>
                <a:cubicBezTo>
                  <a:pt x="6094" y="95073"/>
                  <a:pt x="2366" y="88210"/>
                  <a:pt x="2366" y="80460"/>
                </a:cubicBezTo>
                <a:cubicBezTo>
                  <a:pt x="2366" y="71319"/>
                  <a:pt x="7573" y="63362"/>
                  <a:pt x="15145" y="59428"/>
                </a:cubicBezTo>
                <a:cubicBezTo>
                  <a:pt x="13045" y="55878"/>
                  <a:pt x="11832" y="51737"/>
                  <a:pt x="11832" y="47329"/>
                </a:cubicBezTo>
                <a:cubicBezTo>
                  <a:pt x="11832" y="34255"/>
                  <a:pt x="22422" y="23665"/>
                  <a:pt x="35497" y="23665"/>
                </a:cubicBezTo>
                <a:lnTo>
                  <a:pt x="35497" y="16565"/>
                </a:lnTo>
                <a:close/>
                <a:moveTo>
                  <a:pt x="115957" y="16565"/>
                </a:moveTo>
                <a:lnTo>
                  <a:pt x="115957" y="23665"/>
                </a:lnTo>
                <a:cubicBezTo>
                  <a:pt x="129031" y="23665"/>
                  <a:pt x="139621" y="34255"/>
                  <a:pt x="139621" y="47329"/>
                </a:cubicBezTo>
                <a:cubicBezTo>
                  <a:pt x="139621" y="51766"/>
                  <a:pt x="138408" y="55908"/>
                  <a:pt x="136308" y="59428"/>
                </a:cubicBezTo>
                <a:cubicBezTo>
                  <a:pt x="143910" y="63362"/>
                  <a:pt x="149087" y="71290"/>
                  <a:pt x="149087" y="80460"/>
                </a:cubicBezTo>
                <a:cubicBezTo>
                  <a:pt x="149087" y="88210"/>
                  <a:pt x="145360" y="95073"/>
                  <a:pt x="139621" y="99391"/>
                </a:cubicBezTo>
                <a:cubicBezTo>
                  <a:pt x="142579" y="103355"/>
                  <a:pt x="144354" y="108266"/>
                  <a:pt x="144354" y="113590"/>
                </a:cubicBezTo>
                <a:cubicBezTo>
                  <a:pt x="144354" y="126665"/>
                  <a:pt x="133764" y="137255"/>
                  <a:pt x="120689" y="137255"/>
                </a:cubicBezTo>
                <a:cubicBezTo>
                  <a:pt x="120482" y="137255"/>
                  <a:pt x="120305" y="137255"/>
                  <a:pt x="120098" y="137255"/>
                </a:cubicBezTo>
                <a:cubicBezTo>
                  <a:pt x="117998" y="145419"/>
                  <a:pt x="110573" y="151453"/>
                  <a:pt x="101758" y="151453"/>
                </a:cubicBezTo>
                <a:lnTo>
                  <a:pt x="92292" y="151453"/>
                </a:lnTo>
                <a:cubicBezTo>
                  <a:pt x="87056" y="151453"/>
                  <a:pt x="82826" y="147223"/>
                  <a:pt x="82826" y="141988"/>
                </a:cubicBezTo>
                <a:lnTo>
                  <a:pt x="82826" y="9466"/>
                </a:lnTo>
                <a:cubicBezTo>
                  <a:pt x="82826" y="4230"/>
                  <a:pt x="87056" y="0"/>
                  <a:pt x="92292" y="0"/>
                </a:cubicBezTo>
                <a:lnTo>
                  <a:pt x="99391" y="0"/>
                </a:lnTo>
                <a:cubicBezTo>
                  <a:pt x="108532" y="0"/>
                  <a:pt x="115957" y="7425"/>
                  <a:pt x="115957" y="16565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10" name="Text 7"/>
          <p:cNvSpPr/>
          <p:nvPr/>
        </p:nvSpPr>
        <p:spPr>
          <a:xfrm>
            <a:off x="862443" y="1649159"/>
            <a:ext cx="114431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深度学习模型优化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5814" y="1918410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尝试CNN处理商品图像、RNN处理用户行为序列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5814" y="2154004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探索Transformer、BERT等先进模型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4845" y="2524224"/>
            <a:ext cx="5385010" cy="908720"/>
          </a:xfrm>
          <a:custGeom>
            <a:avLst/>
            <a:gdLst/>
            <a:ahLst/>
            <a:cxnLst/>
            <a:rect l="l" t="t" r="r" b="b"/>
            <a:pathLst>
              <a:path w="5385010" h="908720">
                <a:moveTo>
                  <a:pt x="67309" y="0"/>
                </a:moveTo>
                <a:lnTo>
                  <a:pt x="5317701" y="0"/>
                </a:lnTo>
                <a:cubicBezTo>
                  <a:pt x="5354875" y="0"/>
                  <a:pt x="5385010" y="30135"/>
                  <a:pt x="5385010" y="67309"/>
                </a:cubicBezTo>
                <a:lnTo>
                  <a:pt x="5385010" y="841412"/>
                </a:lnTo>
                <a:cubicBezTo>
                  <a:pt x="5385010" y="878585"/>
                  <a:pt x="5354875" y="908720"/>
                  <a:pt x="5317701" y="908720"/>
                </a:cubicBezTo>
                <a:lnTo>
                  <a:pt x="67309" y="908720"/>
                </a:lnTo>
                <a:cubicBezTo>
                  <a:pt x="30135" y="908720"/>
                  <a:pt x="0" y="878585"/>
                  <a:pt x="0" y="841412"/>
                </a:cubicBezTo>
                <a:lnTo>
                  <a:pt x="0" y="67309"/>
                </a:lnTo>
                <a:cubicBezTo>
                  <a:pt x="0" y="30160"/>
                  <a:pt x="30160" y="0"/>
                  <a:pt x="67309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626849" y="2650435"/>
            <a:ext cx="151453" cy="151453"/>
          </a:xfrm>
          <a:custGeom>
            <a:avLst/>
            <a:gdLst/>
            <a:ahLst/>
            <a:cxnLst/>
            <a:rect l="l" t="t" r="r" b="b"/>
            <a:pathLst>
              <a:path w="151453" h="151453">
                <a:moveTo>
                  <a:pt x="68775" y="1538"/>
                </a:moveTo>
                <a:cubicBezTo>
                  <a:pt x="73183" y="-503"/>
                  <a:pt x="78271" y="-503"/>
                  <a:pt x="82678" y="1538"/>
                </a:cubicBezTo>
                <a:lnTo>
                  <a:pt x="147342" y="31415"/>
                </a:lnTo>
                <a:cubicBezTo>
                  <a:pt x="149856" y="32568"/>
                  <a:pt x="151453" y="35083"/>
                  <a:pt x="151453" y="37863"/>
                </a:cubicBezTo>
                <a:cubicBezTo>
                  <a:pt x="151453" y="40644"/>
                  <a:pt x="149856" y="43158"/>
                  <a:pt x="147342" y="44312"/>
                </a:cubicBezTo>
                <a:lnTo>
                  <a:pt x="82678" y="74189"/>
                </a:lnTo>
                <a:cubicBezTo>
                  <a:pt x="78271" y="76230"/>
                  <a:pt x="73183" y="76230"/>
                  <a:pt x="68775" y="74189"/>
                </a:cubicBezTo>
                <a:lnTo>
                  <a:pt x="4112" y="44312"/>
                </a:lnTo>
                <a:cubicBezTo>
                  <a:pt x="1597" y="43129"/>
                  <a:pt x="0" y="40614"/>
                  <a:pt x="0" y="37863"/>
                </a:cubicBezTo>
                <a:cubicBezTo>
                  <a:pt x="0" y="35112"/>
                  <a:pt x="1597" y="32568"/>
                  <a:pt x="4112" y="31415"/>
                </a:cubicBezTo>
                <a:lnTo>
                  <a:pt x="68775" y="1538"/>
                </a:lnTo>
                <a:close/>
                <a:moveTo>
                  <a:pt x="14228" y="64604"/>
                </a:moveTo>
                <a:lnTo>
                  <a:pt x="62830" y="87056"/>
                </a:lnTo>
                <a:cubicBezTo>
                  <a:pt x="71023" y="90842"/>
                  <a:pt x="80460" y="90842"/>
                  <a:pt x="88653" y="87056"/>
                </a:cubicBezTo>
                <a:lnTo>
                  <a:pt x="137255" y="64604"/>
                </a:lnTo>
                <a:lnTo>
                  <a:pt x="147342" y="69278"/>
                </a:lnTo>
                <a:cubicBezTo>
                  <a:pt x="149856" y="70432"/>
                  <a:pt x="151453" y="72946"/>
                  <a:pt x="151453" y="75727"/>
                </a:cubicBezTo>
                <a:cubicBezTo>
                  <a:pt x="151453" y="78507"/>
                  <a:pt x="149856" y="81022"/>
                  <a:pt x="147342" y="82175"/>
                </a:cubicBezTo>
                <a:lnTo>
                  <a:pt x="82678" y="112052"/>
                </a:lnTo>
                <a:cubicBezTo>
                  <a:pt x="78271" y="114093"/>
                  <a:pt x="73183" y="114093"/>
                  <a:pt x="68775" y="112052"/>
                </a:cubicBezTo>
                <a:lnTo>
                  <a:pt x="4112" y="82175"/>
                </a:lnTo>
                <a:cubicBezTo>
                  <a:pt x="1597" y="80992"/>
                  <a:pt x="0" y="78478"/>
                  <a:pt x="0" y="75727"/>
                </a:cubicBezTo>
                <a:cubicBezTo>
                  <a:pt x="0" y="72976"/>
                  <a:pt x="1597" y="70432"/>
                  <a:pt x="4112" y="69278"/>
                </a:cubicBezTo>
                <a:lnTo>
                  <a:pt x="14199" y="64604"/>
                </a:lnTo>
                <a:close/>
                <a:moveTo>
                  <a:pt x="4112" y="107141"/>
                </a:moveTo>
                <a:lnTo>
                  <a:pt x="14199" y="102468"/>
                </a:lnTo>
                <a:lnTo>
                  <a:pt x="62800" y="124919"/>
                </a:lnTo>
                <a:cubicBezTo>
                  <a:pt x="70994" y="128706"/>
                  <a:pt x="80430" y="128706"/>
                  <a:pt x="88624" y="124919"/>
                </a:cubicBezTo>
                <a:lnTo>
                  <a:pt x="137225" y="102468"/>
                </a:lnTo>
                <a:lnTo>
                  <a:pt x="147312" y="107141"/>
                </a:lnTo>
                <a:cubicBezTo>
                  <a:pt x="149826" y="108295"/>
                  <a:pt x="151424" y="110809"/>
                  <a:pt x="151424" y="113590"/>
                </a:cubicBezTo>
                <a:cubicBezTo>
                  <a:pt x="151424" y="116371"/>
                  <a:pt x="149826" y="118885"/>
                  <a:pt x="147312" y="120039"/>
                </a:cubicBezTo>
                <a:lnTo>
                  <a:pt x="82649" y="149915"/>
                </a:lnTo>
                <a:cubicBezTo>
                  <a:pt x="78241" y="151956"/>
                  <a:pt x="73153" y="151956"/>
                  <a:pt x="68746" y="149915"/>
                </a:cubicBezTo>
                <a:lnTo>
                  <a:pt x="4112" y="120039"/>
                </a:lnTo>
                <a:cubicBezTo>
                  <a:pt x="1597" y="118855"/>
                  <a:pt x="0" y="116341"/>
                  <a:pt x="0" y="113590"/>
                </a:cubicBezTo>
                <a:cubicBezTo>
                  <a:pt x="0" y="110839"/>
                  <a:pt x="1597" y="108295"/>
                  <a:pt x="4112" y="107141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15" name="Text 12"/>
          <p:cNvSpPr/>
          <p:nvPr/>
        </p:nvSpPr>
        <p:spPr>
          <a:xfrm>
            <a:off x="862443" y="2625193"/>
            <a:ext cx="87506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集成学习策略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5814" y="2894443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结合多个算法提升性能（Voting、Stacking）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5814" y="3130037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探索更先进的集成方法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4845" y="3500257"/>
            <a:ext cx="5385010" cy="908720"/>
          </a:xfrm>
          <a:custGeom>
            <a:avLst/>
            <a:gdLst/>
            <a:ahLst/>
            <a:cxnLst/>
            <a:rect l="l" t="t" r="r" b="b"/>
            <a:pathLst>
              <a:path w="5385010" h="908720">
                <a:moveTo>
                  <a:pt x="67309" y="0"/>
                </a:moveTo>
                <a:lnTo>
                  <a:pt x="5317701" y="0"/>
                </a:lnTo>
                <a:cubicBezTo>
                  <a:pt x="5354875" y="0"/>
                  <a:pt x="5385010" y="30135"/>
                  <a:pt x="5385010" y="67309"/>
                </a:cubicBezTo>
                <a:lnTo>
                  <a:pt x="5385010" y="841412"/>
                </a:lnTo>
                <a:cubicBezTo>
                  <a:pt x="5385010" y="878585"/>
                  <a:pt x="5354875" y="908720"/>
                  <a:pt x="5317701" y="908720"/>
                </a:cubicBezTo>
                <a:lnTo>
                  <a:pt x="67309" y="908720"/>
                </a:lnTo>
                <a:cubicBezTo>
                  <a:pt x="30135" y="908720"/>
                  <a:pt x="0" y="878585"/>
                  <a:pt x="0" y="841412"/>
                </a:cubicBezTo>
                <a:lnTo>
                  <a:pt x="0" y="67309"/>
                </a:lnTo>
                <a:cubicBezTo>
                  <a:pt x="0" y="30160"/>
                  <a:pt x="30160" y="0"/>
                  <a:pt x="67309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26849" y="3626468"/>
            <a:ext cx="151453" cy="151453"/>
          </a:xfrm>
          <a:custGeom>
            <a:avLst/>
            <a:gdLst/>
            <a:ahLst/>
            <a:cxnLst/>
            <a:rect l="l" t="t" r="r" b="b"/>
            <a:pathLst>
              <a:path w="151453" h="151453">
                <a:moveTo>
                  <a:pt x="142017" y="56795"/>
                </a:moveTo>
                <a:lnTo>
                  <a:pt x="144354" y="56795"/>
                </a:lnTo>
                <a:cubicBezTo>
                  <a:pt x="148288" y="56795"/>
                  <a:pt x="151453" y="53630"/>
                  <a:pt x="151453" y="49696"/>
                </a:cubicBezTo>
                <a:lnTo>
                  <a:pt x="151453" y="7099"/>
                </a:lnTo>
                <a:cubicBezTo>
                  <a:pt x="151453" y="4230"/>
                  <a:pt x="149738" y="1627"/>
                  <a:pt x="147075" y="532"/>
                </a:cubicBezTo>
                <a:cubicBezTo>
                  <a:pt x="144413" y="-562"/>
                  <a:pt x="141366" y="59"/>
                  <a:pt x="139325" y="2071"/>
                </a:cubicBezTo>
                <a:lnTo>
                  <a:pt x="124032" y="17393"/>
                </a:lnTo>
                <a:cubicBezTo>
                  <a:pt x="110928" y="6537"/>
                  <a:pt x="94067" y="0"/>
                  <a:pt x="75727" y="0"/>
                </a:cubicBezTo>
                <a:cubicBezTo>
                  <a:pt x="37568" y="0"/>
                  <a:pt x="6005" y="28220"/>
                  <a:pt x="769" y="64930"/>
                </a:cubicBezTo>
                <a:cubicBezTo>
                  <a:pt x="30" y="70106"/>
                  <a:pt x="3609" y="74898"/>
                  <a:pt x="8785" y="75638"/>
                </a:cubicBezTo>
                <a:cubicBezTo>
                  <a:pt x="13962" y="76377"/>
                  <a:pt x="18754" y="72769"/>
                  <a:pt x="19494" y="67622"/>
                </a:cubicBezTo>
                <a:cubicBezTo>
                  <a:pt x="23428" y="40082"/>
                  <a:pt x="47122" y="18932"/>
                  <a:pt x="75727" y="18932"/>
                </a:cubicBezTo>
                <a:cubicBezTo>
                  <a:pt x="88861" y="18932"/>
                  <a:pt x="100930" y="23369"/>
                  <a:pt x="110543" y="30853"/>
                </a:cubicBezTo>
                <a:lnTo>
                  <a:pt x="96729" y="44667"/>
                </a:lnTo>
                <a:cubicBezTo>
                  <a:pt x="94688" y="46708"/>
                  <a:pt x="94096" y="49755"/>
                  <a:pt x="95191" y="52417"/>
                </a:cubicBezTo>
                <a:cubicBezTo>
                  <a:pt x="96285" y="55079"/>
                  <a:pt x="98888" y="56795"/>
                  <a:pt x="101758" y="56795"/>
                </a:cubicBezTo>
                <a:lnTo>
                  <a:pt x="142017" y="56795"/>
                </a:lnTo>
                <a:close/>
                <a:moveTo>
                  <a:pt x="150714" y="86524"/>
                </a:moveTo>
                <a:cubicBezTo>
                  <a:pt x="151453" y="81347"/>
                  <a:pt x="147845" y="76555"/>
                  <a:pt x="142698" y="75815"/>
                </a:cubicBezTo>
                <a:cubicBezTo>
                  <a:pt x="137550" y="75076"/>
                  <a:pt x="132729" y="78685"/>
                  <a:pt x="131989" y="83832"/>
                </a:cubicBezTo>
                <a:cubicBezTo>
                  <a:pt x="128055" y="111342"/>
                  <a:pt x="104361" y="132492"/>
                  <a:pt x="75756" y="132492"/>
                </a:cubicBezTo>
                <a:cubicBezTo>
                  <a:pt x="62622" y="132492"/>
                  <a:pt x="50553" y="128055"/>
                  <a:pt x="40940" y="120571"/>
                </a:cubicBezTo>
                <a:lnTo>
                  <a:pt x="54724" y="106786"/>
                </a:lnTo>
                <a:cubicBezTo>
                  <a:pt x="56765" y="104745"/>
                  <a:pt x="57357" y="101699"/>
                  <a:pt x="56263" y="99036"/>
                </a:cubicBezTo>
                <a:cubicBezTo>
                  <a:pt x="55168" y="96374"/>
                  <a:pt x="52565" y="94658"/>
                  <a:pt x="49696" y="94658"/>
                </a:cubicBezTo>
                <a:lnTo>
                  <a:pt x="7099" y="94658"/>
                </a:lnTo>
                <a:cubicBezTo>
                  <a:pt x="3165" y="94658"/>
                  <a:pt x="0" y="97824"/>
                  <a:pt x="0" y="101758"/>
                </a:cubicBezTo>
                <a:lnTo>
                  <a:pt x="0" y="144354"/>
                </a:lnTo>
                <a:cubicBezTo>
                  <a:pt x="0" y="147223"/>
                  <a:pt x="1716" y="149826"/>
                  <a:pt x="4378" y="150921"/>
                </a:cubicBezTo>
                <a:cubicBezTo>
                  <a:pt x="7040" y="152015"/>
                  <a:pt x="10087" y="151394"/>
                  <a:pt x="12128" y="149383"/>
                </a:cubicBezTo>
                <a:lnTo>
                  <a:pt x="27451" y="134060"/>
                </a:lnTo>
                <a:cubicBezTo>
                  <a:pt x="40526" y="144916"/>
                  <a:pt x="57387" y="151453"/>
                  <a:pt x="75727" y="151453"/>
                </a:cubicBezTo>
                <a:cubicBezTo>
                  <a:pt x="113886" y="151453"/>
                  <a:pt x="145449" y="123233"/>
                  <a:pt x="150684" y="86524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20" name="Text 17"/>
          <p:cNvSpPr/>
          <p:nvPr/>
        </p:nvSpPr>
        <p:spPr>
          <a:xfrm>
            <a:off x="862443" y="3601226"/>
            <a:ext cx="87506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在线学习机制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5814" y="3870476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实时更新模型适应用户行为变化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5814" y="4106070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探索增量学习、流式学习算法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53391" y="4644571"/>
            <a:ext cx="5671089" cy="1952066"/>
          </a:xfrm>
          <a:custGeom>
            <a:avLst/>
            <a:gdLst/>
            <a:ahLst/>
            <a:cxnLst/>
            <a:rect l="l" t="t" r="r" b="b"/>
            <a:pathLst>
              <a:path w="5671089" h="1952066">
                <a:moveTo>
                  <a:pt x="33656" y="0"/>
                </a:moveTo>
                <a:lnTo>
                  <a:pt x="5570128" y="0"/>
                </a:lnTo>
                <a:cubicBezTo>
                  <a:pt x="5625887" y="0"/>
                  <a:pt x="5671089" y="45202"/>
                  <a:pt x="5671089" y="100961"/>
                </a:cubicBezTo>
                <a:lnTo>
                  <a:pt x="5671089" y="1851105"/>
                </a:lnTo>
                <a:cubicBezTo>
                  <a:pt x="5671089" y="1906865"/>
                  <a:pt x="5625887" y="1952066"/>
                  <a:pt x="5570128" y="1952066"/>
                </a:cubicBezTo>
                <a:lnTo>
                  <a:pt x="33656" y="1952066"/>
                </a:lnTo>
                <a:cubicBezTo>
                  <a:pt x="15068" y="1952066"/>
                  <a:pt x="0" y="1936998"/>
                  <a:pt x="0" y="191841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211" dist="841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53391" y="4644571"/>
            <a:ext cx="33656" cy="1952066"/>
          </a:xfrm>
          <a:custGeom>
            <a:avLst/>
            <a:gdLst/>
            <a:ahLst/>
            <a:cxnLst/>
            <a:rect l="l" t="t" r="r" b="b"/>
            <a:pathLst>
              <a:path w="33656" h="1952066">
                <a:moveTo>
                  <a:pt x="33656" y="0"/>
                </a:moveTo>
                <a:lnTo>
                  <a:pt x="33656" y="0"/>
                </a:lnTo>
                <a:lnTo>
                  <a:pt x="33656" y="1952066"/>
                </a:lnTo>
                <a:lnTo>
                  <a:pt x="33656" y="1952066"/>
                </a:lnTo>
                <a:cubicBezTo>
                  <a:pt x="15068" y="1952066"/>
                  <a:pt x="0" y="1936998"/>
                  <a:pt x="0" y="1918410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7097E5"/>
          </a:solidFill>
        </p:spPr>
      </p:sp>
      <p:sp>
        <p:nvSpPr>
          <p:cNvPr id="25" name="Text 22"/>
          <p:cNvSpPr/>
          <p:nvPr/>
        </p:nvSpPr>
        <p:spPr>
          <a:xfrm>
            <a:off x="504845" y="4779197"/>
            <a:ext cx="5469151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业务拓展方向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4845" y="5115760"/>
            <a:ext cx="2658849" cy="639470"/>
          </a:xfrm>
          <a:custGeom>
            <a:avLst/>
            <a:gdLst/>
            <a:ahLst/>
            <a:cxnLst/>
            <a:rect l="l" t="t" r="r" b="b"/>
            <a:pathLst>
              <a:path w="2658849" h="639470">
                <a:moveTo>
                  <a:pt x="67311" y="0"/>
                </a:moveTo>
                <a:lnTo>
                  <a:pt x="2591538" y="0"/>
                </a:lnTo>
                <a:cubicBezTo>
                  <a:pt x="2628713" y="0"/>
                  <a:pt x="2658849" y="30136"/>
                  <a:pt x="2658849" y="67311"/>
                </a:cubicBezTo>
                <a:lnTo>
                  <a:pt x="2658849" y="572159"/>
                </a:lnTo>
                <a:cubicBezTo>
                  <a:pt x="2658849" y="609334"/>
                  <a:pt x="2628713" y="639470"/>
                  <a:pt x="2591538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27" name="Text 24"/>
          <p:cNvSpPr/>
          <p:nvPr/>
        </p:nvSpPr>
        <p:spPr>
          <a:xfrm>
            <a:off x="605814" y="5216729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实时个性化推荐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5814" y="5452323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毫秒级响应的实时推荐系统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3232847" y="5115760"/>
            <a:ext cx="2658849" cy="639470"/>
          </a:xfrm>
          <a:custGeom>
            <a:avLst/>
            <a:gdLst/>
            <a:ahLst/>
            <a:cxnLst/>
            <a:rect l="l" t="t" r="r" b="b"/>
            <a:pathLst>
              <a:path w="2658849" h="639470">
                <a:moveTo>
                  <a:pt x="67311" y="0"/>
                </a:moveTo>
                <a:lnTo>
                  <a:pt x="2591538" y="0"/>
                </a:lnTo>
                <a:cubicBezTo>
                  <a:pt x="2628713" y="0"/>
                  <a:pt x="2658849" y="30136"/>
                  <a:pt x="2658849" y="67311"/>
                </a:cubicBezTo>
                <a:lnTo>
                  <a:pt x="2658849" y="572159"/>
                </a:lnTo>
                <a:cubicBezTo>
                  <a:pt x="2658849" y="609334"/>
                  <a:pt x="2628713" y="639470"/>
                  <a:pt x="2591538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30" name="Text 27"/>
          <p:cNvSpPr/>
          <p:nvPr/>
        </p:nvSpPr>
        <p:spPr>
          <a:xfrm>
            <a:off x="3333816" y="5216729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跨平台用户分析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3333816" y="5452323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多平台用户行为数据融合分析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04845" y="5822542"/>
            <a:ext cx="2658849" cy="639470"/>
          </a:xfrm>
          <a:custGeom>
            <a:avLst/>
            <a:gdLst/>
            <a:ahLst/>
            <a:cxnLst/>
            <a:rect l="l" t="t" r="r" b="b"/>
            <a:pathLst>
              <a:path w="2658849" h="639470">
                <a:moveTo>
                  <a:pt x="67311" y="0"/>
                </a:moveTo>
                <a:lnTo>
                  <a:pt x="2591538" y="0"/>
                </a:lnTo>
                <a:cubicBezTo>
                  <a:pt x="2628713" y="0"/>
                  <a:pt x="2658849" y="30136"/>
                  <a:pt x="2658849" y="67311"/>
                </a:cubicBezTo>
                <a:lnTo>
                  <a:pt x="2658849" y="572159"/>
                </a:lnTo>
                <a:cubicBezTo>
                  <a:pt x="2658849" y="609334"/>
                  <a:pt x="2628713" y="639470"/>
                  <a:pt x="2591538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33" name="Text 30"/>
          <p:cNvSpPr/>
          <p:nvPr/>
        </p:nvSpPr>
        <p:spPr>
          <a:xfrm>
            <a:off x="605814" y="5923511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生命周期价值预测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5814" y="6159106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预测用户长期价值和流失风险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3232847" y="5822542"/>
            <a:ext cx="2658849" cy="639470"/>
          </a:xfrm>
          <a:custGeom>
            <a:avLst/>
            <a:gdLst/>
            <a:ahLst/>
            <a:cxnLst/>
            <a:rect l="l" t="t" r="r" b="b"/>
            <a:pathLst>
              <a:path w="2658849" h="639470">
                <a:moveTo>
                  <a:pt x="67311" y="0"/>
                </a:moveTo>
                <a:lnTo>
                  <a:pt x="2591538" y="0"/>
                </a:lnTo>
                <a:cubicBezTo>
                  <a:pt x="2628713" y="0"/>
                  <a:pt x="2658849" y="30136"/>
                  <a:pt x="2658849" y="67311"/>
                </a:cubicBezTo>
                <a:lnTo>
                  <a:pt x="2658849" y="572159"/>
                </a:lnTo>
                <a:cubicBezTo>
                  <a:pt x="2658849" y="609334"/>
                  <a:pt x="2628713" y="639470"/>
                  <a:pt x="2591538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36" name="Text 33"/>
          <p:cNvSpPr/>
          <p:nvPr/>
        </p:nvSpPr>
        <p:spPr>
          <a:xfrm>
            <a:off x="3333816" y="5923511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智能营销自动化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3333816" y="6159106"/>
            <a:ext cx="2524224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AI驱动的智能营销平台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79703" y="1043346"/>
            <a:ext cx="5671089" cy="3365631"/>
          </a:xfrm>
          <a:custGeom>
            <a:avLst/>
            <a:gdLst/>
            <a:ahLst/>
            <a:cxnLst/>
            <a:rect l="l" t="t" r="r" b="b"/>
            <a:pathLst>
              <a:path w="5671089" h="3365631">
                <a:moveTo>
                  <a:pt x="33656" y="0"/>
                </a:moveTo>
                <a:lnTo>
                  <a:pt x="5570120" y="0"/>
                </a:lnTo>
                <a:cubicBezTo>
                  <a:pt x="5625884" y="0"/>
                  <a:pt x="5671089" y="45205"/>
                  <a:pt x="5671089" y="100969"/>
                </a:cubicBezTo>
                <a:lnTo>
                  <a:pt x="5671089" y="3264663"/>
                </a:lnTo>
                <a:cubicBezTo>
                  <a:pt x="5671089" y="3320426"/>
                  <a:pt x="5625884" y="3365631"/>
                  <a:pt x="5570120" y="3365631"/>
                </a:cubicBezTo>
                <a:lnTo>
                  <a:pt x="33656" y="3365631"/>
                </a:lnTo>
                <a:cubicBezTo>
                  <a:pt x="15068" y="3365631"/>
                  <a:pt x="0" y="3350563"/>
                  <a:pt x="0" y="3331975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126211" dist="841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79703" y="1043346"/>
            <a:ext cx="33656" cy="3365631"/>
          </a:xfrm>
          <a:custGeom>
            <a:avLst/>
            <a:gdLst/>
            <a:ahLst/>
            <a:cxnLst/>
            <a:rect l="l" t="t" r="r" b="b"/>
            <a:pathLst>
              <a:path w="33656" h="3365631">
                <a:moveTo>
                  <a:pt x="33656" y="0"/>
                </a:moveTo>
                <a:lnTo>
                  <a:pt x="33656" y="0"/>
                </a:lnTo>
                <a:lnTo>
                  <a:pt x="33656" y="3365631"/>
                </a:lnTo>
                <a:lnTo>
                  <a:pt x="33656" y="3365631"/>
                </a:lnTo>
                <a:cubicBezTo>
                  <a:pt x="15068" y="3365631"/>
                  <a:pt x="0" y="3350563"/>
                  <a:pt x="0" y="3331975"/>
                </a:cubicBezTo>
                <a:lnTo>
                  <a:pt x="0" y="33656"/>
                </a:lnTo>
                <a:cubicBezTo>
                  <a:pt x="0" y="15081"/>
                  <a:pt x="15081" y="0"/>
                  <a:pt x="33656" y="0"/>
                </a:cubicBezTo>
                <a:close/>
              </a:path>
            </a:pathLst>
          </a:custGeom>
          <a:solidFill>
            <a:srgbClr val="5C7CB3"/>
          </a:solidFill>
        </p:spPr>
      </p:sp>
      <p:sp>
        <p:nvSpPr>
          <p:cNvPr id="40" name="Text 37"/>
          <p:cNvSpPr/>
          <p:nvPr/>
        </p:nvSpPr>
        <p:spPr>
          <a:xfrm>
            <a:off x="6331156" y="1177971"/>
            <a:ext cx="5469151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5" b="1" dirty="0">
                <a:solidFill>
                  <a:srgbClr val="37373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技术挑战与应对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331156" y="1514534"/>
            <a:ext cx="5385010" cy="639470"/>
          </a:xfrm>
          <a:custGeom>
            <a:avLst/>
            <a:gdLst/>
            <a:ahLst/>
            <a:cxnLst/>
            <a:rect l="l" t="t" r="r" b="b"/>
            <a:pathLst>
              <a:path w="5385010" h="639470">
                <a:moveTo>
                  <a:pt x="67311" y="0"/>
                </a:moveTo>
                <a:lnTo>
                  <a:pt x="5317700" y="0"/>
                </a:lnTo>
                <a:cubicBezTo>
                  <a:pt x="5354874" y="0"/>
                  <a:pt x="5385010" y="30136"/>
                  <a:pt x="5385010" y="67311"/>
                </a:cubicBezTo>
                <a:lnTo>
                  <a:pt x="5385010" y="572159"/>
                </a:lnTo>
                <a:cubicBezTo>
                  <a:pt x="5385010" y="609334"/>
                  <a:pt x="5354874" y="639470"/>
                  <a:pt x="5317700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6432125" y="1615503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数据隐私保护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432125" y="1851097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应对GDPR等法规，采用联邦学习、差分隐私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31156" y="2221317"/>
            <a:ext cx="5385010" cy="639470"/>
          </a:xfrm>
          <a:custGeom>
            <a:avLst/>
            <a:gdLst/>
            <a:ahLst/>
            <a:cxnLst/>
            <a:rect l="l" t="t" r="r" b="b"/>
            <a:pathLst>
              <a:path w="5385010" h="639470">
                <a:moveTo>
                  <a:pt x="67311" y="0"/>
                </a:moveTo>
                <a:lnTo>
                  <a:pt x="5317700" y="0"/>
                </a:lnTo>
                <a:cubicBezTo>
                  <a:pt x="5354874" y="0"/>
                  <a:pt x="5385010" y="30136"/>
                  <a:pt x="5385010" y="67311"/>
                </a:cubicBezTo>
                <a:lnTo>
                  <a:pt x="5385010" y="572159"/>
                </a:lnTo>
                <a:cubicBezTo>
                  <a:pt x="5385010" y="609334"/>
                  <a:pt x="5354874" y="639470"/>
                  <a:pt x="5317700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7097E5">
              <a:alpha val="10196"/>
            </a:srgbClr>
          </a:solidFill>
        </p:spPr>
      </p:sp>
      <p:sp>
        <p:nvSpPr>
          <p:cNvPr id="45" name="Text 42"/>
          <p:cNvSpPr/>
          <p:nvPr/>
        </p:nvSpPr>
        <p:spPr>
          <a:xfrm>
            <a:off x="6432125" y="2322286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模型可解释性增强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32125" y="2557880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使用LIME、SHAP等工具提升模型可解释性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31156" y="2928099"/>
            <a:ext cx="5385010" cy="639470"/>
          </a:xfrm>
          <a:custGeom>
            <a:avLst/>
            <a:gdLst/>
            <a:ahLst/>
            <a:cxnLst/>
            <a:rect l="l" t="t" r="r" b="b"/>
            <a:pathLst>
              <a:path w="5385010" h="639470">
                <a:moveTo>
                  <a:pt x="67311" y="0"/>
                </a:moveTo>
                <a:lnTo>
                  <a:pt x="5317700" y="0"/>
                </a:lnTo>
                <a:cubicBezTo>
                  <a:pt x="5354874" y="0"/>
                  <a:pt x="5385010" y="30136"/>
                  <a:pt x="5385010" y="67311"/>
                </a:cubicBezTo>
                <a:lnTo>
                  <a:pt x="5385010" y="572159"/>
                </a:lnTo>
                <a:cubicBezTo>
                  <a:pt x="5385010" y="609334"/>
                  <a:pt x="5354874" y="639470"/>
                  <a:pt x="5317700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8FA7D0">
              <a:alpha val="10196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6432125" y="3029068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实时计算性能优化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432125" y="3264663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模型压缩、量化、蒸馏，提升推理速度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31156" y="3634882"/>
            <a:ext cx="5385010" cy="639470"/>
          </a:xfrm>
          <a:custGeom>
            <a:avLst/>
            <a:gdLst/>
            <a:ahLst/>
            <a:cxnLst/>
            <a:rect l="l" t="t" r="r" b="b"/>
            <a:pathLst>
              <a:path w="5385010" h="639470">
                <a:moveTo>
                  <a:pt x="67311" y="0"/>
                </a:moveTo>
                <a:lnTo>
                  <a:pt x="5317700" y="0"/>
                </a:lnTo>
                <a:cubicBezTo>
                  <a:pt x="5354874" y="0"/>
                  <a:pt x="5385010" y="30136"/>
                  <a:pt x="5385010" y="67311"/>
                </a:cubicBezTo>
                <a:lnTo>
                  <a:pt x="5385010" y="572159"/>
                </a:lnTo>
                <a:cubicBezTo>
                  <a:pt x="5385010" y="609334"/>
                  <a:pt x="5354874" y="639470"/>
                  <a:pt x="5317700" y="639470"/>
                </a:cubicBezTo>
                <a:lnTo>
                  <a:pt x="67311" y="639470"/>
                </a:lnTo>
                <a:cubicBezTo>
                  <a:pt x="30136" y="639470"/>
                  <a:pt x="0" y="609334"/>
                  <a:pt x="0" y="572159"/>
                </a:cubicBezTo>
                <a:lnTo>
                  <a:pt x="0" y="67311"/>
                </a:lnTo>
                <a:cubicBezTo>
                  <a:pt x="0" y="30136"/>
                  <a:pt x="30136" y="0"/>
                  <a:pt x="67311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6432125" y="3735851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多模态数据融合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432125" y="3971445"/>
            <a:ext cx="5250385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融合文本、图像、语音等多模态信息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165679" y="4512751"/>
            <a:ext cx="5685112" cy="1284549"/>
          </a:xfrm>
          <a:custGeom>
            <a:avLst/>
            <a:gdLst/>
            <a:ahLst/>
            <a:cxnLst/>
            <a:rect l="l" t="t" r="r" b="b"/>
            <a:pathLst>
              <a:path w="5685112" h="1284549">
                <a:moveTo>
                  <a:pt x="100966" y="0"/>
                </a:moveTo>
                <a:lnTo>
                  <a:pt x="5584147" y="0"/>
                </a:lnTo>
                <a:cubicBezTo>
                  <a:pt x="5639909" y="0"/>
                  <a:pt x="5685112" y="45204"/>
                  <a:pt x="5685112" y="100966"/>
                </a:cubicBezTo>
                <a:lnTo>
                  <a:pt x="5685112" y="1183584"/>
                </a:lnTo>
                <a:cubicBezTo>
                  <a:pt x="5685112" y="1239346"/>
                  <a:pt x="5639909" y="1284549"/>
                  <a:pt x="5584147" y="1284549"/>
                </a:cubicBezTo>
                <a:lnTo>
                  <a:pt x="100966" y="1284549"/>
                </a:lnTo>
                <a:cubicBezTo>
                  <a:pt x="45204" y="1284549"/>
                  <a:pt x="0" y="1239346"/>
                  <a:pt x="0" y="1183584"/>
                </a:cubicBezTo>
                <a:lnTo>
                  <a:pt x="0" y="100966"/>
                </a:lnTo>
                <a:cubicBezTo>
                  <a:pt x="0" y="45241"/>
                  <a:pt x="45241" y="0"/>
                  <a:pt x="100966" y="0"/>
                </a:cubicBezTo>
                <a:close/>
              </a:path>
            </a:pathLst>
          </a:custGeom>
          <a:solidFill>
            <a:srgbClr val="8FA7D0">
              <a:alpha val="5098"/>
            </a:srgbClr>
          </a:solidFill>
          <a:ln w="8467">
            <a:solidFill>
              <a:srgbClr val="8FA7D0">
                <a:alpha val="20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269453" y="4616519"/>
            <a:ext cx="5553292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290488" y="4986738"/>
            <a:ext cx="151453" cy="151453"/>
          </a:xfrm>
          <a:custGeom>
            <a:avLst/>
            <a:gdLst/>
            <a:ahLst/>
            <a:cxnLst/>
            <a:rect l="l" t="t" r="r" b="b"/>
            <a:pathLst>
              <a:path w="151453" h="151453">
                <a:moveTo>
                  <a:pt x="37863" y="94658"/>
                </a:moveTo>
                <a:lnTo>
                  <a:pt x="7247" y="94658"/>
                </a:lnTo>
                <a:cubicBezTo>
                  <a:pt x="-118" y="94658"/>
                  <a:pt x="-4644" y="86642"/>
                  <a:pt x="-858" y="80312"/>
                </a:cubicBezTo>
                <a:lnTo>
                  <a:pt x="14790" y="54222"/>
                </a:lnTo>
                <a:cubicBezTo>
                  <a:pt x="17364" y="49932"/>
                  <a:pt x="21978" y="47329"/>
                  <a:pt x="26978" y="47329"/>
                </a:cubicBezTo>
                <a:lnTo>
                  <a:pt x="55079" y="47329"/>
                </a:lnTo>
                <a:cubicBezTo>
                  <a:pt x="77590" y="9200"/>
                  <a:pt x="111164" y="7277"/>
                  <a:pt x="133616" y="10560"/>
                </a:cubicBezTo>
                <a:cubicBezTo>
                  <a:pt x="137403" y="11122"/>
                  <a:pt x="140361" y="14080"/>
                  <a:pt x="140893" y="17837"/>
                </a:cubicBezTo>
                <a:cubicBezTo>
                  <a:pt x="144177" y="40289"/>
                  <a:pt x="142254" y="73863"/>
                  <a:pt x="104124" y="96374"/>
                </a:cubicBezTo>
                <a:lnTo>
                  <a:pt x="104124" y="124476"/>
                </a:lnTo>
                <a:cubicBezTo>
                  <a:pt x="104124" y="129475"/>
                  <a:pt x="101521" y="134090"/>
                  <a:pt x="97232" y="136663"/>
                </a:cubicBezTo>
                <a:lnTo>
                  <a:pt x="71142" y="152311"/>
                </a:lnTo>
                <a:cubicBezTo>
                  <a:pt x="64841" y="156098"/>
                  <a:pt x="56795" y="151542"/>
                  <a:pt x="56795" y="144206"/>
                </a:cubicBezTo>
                <a:lnTo>
                  <a:pt x="56795" y="113590"/>
                </a:lnTo>
                <a:cubicBezTo>
                  <a:pt x="56795" y="103148"/>
                  <a:pt x="48305" y="94658"/>
                  <a:pt x="37863" y="94658"/>
                </a:cubicBezTo>
                <a:lnTo>
                  <a:pt x="37834" y="94658"/>
                </a:lnTo>
                <a:close/>
                <a:moveTo>
                  <a:pt x="118323" y="47329"/>
                </a:moveTo>
                <a:cubicBezTo>
                  <a:pt x="118323" y="39493"/>
                  <a:pt x="111961" y="33130"/>
                  <a:pt x="104124" y="33130"/>
                </a:cubicBezTo>
                <a:cubicBezTo>
                  <a:pt x="96288" y="33130"/>
                  <a:pt x="89925" y="39493"/>
                  <a:pt x="89925" y="47329"/>
                </a:cubicBezTo>
                <a:cubicBezTo>
                  <a:pt x="89925" y="55166"/>
                  <a:pt x="96288" y="61528"/>
                  <a:pt x="104124" y="61528"/>
                </a:cubicBezTo>
                <a:cubicBezTo>
                  <a:pt x="111961" y="61528"/>
                  <a:pt x="118323" y="55166"/>
                  <a:pt x="118323" y="47329"/>
                </a:cubicBezTo>
                <a:close/>
              </a:path>
            </a:pathLst>
          </a:custGeom>
          <a:solidFill>
            <a:srgbClr val="8FA7D0"/>
          </a:solidFill>
        </p:spPr>
      </p:sp>
      <p:sp>
        <p:nvSpPr>
          <p:cNvPr id="56" name="Text 53"/>
          <p:cNvSpPr/>
          <p:nvPr/>
        </p:nvSpPr>
        <p:spPr>
          <a:xfrm>
            <a:off x="6526082" y="4953082"/>
            <a:ext cx="2221317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技术创新</a:t>
            </a:r>
            <a:r>
              <a:rPr lang="en-US" sz="106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：持续关注最新算法和技术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271557" y="5255989"/>
            <a:ext cx="189317" cy="151453"/>
          </a:xfrm>
          <a:custGeom>
            <a:avLst/>
            <a:gdLst/>
            <a:ahLst/>
            <a:cxnLst/>
            <a:rect l="l" t="t" r="r" b="b"/>
            <a:pathLst>
              <a:path w="189317" h="151453">
                <a:moveTo>
                  <a:pt x="94658" y="4733"/>
                </a:moveTo>
                <a:cubicBezTo>
                  <a:pt x="111637" y="4733"/>
                  <a:pt x="125422" y="18518"/>
                  <a:pt x="125422" y="35497"/>
                </a:cubicBezTo>
                <a:cubicBezTo>
                  <a:pt x="125422" y="52476"/>
                  <a:pt x="111637" y="66261"/>
                  <a:pt x="94658" y="66261"/>
                </a:cubicBezTo>
                <a:cubicBezTo>
                  <a:pt x="77679" y="66261"/>
                  <a:pt x="63894" y="52476"/>
                  <a:pt x="63894" y="35497"/>
                </a:cubicBezTo>
                <a:cubicBezTo>
                  <a:pt x="63894" y="18518"/>
                  <a:pt x="77679" y="4733"/>
                  <a:pt x="94658" y="4733"/>
                </a:cubicBezTo>
                <a:close/>
                <a:moveTo>
                  <a:pt x="28398" y="26031"/>
                </a:moveTo>
                <a:cubicBezTo>
                  <a:pt x="40152" y="26031"/>
                  <a:pt x="49696" y="35574"/>
                  <a:pt x="49696" y="47329"/>
                </a:cubicBezTo>
                <a:cubicBezTo>
                  <a:pt x="49696" y="59084"/>
                  <a:pt x="40152" y="68627"/>
                  <a:pt x="28398" y="68627"/>
                </a:cubicBezTo>
                <a:cubicBezTo>
                  <a:pt x="16643" y="68627"/>
                  <a:pt x="7099" y="59084"/>
                  <a:pt x="7099" y="47329"/>
                </a:cubicBezTo>
                <a:cubicBezTo>
                  <a:pt x="7099" y="35574"/>
                  <a:pt x="16643" y="26031"/>
                  <a:pt x="28398" y="26031"/>
                </a:cubicBezTo>
                <a:close/>
                <a:moveTo>
                  <a:pt x="0" y="123056"/>
                </a:moveTo>
                <a:cubicBezTo>
                  <a:pt x="0" y="102142"/>
                  <a:pt x="16950" y="85193"/>
                  <a:pt x="37863" y="85193"/>
                </a:cubicBezTo>
                <a:cubicBezTo>
                  <a:pt x="41650" y="85193"/>
                  <a:pt x="45318" y="85755"/>
                  <a:pt x="48779" y="86790"/>
                </a:cubicBezTo>
                <a:cubicBezTo>
                  <a:pt x="39047" y="97676"/>
                  <a:pt x="33130" y="112052"/>
                  <a:pt x="33130" y="127789"/>
                </a:cubicBezTo>
                <a:lnTo>
                  <a:pt x="33130" y="132522"/>
                </a:lnTo>
                <a:cubicBezTo>
                  <a:pt x="33130" y="135894"/>
                  <a:pt x="33840" y="139089"/>
                  <a:pt x="35112" y="141988"/>
                </a:cubicBezTo>
                <a:lnTo>
                  <a:pt x="9466" y="141988"/>
                </a:lnTo>
                <a:cubicBezTo>
                  <a:pt x="4230" y="141988"/>
                  <a:pt x="0" y="137758"/>
                  <a:pt x="0" y="132522"/>
                </a:cubicBezTo>
                <a:lnTo>
                  <a:pt x="0" y="123056"/>
                </a:lnTo>
                <a:close/>
                <a:moveTo>
                  <a:pt x="154204" y="141988"/>
                </a:moveTo>
                <a:cubicBezTo>
                  <a:pt x="155476" y="139089"/>
                  <a:pt x="156186" y="135894"/>
                  <a:pt x="156186" y="132522"/>
                </a:cubicBezTo>
                <a:lnTo>
                  <a:pt x="156186" y="127789"/>
                </a:lnTo>
                <a:cubicBezTo>
                  <a:pt x="156186" y="112052"/>
                  <a:pt x="150270" y="97676"/>
                  <a:pt x="140538" y="86790"/>
                </a:cubicBezTo>
                <a:cubicBezTo>
                  <a:pt x="143999" y="85755"/>
                  <a:pt x="147667" y="85193"/>
                  <a:pt x="151453" y="85193"/>
                </a:cubicBezTo>
                <a:cubicBezTo>
                  <a:pt x="172367" y="85193"/>
                  <a:pt x="189317" y="102142"/>
                  <a:pt x="189317" y="123056"/>
                </a:cubicBezTo>
                <a:lnTo>
                  <a:pt x="189317" y="132522"/>
                </a:lnTo>
                <a:cubicBezTo>
                  <a:pt x="189317" y="137758"/>
                  <a:pt x="185087" y="141988"/>
                  <a:pt x="179851" y="141988"/>
                </a:cubicBezTo>
                <a:lnTo>
                  <a:pt x="154204" y="141988"/>
                </a:lnTo>
                <a:close/>
                <a:moveTo>
                  <a:pt x="139621" y="47329"/>
                </a:moveTo>
                <a:cubicBezTo>
                  <a:pt x="139621" y="35574"/>
                  <a:pt x="149164" y="26031"/>
                  <a:pt x="160919" y="26031"/>
                </a:cubicBezTo>
                <a:cubicBezTo>
                  <a:pt x="172674" y="26031"/>
                  <a:pt x="182217" y="35574"/>
                  <a:pt x="182217" y="47329"/>
                </a:cubicBezTo>
                <a:cubicBezTo>
                  <a:pt x="182217" y="59084"/>
                  <a:pt x="172674" y="68627"/>
                  <a:pt x="160919" y="68627"/>
                </a:cubicBezTo>
                <a:cubicBezTo>
                  <a:pt x="149164" y="68627"/>
                  <a:pt x="139621" y="59084"/>
                  <a:pt x="139621" y="47329"/>
                </a:cubicBezTo>
                <a:close/>
                <a:moveTo>
                  <a:pt x="47329" y="127789"/>
                </a:moveTo>
                <a:cubicBezTo>
                  <a:pt x="47329" y="101639"/>
                  <a:pt x="68509" y="80460"/>
                  <a:pt x="94658" y="80460"/>
                </a:cubicBezTo>
                <a:cubicBezTo>
                  <a:pt x="120808" y="80460"/>
                  <a:pt x="141988" y="101639"/>
                  <a:pt x="141988" y="127789"/>
                </a:cubicBezTo>
                <a:lnTo>
                  <a:pt x="141988" y="132522"/>
                </a:lnTo>
                <a:cubicBezTo>
                  <a:pt x="141988" y="137758"/>
                  <a:pt x="137758" y="141988"/>
                  <a:pt x="132522" y="141988"/>
                </a:cubicBezTo>
                <a:lnTo>
                  <a:pt x="56795" y="141988"/>
                </a:lnTo>
                <a:cubicBezTo>
                  <a:pt x="51559" y="141988"/>
                  <a:pt x="47329" y="137758"/>
                  <a:pt x="47329" y="132522"/>
                </a:cubicBezTo>
                <a:lnTo>
                  <a:pt x="47329" y="127789"/>
                </a:lnTo>
                <a:close/>
              </a:path>
            </a:pathLst>
          </a:custGeom>
          <a:solidFill>
            <a:srgbClr val="7097E5"/>
          </a:solidFill>
        </p:spPr>
      </p:sp>
      <p:sp>
        <p:nvSpPr>
          <p:cNvPr id="58" name="Text 55"/>
          <p:cNvSpPr/>
          <p:nvPr/>
        </p:nvSpPr>
        <p:spPr>
          <a:xfrm>
            <a:off x="6526082" y="5222333"/>
            <a:ext cx="2625193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团队协作</a:t>
            </a:r>
            <a:r>
              <a:rPr lang="en-US" sz="106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：加强算法、工程、业务团队协作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290488" y="5525240"/>
            <a:ext cx="151453" cy="151453"/>
          </a:xfrm>
          <a:custGeom>
            <a:avLst/>
            <a:gdLst/>
            <a:ahLst/>
            <a:cxnLst/>
            <a:rect l="l" t="t" r="r" b="b"/>
            <a:pathLst>
              <a:path w="151453" h="151453">
                <a:moveTo>
                  <a:pt x="18932" y="18932"/>
                </a:moveTo>
                <a:cubicBezTo>
                  <a:pt x="18932" y="13696"/>
                  <a:pt x="14702" y="9466"/>
                  <a:pt x="9466" y="9466"/>
                </a:cubicBezTo>
                <a:cubicBezTo>
                  <a:pt x="4230" y="9466"/>
                  <a:pt x="0" y="13696"/>
                  <a:pt x="0" y="18932"/>
                </a:cubicBezTo>
                <a:lnTo>
                  <a:pt x="0" y="118323"/>
                </a:lnTo>
                <a:cubicBezTo>
                  <a:pt x="0" y="131398"/>
                  <a:pt x="10590" y="141988"/>
                  <a:pt x="23665" y="141988"/>
                </a:cubicBezTo>
                <a:lnTo>
                  <a:pt x="141988" y="141988"/>
                </a:lnTo>
                <a:cubicBezTo>
                  <a:pt x="147223" y="141988"/>
                  <a:pt x="151453" y="137758"/>
                  <a:pt x="151453" y="132522"/>
                </a:cubicBezTo>
                <a:cubicBezTo>
                  <a:pt x="151453" y="127286"/>
                  <a:pt x="147223" y="123056"/>
                  <a:pt x="141988" y="123056"/>
                </a:cubicBezTo>
                <a:lnTo>
                  <a:pt x="23665" y="123056"/>
                </a:lnTo>
                <a:cubicBezTo>
                  <a:pt x="21061" y="123056"/>
                  <a:pt x="18932" y="120926"/>
                  <a:pt x="18932" y="118323"/>
                </a:cubicBezTo>
                <a:lnTo>
                  <a:pt x="18932" y="18932"/>
                </a:lnTo>
                <a:close/>
                <a:moveTo>
                  <a:pt x="139207" y="44549"/>
                </a:moveTo>
                <a:cubicBezTo>
                  <a:pt x="142905" y="40851"/>
                  <a:pt x="142905" y="34846"/>
                  <a:pt x="139207" y="31149"/>
                </a:cubicBezTo>
                <a:cubicBezTo>
                  <a:pt x="135509" y="27451"/>
                  <a:pt x="129505" y="27451"/>
                  <a:pt x="125807" y="31149"/>
                </a:cubicBezTo>
                <a:lnTo>
                  <a:pt x="94658" y="62327"/>
                </a:lnTo>
                <a:lnTo>
                  <a:pt x="77679" y="45377"/>
                </a:lnTo>
                <a:cubicBezTo>
                  <a:pt x="73981" y="41679"/>
                  <a:pt x="67977" y="41679"/>
                  <a:pt x="64279" y="45377"/>
                </a:cubicBezTo>
                <a:lnTo>
                  <a:pt x="35881" y="73774"/>
                </a:lnTo>
                <a:cubicBezTo>
                  <a:pt x="32184" y="77472"/>
                  <a:pt x="32184" y="83477"/>
                  <a:pt x="35881" y="87174"/>
                </a:cubicBezTo>
                <a:cubicBezTo>
                  <a:pt x="39579" y="90872"/>
                  <a:pt x="45584" y="90872"/>
                  <a:pt x="49282" y="87174"/>
                </a:cubicBezTo>
                <a:lnTo>
                  <a:pt x="70994" y="65462"/>
                </a:lnTo>
                <a:lnTo>
                  <a:pt x="87973" y="82442"/>
                </a:lnTo>
                <a:cubicBezTo>
                  <a:pt x="91671" y="86139"/>
                  <a:pt x="97676" y="86139"/>
                  <a:pt x="101373" y="82442"/>
                </a:cubicBezTo>
                <a:lnTo>
                  <a:pt x="139237" y="44578"/>
                </a:lnTo>
                <a:close/>
              </a:path>
            </a:pathLst>
          </a:custGeom>
          <a:solidFill>
            <a:srgbClr val="5C7CB3"/>
          </a:solidFill>
        </p:spPr>
      </p:sp>
      <p:sp>
        <p:nvSpPr>
          <p:cNvPr id="60" name="Text 57"/>
          <p:cNvSpPr/>
          <p:nvPr/>
        </p:nvSpPr>
        <p:spPr>
          <a:xfrm>
            <a:off x="6526082" y="5491583"/>
            <a:ext cx="1952066" cy="201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价值创造</a:t>
            </a:r>
            <a:r>
              <a:rPr lang="en-US" sz="1060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：持续为业务创造价值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165679" y="5903868"/>
            <a:ext cx="5685112" cy="947986"/>
          </a:xfrm>
          <a:custGeom>
            <a:avLst/>
            <a:gdLst/>
            <a:ahLst/>
            <a:cxnLst/>
            <a:rect l="l" t="t" r="r" b="b"/>
            <a:pathLst>
              <a:path w="5685112" h="947986">
                <a:moveTo>
                  <a:pt x="100970" y="0"/>
                </a:moveTo>
                <a:lnTo>
                  <a:pt x="5584142" y="0"/>
                </a:lnTo>
                <a:cubicBezTo>
                  <a:pt x="5639907" y="0"/>
                  <a:pt x="5685112" y="45206"/>
                  <a:pt x="5685112" y="100970"/>
                </a:cubicBezTo>
                <a:lnTo>
                  <a:pt x="5685112" y="847016"/>
                </a:lnTo>
                <a:cubicBezTo>
                  <a:pt x="5685112" y="902780"/>
                  <a:pt x="5639907" y="947986"/>
                  <a:pt x="5584142" y="947986"/>
                </a:cubicBezTo>
                <a:lnTo>
                  <a:pt x="100970" y="947986"/>
                </a:lnTo>
                <a:cubicBezTo>
                  <a:pt x="45206" y="947986"/>
                  <a:pt x="0" y="902780"/>
                  <a:pt x="0" y="847016"/>
                </a:cubicBezTo>
                <a:lnTo>
                  <a:pt x="0" y="100970"/>
                </a:lnTo>
                <a:cubicBezTo>
                  <a:pt x="0" y="45206"/>
                  <a:pt x="45206" y="0"/>
                  <a:pt x="100970" y="0"/>
                </a:cubicBezTo>
                <a:close/>
              </a:path>
            </a:pathLst>
          </a:custGeom>
          <a:solidFill>
            <a:srgbClr val="5C7CB3">
              <a:alpha val="10196"/>
            </a:srgbClr>
          </a:solidFill>
          <a:ln w="8467">
            <a:solidFill>
              <a:srgbClr val="5C7CB3">
                <a:alpha val="2000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269453" y="6007652"/>
            <a:ext cx="5553292" cy="2355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373737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6269453" y="6310559"/>
            <a:ext cx="5544878" cy="4375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373737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通过电商用户行为分析案例，我们深入实践了三种核心机器学习算法。未来将继续探索更先进的技术，为业务创造更大价值。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7C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1:33:16-d2sggv61bb2p4onbonk0.jpg"/>
          <p:cNvPicPr>
            <a:picLocks noChangeAspect="1"/>
          </p:cNvPicPr>
          <p:nvPr/>
        </p:nvPicPr>
        <p:blipFill>
          <a:blip r:embed="rId1"/>
          <a:srcRect r="426"/>
          <a:stretch>
            <a:fillRect/>
          </a:stretch>
        </p:blipFill>
        <p:spPr>
          <a:xfrm>
            <a:off x="0" y="0"/>
            <a:ext cx="12204700" cy="6884670"/>
          </a:xfrm>
          <a:prstGeom prst="rect">
            <a:avLst/>
          </a:prstGeom>
        </p:spPr>
      </p:pic>
      <p:pic>
        <p:nvPicPr>
          <p:cNvPr id="3" name="Image 1" descr="https://kimi-web-img.moonshot.cn/img/pic2.zhimg.com/5c6e5498be39d7bde9b1f1277e33d196b3e946bb.jpg"/>
          <p:cNvPicPr>
            <a:picLocks noChangeAspect="1"/>
          </p:cNvPicPr>
          <p:nvPr/>
        </p:nvPicPr>
        <p:blipFill>
          <a:blip r:embed="rId2">
            <a:alphaModFix amt="20000"/>
          </a:blip>
          <a:srcRect l="17485" r="17485"/>
          <a:stretch>
            <a:fillRect/>
          </a:stretch>
        </p:blipFill>
        <p:spPr>
          <a:xfrm>
            <a:off x="0" y="0"/>
            <a:ext cx="12192000" cy="6926415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2000" cy="6926415"/>
          </a:xfrm>
          <a:custGeom>
            <a:avLst/>
            <a:gdLst/>
            <a:ahLst/>
            <a:cxnLst/>
            <a:rect l="l" t="t" r="r" b="b"/>
            <a:pathLst>
              <a:path w="12192000" h="6926415">
                <a:moveTo>
                  <a:pt x="0" y="0"/>
                </a:moveTo>
                <a:lnTo>
                  <a:pt x="12192000" y="0"/>
                </a:lnTo>
                <a:lnTo>
                  <a:pt x="12192000" y="6926415"/>
                </a:lnTo>
                <a:lnTo>
                  <a:pt x="0" y="692641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C7CB3">
                  <a:alpha val="95000"/>
                </a:srgbClr>
              </a:gs>
              <a:gs pos="50000">
                <a:srgbClr val="7097E5">
                  <a:alpha val="90000"/>
                </a:srgbClr>
              </a:gs>
              <a:gs pos="100000">
                <a:srgbClr val="8FA7D0">
                  <a:alpha val="85000"/>
                </a:srgbClr>
              </a:gs>
            </a:gsLst>
            <a:lin ang="2700000" scaled="1"/>
          </a:gradFill>
        </p:spPr>
      </p:sp>
      <p:sp>
        <p:nvSpPr>
          <p:cNvPr id="5" name="Shape 1"/>
          <p:cNvSpPr/>
          <p:nvPr/>
        </p:nvSpPr>
        <p:spPr>
          <a:xfrm>
            <a:off x="4621640" y="5007"/>
            <a:ext cx="2950489" cy="496991"/>
          </a:xfrm>
          <a:custGeom>
            <a:avLst/>
            <a:gdLst/>
            <a:ahLst/>
            <a:cxnLst/>
            <a:rect l="l" t="t" r="r" b="b"/>
            <a:pathLst>
              <a:path w="2950489" h="496991">
                <a:moveTo>
                  <a:pt x="248495" y="0"/>
                </a:moveTo>
                <a:lnTo>
                  <a:pt x="2701994" y="0"/>
                </a:lnTo>
                <a:cubicBezTo>
                  <a:pt x="2839234" y="0"/>
                  <a:pt x="2950489" y="111255"/>
                  <a:pt x="2950489" y="248495"/>
                </a:cubicBezTo>
                <a:lnTo>
                  <a:pt x="2950489" y="248495"/>
                </a:lnTo>
                <a:cubicBezTo>
                  <a:pt x="2950489" y="385736"/>
                  <a:pt x="2839234" y="496991"/>
                  <a:pt x="2701994" y="496991"/>
                </a:cubicBezTo>
                <a:lnTo>
                  <a:pt x="248495" y="496991"/>
                </a:lnTo>
                <a:cubicBezTo>
                  <a:pt x="111347" y="496991"/>
                  <a:pt x="0" y="385644"/>
                  <a:pt x="0" y="248495"/>
                </a:cubicBezTo>
                <a:lnTo>
                  <a:pt x="0" y="248495"/>
                </a:lnTo>
                <a:cubicBezTo>
                  <a:pt x="0" y="111347"/>
                  <a:pt x="111347" y="0"/>
                  <a:pt x="24849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8467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804080" y="121385"/>
            <a:ext cx="2585610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5" b="1" kern="0" spc="74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SUMMARY &amp; REFLECTION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476947" y="807118"/>
            <a:ext cx="3246167" cy="707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6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总结与思考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192157" y="1741335"/>
            <a:ext cx="1811814" cy="37746"/>
          </a:xfrm>
          <a:custGeom>
            <a:avLst/>
            <a:gdLst/>
            <a:ahLst/>
            <a:cxnLst/>
            <a:rect l="l" t="t" r="r" b="b"/>
            <a:pathLst>
              <a:path w="1811814" h="37746">
                <a:moveTo>
                  <a:pt x="0" y="0"/>
                </a:moveTo>
                <a:lnTo>
                  <a:pt x="1811814" y="0"/>
                </a:lnTo>
                <a:lnTo>
                  <a:pt x="1811814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solidFill>
            <a:srgbClr val="8FA7D0"/>
          </a:solidFill>
        </p:spPr>
      </p:sp>
      <p:sp>
        <p:nvSpPr>
          <p:cNvPr id="9" name="Text 5"/>
          <p:cNvSpPr/>
          <p:nvPr/>
        </p:nvSpPr>
        <p:spPr>
          <a:xfrm>
            <a:off x="1813878" y="2383019"/>
            <a:ext cx="8568372" cy="73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5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通过电商用户行为分析案例，我们深入实践了</a:t>
            </a:r>
            <a:r>
              <a:rPr lang="en-US" sz="1785" b="1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随机森林、SVM、神经网络</a:t>
            </a:r>
            <a:r>
              <a:rPr lang="en-US" sz="1785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三种核心机器学习算法，验证了不同算法在推荐系统、异常检测、复购预测等场景的应用价值。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813878" y="3345546"/>
            <a:ext cx="8568372" cy="73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85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算法选择应基于</a:t>
            </a:r>
            <a:r>
              <a:rPr lang="en-US" sz="1785" b="1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业务需求、数据特点、性能要求</a:t>
            </a:r>
            <a:r>
              <a:rPr lang="en-US" sz="1785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综合考虑，</a:t>
            </a:r>
            <a:r>
              <a:rPr lang="en-US" sz="1785" b="1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没有最好的算法，只有最合适的算法</a:t>
            </a:r>
            <a:r>
              <a:rPr lang="en-US" sz="1785" dirty="0">
                <a:solidFill>
                  <a:srgbClr val="FFFFFF">
                    <a:alpha val="9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。未来将继续探索更先进的算法和技术，为业务创造更大价值。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873643" y="4386710"/>
            <a:ext cx="2657957" cy="1931344"/>
          </a:xfrm>
          <a:custGeom>
            <a:avLst/>
            <a:gdLst/>
            <a:ahLst/>
            <a:cxnLst/>
            <a:rect l="l" t="t" r="r" b="b"/>
            <a:pathLst>
              <a:path w="2657957" h="1931344">
                <a:moveTo>
                  <a:pt x="113235" y="0"/>
                </a:moveTo>
                <a:lnTo>
                  <a:pt x="2544722" y="0"/>
                </a:lnTo>
                <a:cubicBezTo>
                  <a:pt x="2607260" y="0"/>
                  <a:pt x="2657957" y="50697"/>
                  <a:pt x="2657957" y="113235"/>
                </a:cubicBezTo>
                <a:lnTo>
                  <a:pt x="2657957" y="1818109"/>
                </a:lnTo>
                <a:cubicBezTo>
                  <a:pt x="2657957" y="1880647"/>
                  <a:pt x="2607260" y="1931344"/>
                  <a:pt x="2544722" y="1931344"/>
                </a:cubicBezTo>
                <a:lnTo>
                  <a:pt x="113235" y="1931344"/>
                </a:lnTo>
                <a:cubicBezTo>
                  <a:pt x="50697" y="1931344"/>
                  <a:pt x="0" y="1880647"/>
                  <a:pt x="0" y="1818109"/>
                </a:cubicBezTo>
                <a:lnTo>
                  <a:pt x="0" y="113235"/>
                </a:lnTo>
                <a:cubicBezTo>
                  <a:pt x="0" y="50697"/>
                  <a:pt x="50697" y="0"/>
                  <a:pt x="1132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02225" y="4578580"/>
            <a:ext cx="603938" cy="603938"/>
          </a:xfrm>
          <a:custGeom>
            <a:avLst/>
            <a:gdLst/>
            <a:ahLst/>
            <a:cxnLst/>
            <a:rect l="l" t="t" r="r" b="b"/>
            <a:pathLst>
              <a:path w="603938" h="603938">
                <a:moveTo>
                  <a:pt x="301969" y="0"/>
                </a:moveTo>
                <a:lnTo>
                  <a:pt x="301969" y="0"/>
                </a:lnTo>
                <a:cubicBezTo>
                  <a:pt x="468630" y="0"/>
                  <a:pt x="603938" y="135308"/>
                  <a:pt x="603938" y="301969"/>
                </a:cubicBezTo>
                <a:lnTo>
                  <a:pt x="603938" y="301969"/>
                </a:lnTo>
                <a:cubicBezTo>
                  <a:pt x="603938" y="468630"/>
                  <a:pt x="468630" y="603938"/>
                  <a:pt x="301969" y="603938"/>
                </a:cubicBezTo>
                <a:lnTo>
                  <a:pt x="301969" y="603938"/>
                </a:lnTo>
                <a:cubicBezTo>
                  <a:pt x="135308" y="603938"/>
                  <a:pt x="0" y="468630"/>
                  <a:pt x="0" y="301969"/>
                </a:cubicBezTo>
                <a:lnTo>
                  <a:pt x="0" y="301969"/>
                </a:lnTo>
                <a:cubicBezTo>
                  <a:pt x="0" y="135308"/>
                  <a:pt x="135308" y="0"/>
                  <a:pt x="301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3" name="Shape 9"/>
          <p:cNvSpPr/>
          <p:nvPr/>
        </p:nvSpPr>
        <p:spPr>
          <a:xfrm>
            <a:off x="3100393" y="4739001"/>
            <a:ext cx="212322" cy="283096"/>
          </a:xfrm>
          <a:custGeom>
            <a:avLst/>
            <a:gdLst/>
            <a:ahLst/>
            <a:cxnLst/>
            <a:rect l="l" t="t" r="r" b="b"/>
            <a:pathLst>
              <a:path w="212322" h="283096">
                <a:moveTo>
                  <a:pt x="161951" y="212322"/>
                </a:moveTo>
                <a:cubicBezTo>
                  <a:pt x="165987" y="199992"/>
                  <a:pt x="174060" y="188823"/>
                  <a:pt x="183183" y="179202"/>
                </a:cubicBezTo>
                <a:cubicBezTo>
                  <a:pt x="201264" y="160181"/>
                  <a:pt x="212322" y="134471"/>
                  <a:pt x="212322" y="106161"/>
                </a:cubicBezTo>
                <a:cubicBezTo>
                  <a:pt x="212322" y="47551"/>
                  <a:pt x="164771" y="0"/>
                  <a:pt x="106161" y="0"/>
                </a:cubicBezTo>
                <a:cubicBezTo>
                  <a:pt x="47551" y="0"/>
                  <a:pt x="0" y="47551"/>
                  <a:pt x="0" y="106161"/>
                </a:cubicBezTo>
                <a:cubicBezTo>
                  <a:pt x="0" y="134471"/>
                  <a:pt x="11058" y="160181"/>
                  <a:pt x="29139" y="179202"/>
                </a:cubicBezTo>
                <a:cubicBezTo>
                  <a:pt x="38262" y="188823"/>
                  <a:pt x="46390" y="199992"/>
                  <a:pt x="50371" y="212322"/>
                </a:cubicBezTo>
                <a:lnTo>
                  <a:pt x="161896" y="212322"/>
                </a:lnTo>
                <a:close/>
                <a:moveTo>
                  <a:pt x="159241" y="238862"/>
                </a:moveTo>
                <a:lnTo>
                  <a:pt x="53080" y="238862"/>
                </a:lnTo>
                <a:lnTo>
                  <a:pt x="53080" y="247709"/>
                </a:lnTo>
                <a:cubicBezTo>
                  <a:pt x="53080" y="272148"/>
                  <a:pt x="72875" y="291943"/>
                  <a:pt x="97314" y="291943"/>
                </a:cubicBezTo>
                <a:lnTo>
                  <a:pt x="115008" y="291943"/>
                </a:lnTo>
                <a:cubicBezTo>
                  <a:pt x="139447" y="291943"/>
                  <a:pt x="159241" y="272148"/>
                  <a:pt x="159241" y="247709"/>
                </a:cubicBezTo>
                <a:lnTo>
                  <a:pt x="159241" y="238862"/>
                </a:lnTo>
                <a:close/>
                <a:moveTo>
                  <a:pt x="101738" y="61927"/>
                </a:moveTo>
                <a:cubicBezTo>
                  <a:pt x="79731" y="61927"/>
                  <a:pt x="61927" y="79731"/>
                  <a:pt x="61927" y="101738"/>
                </a:cubicBezTo>
                <a:cubicBezTo>
                  <a:pt x="61927" y="109091"/>
                  <a:pt x="56011" y="115008"/>
                  <a:pt x="48657" y="115008"/>
                </a:cubicBezTo>
                <a:cubicBezTo>
                  <a:pt x="41303" y="115008"/>
                  <a:pt x="35387" y="109091"/>
                  <a:pt x="35387" y="101738"/>
                </a:cubicBezTo>
                <a:cubicBezTo>
                  <a:pt x="35387" y="65079"/>
                  <a:pt x="65079" y="35387"/>
                  <a:pt x="101738" y="35387"/>
                </a:cubicBezTo>
                <a:cubicBezTo>
                  <a:pt x="109091" y="35387"/>
                  <a:pt x="115008" y="41303"/>
                  <a:pt x="115008" y="48657"/>
                </a:cubicBezTo>
                <a:cubicBezTo>
                  <a:pt x="115008" y="56011"/>
                  <a:pt x="109091" y="61927"/>
                  <a:pt x="101738" y="6192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Text 10"/>
          <p:cNvSpPr/>
          <p:nvPr/>
        </p:nvSpPr>
        <p:spPr>
          <a:xfrm>
            <a:off x="2018337" y="5333502"/>
            <a:ext cx="2368570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持续学习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027773" y="5673218"/>
            <a:ext cx="2349697" cy="45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保持对新技术、新算法的关注和学习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767513" y="4386710"/>
            <a:ext cx="2657957" cy="1931344"/>
          </a:xfrm>
          <a:custGeom>
            <a:avLst/>
            <a:gdLst/>
            <a:ahLst/>
            <a:cxnLst/>
            <a:rect l="l" t="t" r="r" b="b"/>
            <a:pathLst>
              <a:path w="2657957" h="1931344">
                <a:moveTo>
                  <a:pt x="113235" y="0"/>
                </a:moveTo>
                <a:lnTo>
                  <a:pt x="2544722" y="0"/>
                </a:lnTo>
                <a:cubicBezTo>
                  <a:pt x="2607260" y="0"/>
                  <a:pt x="2657957" y="50697"/>
                  <a:pt x="2657957" y="113235"/>
                </a:cubicBezTo>
                <a:lnTo>
                  <a:pt x="2657957" y="1818109"/>
                </a:lnTo>
                <a:cubicBezTo>
                  <a:pt x="2657957" y="1880647"/>
                  <a:pt x="2607260" y="1931344"/>
                  <a:pt x="2544722" y="1931344"/>
                </a:cubicBezTo>
                <a:lnTo>
                  <a:pt x="113235" y="1931344"/>
                </a:lnTo>
                <a:cubicBezTo>
                  <a:pt x="50697" y="1931344"/>
                  <a:pt x="0" y="1880647"/>
                  <a:pt x="0" y="1818109"/>
                </a:cubicBezTo>
                <a:lnTo>
                  <a:pt x="0" y="113235"/>
                </a:lnTo>
                <a:cubicBezTo>
                  <a:pt x="0" y="50697"/>
                  <a:pt x="50697" y="0"/>
                  <a:pt x="1132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96095" y="4578580"/>
            <a:ext cx="603938" cy="603938"/>
          </a:xfrm>
          <a:custGeom>
            <a:avLst/>
            <a:gdLst/>
            <a:ahLst/>
            <a:cxnLst/>
            <a:rect l="l" t="t" r="r" b="b"/>
            <a:pathLst>
              <a:path w="603938" h="603938">
                <a:moveTo>
                  <a:pt x="301969" y="0"/>
                </a:moveTo>
                <a:lnTo>
                  <a:pt x="301969" y="0"/>
                </a:lnTo>
                <a:cubicBezTo>
                  <a:pt x="468630" y="0"/>
                  <a:pt x="603938" y="135308"/>
                  <a:pt x="603938" y="301969"/>
                </a:cubicBezTo>
                <a:lnTo>
                  <a:pt x="603938" y="301969"/>
                </a:lnTo>
                <a:cubicBezTo>
                  <a:pt x="603938" y="468630"/>
                  <a:pt x="468630" y="603938"/>
                  <a:pt x="301969" y="603938"/>
                </a:cubicBezTo>
                <a:lnTo>
                  <a:pt x="301969" y="603938"/>
                </a:lnTo>
                <a:cubicBezTo>
                  <a:pt x="135308" y="603938"/>
                  <a:pt x="0" y="468630"/>
                  <a:pt x="0" y="301969"/>
                </a:cubicBezTo>
                <a:lnTo>
                  <a:pt x="0" y="301969"/>
                </a:lnTo>
                <a:cubicBezTo>
                  <a:pt x="0" y="135308"/>
                  <a:pt x="135308" y="0"/>
                  <a:pt x="301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5923488" y="4739001"/>
            <a:ext cx="353870" cy="283096"/>
          </a:xfrm>
          <a:custGeom>
            <a:avLst/>
            <a:gdLst/>
            <a:ahLst/>
            <a:cxnLst/>
            <a:rect l="l" t="t" r="r" b="b"/>
            <a:pathLst>
              <a:path w="353870" h="283096">
                <a:moveTo>
                  <a:pt x="176935" y="8847"/>
                </a:moveTo>
                <a:cubicBezTo>
                  <a:pt x="208672" y="8847"/>
                  <a:pt x="234439" y="34613"/>
                  <a:pt x="234439" y="66351"/>
                </a:cubicBezTo>
                <a:cubicBezTo>
                  <a:pt x="234439" y="98088"/>
                  <a:pt x="208672" y="123854"/>
                  <a:pt x="176935" y="123854"/>
                </a:cubicBezTo>
                <a:cubicBezTo>
                  <a:pt x="145198" y="123854"/>
                  <a:pt x="119431" y="98088"/>
                  <a:pt x="119431" y="66351"/>
                </a:cubicBezTo>
                <a:cubicBezTo>
                  <a:pt x="119431" y="34613"/>
                  <a:pt x="145198" y="8847"/>
                  <a:pt x="176935" y="8847"/>
                </a:cubicBezTo>
                <a:close/>
                <a:moveTo>
                  <a:pt x="53080" y="48657"/>
                </a:moveTo>
                <a:cubicBezTo>
                  <a:pt x="75052" y="48657"/>
                  <a:pt x="92891" y="66496"/>
                  <a:pt x="92891" y="88467"/>
                </a:cubicBezTo>
                <a:cubicBezTo>
                  <a:pt x="92891" y="110439"/>
                  <a:pt x="75052" y="128278"/>
                  <a:pt x="53080" y="128278"/>
                </a:cubicBezTo>
                <a:cubicBezTo>
                  <a:pt x="31109" y="128278"/>
                  <a:pt x="13270" y="110439"/>
                  <a:pt x="13270" y="88467"/>
                </a:cubicBezTo>
                <a:cubicBezTo>
                  <a:pt x="13270" y="66496"/>
                  <a:pt x="31109" y="48657"/>
                  <a:pt x="53080" y="48657"/>
                </a:cubicBezTo>
                <a:close/>
                <a:moveTo>
                  <a:pt x="0" y="230015"/>
                </a:moveTo>
                <a:cubicBezTo>
                  <a:pt x="0" y="190924"/>
                  <a:pt x="31682" y="159241"/>
                  <a:pt x="70774" y="159241"/>
                </a:cubicBezTo>
                <a:cubicBezTo>
                  <a:pt x="77851" y="159241"/>
                  <a:pt x="84708" y="160292"/>
                  <a:pt x="91177" y="162227"/>
                </a:cubicBezTo>
                <a:cubicBezTo>
                  <a:pt x="72986" y="182575"/>
                  <a:pt x="61927" y="209447"/>
                  <a:pt x="61927" y="238862"/>
                </a:cubicBezTo>
                <a:lnTo>
                  <a:pt x="61927" y="247709"/>
                </a:lnTo>
                <a:cubicBezTo>
                  <a:pt x="61927" y="254012"/>
                  <a:pt x="63254" y="259984"/>
                  <a:pt x="65632" y="265402"/>
                </a:cubicBezTo>
                <a:lnTo>
                  <a:pt x="17693" y="265402"/>
                </a:lnTo>
                <a:cubicBezTo>
                  <a:pt x="7907" y="265402"/>
                  <a:pt x="0" y="257496"/>
                  <a:pt x="0" y="247709"/>
                </a:cubicBezTo>
                <a:lnTo>
                  <a:pt x="0" y="230015"/>
                </a:lnTo>
                <a:close/>
                <a:moveTo>
                  <a:pt x="288238" y="265402"/>
                </a:moveTo>
                <a:cubicBezTo>
                  <a:pt x="290616" y="259984"/>
                  <a:pt x="291943" y="254012"/>
                  <a:pt x="291943" y="247709"/>
                </a:cubicBezTo>
                <a:lnTo>
                  <a:pt x="291943" y="238862"/>
                </a:lnTo>
                <a:cubicBezTo>
                  <a:pt x="291943" y="209447"/>
                  <a:pt x="280884" y="182575"/>
                  <a:pt x="262693" y="162227"/>
                </a:cubicBezTo>
                <a:cubicBezTo>
                  <a:pt x="269162" y="160292"/>
                  <a:pt x="276019" y="159241"/>
                  <a:pt x="283096" y="159241"/>
                </a:cubicBezTo>
                <a:cubicBezTo>
                  <a:pt x="322188" y="159241"/>
                  <a:pt x="353870" y="190924"/>
                  <a:pt x="353870" y="230015"/>
                </a:cubicBezTo>
                <a:lnTo>
                  <a:pt x="353870" y="247709"/>
                </a:lnTo>
                <a:cubicBezTo>
                  <a:pt x="353870" y="257496"/>
                  <a:pt x="345963" y="265402"/>
                  <a:pt x="336176" y="265402"/>
                </a:cubicBezTo>
                <a:lnTo>
                  <a:pt x="288238" y="265402"/>
                </a:lnTo>
                <a:close/>
                <a:moveTo>
                  <a:pt x="260979" y="88467"/>
                </a:moveTo>
                <a:cubicBezTo>
                  <a:pt x="260979" y="66496"/>
                  <a:pt x="278818" y="48657"/>
                  <a:pt x="300789" y="48657"/>
                </a:cubicBezTo>
                <a:cubicBezTo>
                  <a:pt x="322761" y="48657"/>
                  <a:pt x="340600" y="66496"/>
                  <a:pt x="340600" y="88467"/>
                </a:cubicBezTo>
                <a:cubicBezTo>
                  <a:pt x="340600" y="110439"/>
                  <a:pt x="322761" y="128278"/>
                  <a:pt x="300789" y="128278"/>
                </a:cubicBezTo>
                <a:cubicBezTo>
                  <a:pt x="278818" y="128278"/>
                  <a:pt x="260979" y="110439"/>
                  <a:pt x="260979" y="88467"/>
                </a:cubicBezTo>
                <a:close/>
                <a:moveTo>
                  <a:pt x="88467" y="238862"/>
                </a:moveTo>
                <a:cubicBezTo>
                  <a:pt x="88467" y="189984"/>
                  <a:pt x="128057" y="150395"/>
                  <a:pt x="176935" y="150395"/>
                </a:cubicBezTo>
                <a:cubicBezTo>
                  <a:pt x="225813" y="150395"/>
                  <a:pt x="265402" y="189984"/>
                  <a:pt x="265402" y="238862"/>
                </a:cubicBezTo>
                <a:lnTo>
                  <a:pt x="265402" y="247709"/>
                </a:lnTo>
                <a:cubicBezTo>
                  <a:pt x="265402" y="257496"/>
                  <a:pt x="257496" y="265402"/>
                  <a:pt x="247709" y="265402"/>
                </a:cubicBezTo>
                <a:lnTo>
                  <a:pt x="106161" y="265402"/>
                </a:lnTo>
                <a:cubicBezTo>
                  <a:pt x="96374" y="265402"/>
                  <a:pt x="88467" y="257496"/>
                  <a:pt x="88467" y="247709"/>
                </a:cubicBezTo>
                <a:lnTo>
                  <a:pt x="88467" y="238862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4912207" y="5333502"/>
            <a:ext cx="2368570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921644" y="5673218"/>
            <a:ext cx="2349697" cy="226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加强算法、工程、业务团队的协作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661384" y="4386710"/>
            <a:ext cx="2657957" cy="1931344"/>
          </a:xfrm>
          <a:custGeom>
            <a:avLst/>
            <a:gdLst/>
            <a:ahLst/>
            <a:cxnLst/>
            <a:rect l="l" t="t" r="r" b="b"/>
            <a:pathLst>
              <a:path w="2657957" h="1931344">
                <a:moveTo>
                  <a:pt x="113235" y="0"/>
                </a:moveTo>
                <a:lnTo>
                  <a:pt x="2544722" y="0"/>
                </a:lnTo>
                <a:cubicBezTo>
                  <a:pt x="2607260" y="0"/>
                  <a:pt x="2657957" y="50697"/>
                  <a:pt x="2657957" y="113235"/>
                </a:cubicBezTo>
                <a:lnTo>
                  <a:pt x="2657957" y="1818109"/>
                </a:lnTo>
                <a:cubicBezTo>
                  <a:pt x="2657957" y="1880647"/>
                  <a:pt x="2607260" y="1931344"/>
                  <a:pt x="2544722" y="1931344"/>
                </a:cubicBezTo>
                <a:lnTo>
                  <a:pt x="113235" y="1931344"/>
                </a:lnTo>
                <a:cubicBezTo>
                  <a:pt x="50697" y="1931344"/>
                  <a:pt x="0" y="1880647"/>
                  <a:pt x="0" y="1818109"/>
                </a:cubicBezTo>
                <a:lnTo>
                  <a:pt x="0" y="113235"/>
                </a:lnTo>
                <a:cubicBezTo>
                  <a:pt x="0" y="50697"/>
                  <a:pt x="50697" y="0"/>
                  <a:pt x="1132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8467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9965" y="4578580"/>
            <a:ext cx="603938" cy="603938"/>
          </a:xfrm>
          <a:custGeom>
            <a:avLst/>
            <a:gdLst/>
            <a:ahLst/>
            <a:cxnLst/>
            <a:rect l="l" t="t" r="r" b="b"/>
            <a:pathLst>
              <a:path w="603938" h="603938">
                <a:moveTo>
                  <a:pt x="301969" y="0"/>
                </a:moveTo>
                <a:lnTo>
                  <a:pt x="301969" y="0"/>
                </a:lnTo>
                <a:cubicBezTo>
                  <a:pt x="468630" y="0"/>
                  <a:pt x="603938" y="135308"/>
                  <a:pt x="603938" y="301969"/>
                </a:cubicBezTo>
                <a:lnTo>
                  <a:pt x="603938" y="301969"/>
                </a:lnTo>
                <a:cubicBezTo>
                  <a:pt x="603938" y="468630"/>
                  <a:pt x="468630" y="603938"/>
                  <a:pt x="301969" y="603938"/>
                </a:cubicBezTo>
                <a:lnTo>
                  <a:pt x="301969" y="603938"/>
                </a:lnTo>
                <a:cubicBezTo>
                  <a:pt x="135308" y="603938"/>
                  <a:pt x="0" y="468630"/>
                  <a:pt x="0" y="301969"/>
                </a:cubicBezTo>
                <a:lnTo>
                  <a:pt x="0" y="301969"/>
                </a:lnTo>
                <a:cubicBezTo>
                  <a:pt x="0" y="135308"/>
                  <a:pt x="135308" y="0"/>
                  <a:pt x="3019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8852746" y="4739001"/>
            <a:ext cx="283096" cy="283096"/>
          </a:xfrm>
          <a:custGeom>
            <a:avLst/>
            <a:gdLst/>
            <a:ahLst/>
            <a:cxnLst/>
            <a:rect l="l" t="t" r="r" b="b"/>
            <a:pathLst>
              <a:path w="283096" h="283096">
                <a:moveTo>
                  <a:pt x="35387" y="35387"/>
                </a:moveTo>
                <a:cubicBezTo>
                  <a:pt x="35387" y="25600"/>
                  <a:pt x="27480" y="17693"/>
                  <a:pt x="17693" y="17693"/>
                </a:cubicBezTo>
                <a:cubicBezTo>
                  <a:pt x="7907" y="17693"/>
                  <a:pt x="0" y="25600"/>
                  <a:pt x="0" y="35387"/>
                </a:cubicBezTo>
                <a:lnTo>
                  <a:pt x="0" y="221169"/>
                </a:lnTo>
                <a:cubicBezTo>
                  <a:pt x="0" y="245608"/>
                  <a:pt x="19795" y="265402"/>
                  <a:pt x="44234" y="265402"/>
                </a:cubicBezTo>
                <a:lnTo>
                  <a:pt x="265402" y="265402"/>
                </a:lnTo>
                <a:cubicBezTo>
                  <a:pt x="275189" y="265402"/>
                  <a:pt x="283096" y="257496"/>
                  <a:pt x="283096" y="247709"/>
                </a:cubicBezTo>
                <a:cubicBezTo>
                  <a:pt x="283096" y="237922"/>
                  <a:pt x="275189" y="230015"/>
                  <a:pt x="265402" y="230015"/>
                </a:cubicBezTo>
                <a:lnTo>
                  <a:pt x="44234" y="230015"/>
                </a:lnTo>
                <a:cubicBezTo>
                  <a:pt x="39368" y="230015"/>
                  <a:pt x="35387" y="226034"/>
                  <a:pt x="35387" y="221169"/>
                </a:cubicBezTo>
                <a:lnTo>
                  <a:pt x="35387" y="35387"/>
                </a:lnTo>
                <a:close/>
                <a:moveTo>
                  <a:pt x="260205" y="83270"/>
                </a:moveTo>
                <a:cubicBezTo>
                  <a:pt x="267117" y="76359"/>
                  <a:pt x="267117" y="65134"/>
                  <a:pt x="260205" y="58223"/>
                </a:cubicBezTo>
                <a:cubicBezTo>
                  <a:pt x="253293" y="51311"/>
                  <a:pt x="242069" y="51311"/>
                  <a:pt x="235158" y="58223"/>
                </a:cubicBezTo>
                <a:lnTo>
                  <a:pt x="176935" y="116501"/>
                </a:lnTo>
                <a:lnTo>
                  <a:pt x="145197" y="84818"/>
                </a:lnTo>
                <a:cubicBezTo>
                  <a:pt x="138286" y="77907"/>
                  <a:pt x="127061" y="77907"/>
                  <a:pt x="120150" y="84818"/>
                </a:cubicBezTo>
                <a:lnTo>
                  <a:pt x="67069" y="137899"/>
                </a:lnTo>
                <a:cubicBezTo>
                  <a:pt x="60158" y="144810"/>
                  <a:pt x="60158" y="156035"/>
                  <a:pt x="67069" y="162946"/>
                </a:cubicBezTo>
                <a:cubicBezTo>
                  <a:pt x="73981" y="169858"/>
                  <a:pt x="85205" y="169858"/>
                  <a:pt x="92117" y="162946"/>
                </a:cubicBezTo>
                <a:lnTo>
                  <a:pt x="132701" y="122362"/>
                </a:lnTo>
                <a:lnTo>
                  <a:pt x="164439" y="154099"/>
                </a:lnTo>
                <a:cubicBezTo>
                  <a:pt x="171350" y="161011"/>
                  <a:pt x="182575" y="161011"/>
                  <a:pt x="189486" y="154099"/>
                </a:cubicBezTo>
                <a:lnTo>
                  <a:pt x="260260" y="833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0"/>
          <p:cNvSpPr/>
          <p:nvPr/>
        </p:nvSpPr>
        <p:spPr>
          <a:xfrm>
            <a:off x="7806077" y="5333502"/>
            <a:ext cx="2368570" cy="2642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价值创造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7815513" y="5673218"/>
            <a:ext cx="2349697" cy="4529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0" dirty="0">
                <a:solidFill>
                  <a:srgbClr val="FFFFFF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持续为业务创造价值，提升用户体验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475253" y="6623156"/>
            <a:ext cx="1245622" cy="3019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感谢聆听！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5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6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7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8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9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0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1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2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3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4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5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6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7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8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19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0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1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2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3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4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5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6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7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8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29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0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1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2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3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4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5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6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7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8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39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0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1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2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3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4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5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6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7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ags/tag48.xml><?xml version="1.0" encoding="utf-8"?>
<p:tagLst xmlns:p="http://schemas.openxmlformats.org/presentationml/2006/main">
  <p:tag name="KSO_WM_DIAGRAM_VIRTUALLY_FRAME" val="{&quot;height&quot;:405,&quot;left&quot;:31.5,&quot;top&quot;:105,&quot;width&quot;:898.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7228</Words>
  <Application>WPS 演示</Application>
  <PresentationFormat>On-screen Show (16:9)</PresentationFormat>
  <Paragraphs>1480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3" baseType="lpstr">
      <vt:lpstr>Arial</vt:lpstr>
      <vt:lpstr>宋体</vt:lpstr>
      <vt:lpstr>Wingdings</vt:lpstr>
      <vt:lpstr>MiSans</vt:lpstr>
      <vt:lpstr>MiSans</vt:lpstr>
      <vt:lpstr>Noto Sans SC</vt:lpstr>
      <vt:lpstr>Noto Sans SC</vt:lpstr>
      <vt:lpstr>Liter</vt:lpstr>
      <vt:lpstr>Liter</vt:lpstr>
      <vt:lpstr>Liter</vt:lpstr>
      <vt:lpstr>Calibri</vt:lpstr>
      <vt:lpstr>微软雅黑</vt:lpstr>
      <vt:lpstr>Arial Unicode MS</vt:lpstr>
      <vt:lpstr>等线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电商用户行为分析案例研究</dc:title>
  <dc:creator>Kimi</dc:creator>
  <dc:subject>电商用户行为分析案例研究</dc:subject>
  <cp:lastModifiedBy>魏正想</cp:lastModifiedBy>
  <cp:revision>2</cp:revision>
  <dcterms:created xsi:type="dcterms:W3CDTF">2025-12-23T08:07:00Z</dcterms:created>
  <dcterms:modified xsi:type="dcterms:W3CDTF">2025-12-29T11:39:09Z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电商用户行为分析案例研究","ContentProducer":"001191110108MACG2KBH8F10000","ProduceID":"19b4a0dd-cc92-8570-8000-0000a8e48932","ReservedCode1":"","ContentPropagator":"001191110108MACG2KBH8F20000","PropagateID":"19b4a0dd-cc92-8570-8000-0000a8e48932","ReservedCode2":""}</vt:lpwstr>
  </property>
  <property fmtid="{D5CDD505-2E9C-101B-9397-08002B2CF9AE}" pid="3" name="ICV">
    <vt:lpwstr>9142C893533448CEA87B871EEE4B8AB7_13</vt:lpwstr>
  </property>
  <property fmtid="{D5CDD505-2E9C-101B-9397-08002B2CF9AE}" pid="4" name="KSOProductBuildVer">
    <vt:lpwstr>2052-12.1.0.24034</vt:lpwstr>
  </property>
</Properties>
</file>