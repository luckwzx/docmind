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31"/>
  </p:handoutMasterIdLst>
  <p:sldIdLst>
    <p:sldId id="256" r:id="rId4"/>
    <p:sldId id="286" r:id="rId5"/>
    <p:sldId id="257" r:id="rId6"/>
    <p:sldId id="259" r:id="rId7"/>
    <p:sldId id="263" r:id="rId9"/>
    <p:sldId id="264" r:id="rId10"/>
    <p:sldId id="265" r:id="rId11"/>
    <p:sldId id="287" r:id="rId12"/>
    <p:sldId id="267" r:id="rId13"/>
    <p:sldId id="260" r:id="rId14"/>
    <p:sldId id="288" r:id="rId15"/>
    <p:sldId id="269" r:id="rId16"/>
    <p:sldId id="289" r:id="rId17"/>
    <p:sldId id="261" r:id="rId18"/>
    <p:sldId id="273" r:id="rId19"/>
    <p:sldId id="290" r:id="rId20"/>
    <p:sldId id="291" r:id="rId21"/>
    <p:sldId id="262" r:id="rId22"/>
    <p:sldId id="277" r:id="rId23"/>
    <p:sldId id="292" r:id="rId24"/>
    <p:sldId id="293" r:id="rId25"/>
    <p:sldId id="295" r:id="rId26"/>
    <p:sldId id="294" r:id="rId27"/>
    <p:sldId id="296" r:id="rId28"/>
    <p:sldId id="297" r:id="rId29"/>
    <p:sldId id="25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0" autoAdjust="0"/>
    <p:restoredTop sz="99653" autoAdjust="0"/>
  </p:normalViewPr>
  <p:slideViewPr>
    <p:cSldViewPr snapToGrid="0">
      <p:cViewPr>
        <p:scale>
          <a:sx n="100" d="100"/>
          <a:sy n="100" d="100"/>
        </p:scale>
        <p:origin x="-822" y="-426"/>
      </p:cViewPr>
      <p:guideLst>
        <p:guide orient="horz" pos="21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0" d="100"/>
          <a:sy n="60" d="100"/>
        </p:scale>
        <p:origin x="249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AAB20-9BA3-4335-B37F-047722B860B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673A7-09B1-41CC-9E9B-923DBE8B17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5032E-64D3-423A-A580-3AB796CE47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24FE-0CEC-45DB-8C12-71701C1946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E24FE-0CEC-45DB-8C12-71701C194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9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33351" y="125730"/>
            <a:ext cx="11925300" cy="66065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651940" y="10325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5EE30-12F6-4A9E-A864-405F152A0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1F490-DBDB-4726-B909-D5481FD1F0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014444" y="3133008"/>
            <a:ext cx="8163112" cy="117680"/>
            <a:chOff x="2445258" y="3544488"/>
            <a:chExt cx="8163112" cy="117680"/>
          </a:xfrm>
        </p:grpSpPr>
        <p:cxnSp>
          <p:nvCxnSpPr>
            <p:cNvPr id="4" name="直接连接符 3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CxnSpPr>
              <a:stCxn id="5" idx="3"/>
            </p:cNvCxnSpPr>
            <p:nvPr/>
          </p:nvCxnSpPr>
          <p:spPr>
            <a:xfrm>
              <a:off x="2562938" y="3603328"/>
              <a:ext cx="80454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/>
            <p:nvPr/>
          </p:nvSpPr>
          <p:spPr>
            <a:xfrm>
              <a:off x="2445258" y="3544488"/>
              <a:ext cx="117680" cy="1176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1135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13556"/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9357360" y="1828800"/>
            <a:ext cx="0" cy="3535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88135" y="2342515"/>
            <a:ext cx="7454900" cy="72136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algn="r"/>
            <a:r>
              <a:rPr lang="en-US" altLang="zh-CN" sz="4000" dirty="0"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 panose="02020603050405020304"/>
              </a:rPr>
              <a:t>Redis</a:t>
            </a:r>
            <a:r>
              <a:rPr lang="zh-CN" altLang="en-US" sz="4000" dirty="0"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 panose="02020603050405020304"/>
              </a:rPr>
              <a:t>过期删除与内存淘汰机制</a:t>
            </a:r>
            <a:endParaRPr lang="zh-CN" altLang="en-US" sz="7200" dirty="0">
              <a:latin typeface="阿里巴巴普惠体 Light" pitchFamily="18" charset="-122"/>
              <a:ea typeface="阿里巴巴普惠体 Light" pitchFamily="18" charset="-122"/>
              <a:cs typeface="阿里巴巴普惠体 Light" pitchFamily="18" charset="-122"/>
              <a:sym typeface="Times New Roman" panose="02020603050405020304"/>
            </a:endParaRPr>
          </a:p>
          <a:p>
            <a:pPr algn="r"/>
            <a:r>
              <a:rPr lang="en-US" altLang="zh-CN" sz="7200" dirty="0"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 panose="02020603050405020304"/>
              </a:rPr>
              <a:t> </a:t>
            </a:r>
            <a:endParaRPr lang="en-US" altLang="zh-CN" sz="7200" dirty="0">
              <a:latin typeface="阿里巴巴普惠体 Light" pitchFamily="18" charset="-122"/>
              <a:ea typeface="阿里巴巴普惠体 Light" pitchFamily="18" charset="-122"/>
              <a:cs typeface="阿里巴巴普惠体 Light" pitchFamily="18" charset="-122"/>
              <a:sym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6746" y="3522147"/>
            <a:ext cx="5161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从过期策略到内存淘汰，彻底搞懂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Redis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内存管理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23185" y="3932538"/>
            <a:ext cx="4265404" cy="554006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Chinese  companies  will no longer remain in the hard stage and they are also promoting a culture Chinese  companies  will no longer remain 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in the hard stage and they are also wang ling </a:t>
            </a:r>
            <a:r>
              <a:rPr lang="en-US" altLang="zh-CN" sz="10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yan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 a culture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17" name="PA-文本框 8"/>
          <p:cNvSpPr txBox="1"/>
          <p:nvPr>
            <p:custDataLst>
              <p:tags r:id="rId2"/>
            </p:custDataLst>
          </p:nvPr>
        </p:nvSpPr>
        <p:spPr>
          <a:xfrm>
            <a:off x="10041612" y="6002532"/>
            <a:ext cx="1909667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2026/06/26</a:t>
            </a:r>
            <a:endParaRPr lang="zh-CN" altLang="en-US" sz="1600" spc="3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99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99"/>
                            </p:stCondLst>
                            <p:childTnLst>
                              <p:par>
                                <p:cTn id="2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99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sp>
        <p:nvSpPr>
          <p:cNvPr id="17" name="PA-文本框 8"/>
          <p:cNvSpPr txBox="1"/>
          <p:nvPr>
            <p:custDataLst>
              <p:tags r:id="rId2"/>
            </p:custDataLst>
          </p:nvPr>
        </p:nvSpPr>
        <p:spPr>
          <a:xfrm>
            <a:off x="10041612" y="6002532"/>
            <a:ext cx="190966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202X/05/19</a:t>
            </a:r>
            <a:endParaRPr lang="zh-CN" altLang="en-US" sz="1600" spc="3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51660" y="1317625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问题引入：</a:t>
            </a:r>
            <a:endParaRPr lang="zh-CN" altLang="en-US" sz="3200" b="1"/>
          </a:p>
          <a:p>
            <a:endParaRPr lang="zh-CN" altLang="en-US" sz="3200" b="1"/>
          </a:p>
        </p:txBody>
      </p:sp>
      <p:sp>
        <p:nvSpPr>
          <p:cNvPr id="6" name="文本框 5"/>
          <p:cNvSpPr txBox="1"/>
          <p:nvPr/>
        </p:nvSpPr>
        <p:spPr>
          <a:xfrm>
            <a:off x="2177415" y="2413635"/>
            <a:ext cx="6782435" cy="3205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/>
              <a:t>Redis </a:t>
            </a:r>
            <a:r>
              <a:rPr lang="zh-CN" altLang="en-US"/>
              <a:t>是内存数据库，内存是稀缺</a:t>
            </a:r>
            <a:r>
              <a:rPr lang="zh-CN" altLang="en-US"/>
              <a:t>资源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/>
              <a:t>大量</a:t>
            </a:r>
            <a:r>
              <a:rPr lang="en-US" altLang="zh-CN"/>
              <a:t>key </a:t>
            </a:r>
            <a:r>
              <a:rPr lang="zh-CN" altLang="en-US"/>
              <a:t>不清理</a:t>
            </a:r>
            <a:r>
              <a:rPr lang="en-US" altLang="zh-CN"/>
              <a:t>→</a:t>
            </a:r>
            <a:r>
              <a:rPr lang="zh-CN" altLang="en-US"/>
              <a:t>内存泄漏</a:t>
            </a:r>
            <a:r>
              <a:rPr lang="en-US" altLang="zh-CN"/>
              <a:t>→OOM→</a:t>
            </a:r>
            <a:r>
              <a:rPr lang="zh-CN" altLang="en-US"/>
              <a:t>服务</a:t>
            </a:r>
            <a:r>
              <a:rPr lang="zh-CN" altLang="en-US"/>
              <a:t>崩溃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/>
              <a:t>两个核心</a:t>
            </a:r>
            <a:r>
              <a:rPr lang="zh-CN" altLang="en-US"/>
              <a:t>问题：</a:t>
            </a:r>
            <a:endParaRPr lang="zh-CN" altLang="en-US"/>
          </a:p>
          <a:p>
            <a:endParaRPr lang="zh-CN" altLang="en-US"/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/>
              <a:t>过期</a:t>
            </a:r>
            <a:r>
              <a:rPr lang="en-US" altLang="zh-CN"/>
              <a:t>key</a:t>
            </a:r>
            <a:r>
              <a:rPr lang="zh-CN" altLang="en-US"/>
              <a:t>怎么删除？</a:t>
            </a:r>
            <a:r>
              <a:rPr lang="en-US" altLang="zh-CN"/>
              <a:t>→</a:t>
            </a:r>
            <a:r>
              <a:rPr lang="zh-CN" altLang="en-US"/>
              <a:t>过期删除</a:t>
            </a:r>
            <a:r>
              <a:rPr lang="zh-CN" altLang="en-US"/>
              <a:t>策略</a:t>
            </a:r>
            <a:endParaRPr lang="zh-CN" altLang="en-US"/>
          </a:p>
          <a:p>
            <a:pPr marL="742950" lvl="1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/>
              <a:t>内存满了怎么办？</a:t>
            </a:r>
            <a:r>
              <a:rPr lang="en-US" altLang="zh-CN"/>
              <a:t>→</a:t>
            </a:r>
            <a:r>
              <a:rPr lang="zh-CN" altLang="en-US"/>
              <a:t>内存淘汰</a:t>
            </a:r>
            <a:r>
              <a:rPr lang="zh-CN" altLang="en-US"/>
              <a:t>策略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4947601" y="1028781"/>
            <a:ext cx="0" cy="5091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4888761" y="4311200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1975" y="2670678"/>
            <a:ext cx="4114800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0" b="1" dirty="0">
                <a:solidFill>
                  <a:prstClr val="black"/>
                </a:solidFill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 panose="02020603050405020304"/>
              </a:rPr>
              <a:t>CONTENTS</a:t>
            </a:r>
            <a:endParaRPr lang="en-US" altLang="zh-CN" sz="6000" b="1" dirty="0">
              <a:solidFill>
                <a:prstClr val="black"/>
              </a:solidFill>
              <a:latin typeface="阿里巴巴普惠体 Light" pitchFamily="18" charset="-122"/>
              <a:ea typeface="阿里巴巴普惠体 Light" pitchFamily="18" charset="-122"/>
              <a:cs typeface="阿里巴巴普惠体 Light" pitchFamily="18" charset="-122"/>
              <a:sym typeface="Times New Roman" panose="02020603050405020304"/>
            </a:endParaRPr>
          </a:p>
        </p:txBody>
      </p:sp>
      <p:grpSp>
        <p:nvGrpSpPr>
          <p:cNvPr id="31" name="组合 30"/>
          <p:cNvGrpSpPr/>
          <p:nvPr>
            <p:custDataLst>
              <p:tags r:id="rId2"/>
            </p:custDataLst>
          </p:nvPr>
        </p:nvGrpSpPr>
        <p:grpSpPr>
          <a:xfrm>
            <a:off x="6908099" y="1426154"/>
            <a:ext cx="3386125" cy="923330"/>
            <a:chOff x="6885007" y="2303608"/>
            <a:chExt cx="3386125" cy="923330"/>
          </a:xfrm>
        </p:grpSpPr>
        <p:sp>
          <p:nvSpPr>
            <p:cNvPr id="32" name="文本框 31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3"/>
              </p:custDataLst>
            </p:nvPr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 panose="02020603050405020304"/>
                  <a:ea typeface="微软雅黑" panose="020B0503020204020204" pitchFamily="34" charset="-122"/>
                  <a:cs typeface="Calibri Light" panose="020F0302020204030204" pitchFamily="34" charset="0"/>
                  <a:sym typeface="Times New Roman" panose="02020603050405020304"/>
                </a:rPr>
                <a:t>1</a:t>
              </a:r>
              <a:endParaRPr lang="zh-CN" altLang="en-US" sz="5400" dirty="0">
                <a:latin typeface="Times New Roman" panose="02020603050405020304"/>
                <a:ea typeface="微软雅黑" panose="020B0503020204020204" pitchFamily="34" charset="-122"/>
                <a:cs typeface="Calibri Light" panose="020F0302020204030204" pitchFamily="34" charset="0"/>
                <a:sym typeface="Times New Roman" panose="02020603050405020304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4"/>
              </p:custDataLst>
            </p:nvPr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  <p:sp>
          <p:nvSpPr>
            <p:cNvPr id="34" name="文本框 33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5"/>
              </p:custDataLst>
            </p:nvPr>
          </p:nvSpPr>
          <p:spPr>
            <a:xfrm>
              <a:off x="7431315" y="2505926"/>
              <a:ext cx="250271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Redis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过期删除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策略</a:t>
              </a:r>
              <a:endPara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6"/>
            </p:custDataLst>
          </p:nvPr>
        </p:nvGrpSpPr>
        <p:grpSpPr>
          <a:xfrm>
            <a:off x="6908099" y="2576081"/>
            <a:ext cx="3386125" cy="923330"/>
            <a:chOff x="6885007" y="2303608"/>
            <a:chExt cx="3386125" cy="923330"/>
          </a:xfrm>
        </p:grpSpPr>
        <p:sp>
          <p:nvSpPr>
            <p:cNvPr id="36" name="文本框 35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7"/>
              </p:custDataLst>
            </p:nvPr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 panose="02020603050405020304"/>
                  <a:ea typeface="微软雅黑" panose="020B0503020204020204" pitchFamily="34" charset="-122"/>
                  <a:cs typeface="Calibri Light" panose="020F0302020204030204" pitchFamily="34" charset="0"/>
                  <a:sym typeface="Times New Roman" panose="02020603050405020304"/>
                </a:rPr>
                <a:t>2</a:t>
              </a:r>
              <a:endParaRPr lang="zh-CN" altLang="en-US" sz="5400" dirty="0">
                <a:latin typeface="Times New Roman" panose="02020603050405020304"/>
                <a:ea typeface="微软雅黑" panose="020B0503020204020204" pitchFamily="34" charset="-122"/>
                <a:cs typeface="Calibri Light" panose="020F0302020204030204" pitchFamily="34" charset="0"/>
                <a:sym typeface="Times New Roman" panose="02020603050405020304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8"/>
              </p:custDataLst>
            </p:nvPr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  <p:sp>
          <p:nvSpPr>
            <p:cNvPr id="38" name="文本框 3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9"/>
              </p:custDataLst>
            </p:nvPr>
          </p:nvSpPr>
          <p:spPr>
            <a:xfrm>
              <a:off x="7431315" y="2505926"/>
              <a:ext cx="250271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Redis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对过期键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处理</a:t>
              </a:r>
              <a:endPara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10"/>
            </p:custDataLst>
          </p:nvPr>
        </p:nvGrpSpPr>
        <p:grpSpPr>
          <a:xfrm>
            <a:off x="6908099" y="3726008"/>
            <a:ext cx="3386125" cy="923330"/>
            <a:chOff x="6885007" y="2303608"/>
            <a:chExt cx="3386125" cy="923330"/>
          </a:xfrm>
        </p:grpSpPr>
        <p:sp>
          <p:nvSpPr>
            <p:cNvPr id="40" name="文本框 39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11"/>
              </p:custDataLst>
            </p:nvPr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 panose="02020603050405020304"/>
                  <a:ea typeface="微软雅黑" panose="020B0503020204020204" pitchFamily="34" charset="-122"/>
                  <a:cs typeface="Calibri Light" panose="020F0302020204030204" pitchFamily="34" charset="0"/>
                  <a:sym typeface="Times New Roman" panose="02020603050405020304"/>
                </a:rPr>
                <a:t>3</a:t>
              </a:r>
              <a:endParaRPr lang="zh-CN" altLang="en-US" sz="5400" dirty="0">
                <a:latin typeface="Times New Roman" panose="02020603050405020304"/>
                <a:ea typeface="微软雅黑" panose="020B0503020204020204" pitchFamily="34" charset="-122"/>
                <a:cs typeface="Calibri Light" panose="020F0302020204030204" pitchFamily="34" charset="0"/>
                <a:sym typeface="Times New Roman" panose="02020603050405020304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12"/>
              </p:custDataLst>
            </p:nvPr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  <p:sp>
          <p:nvSpPr>
            <p:cNvPr id="42" name="文本框 41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13"/>
              </p:custDataLst>
            </p:nvPr>
          </p:nvSpPr>
          <p:spPr>
            <a:xfrm>
              <a:off x="7431315" y="2505926"/>
              <a:ext cx="250271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Redis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内存淘汰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策略</a:t>
              </a:r>
              <a:endPara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4"/>
            </p:custDataLst>
          </p:nvPr>
        </p:nvGrpSpPr>
        <p:grpSpPr>
          <a:xfrm>
            <a:off x="6908099" y="4875936"/>
            <a:ext cx="3386125" cy="923330"/>
            <a:chOff x="6885007" y="2303608"/>
            <a:chExt cx="3386125" cy="923330"/>
          </a:xfrm>
        </p:grpSpPr>
        <p:sp>
          <p:nvSpPr>
            <p:cNvPr id="44" name="文本框 43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15"/>
              </p:custDataLst>
            </p:nvPr>
          </p:nvSpPr>
          <p:spPr>
            <a:xfrm>
              <a:off x="6885007" y="2303608"/>
              <a:ext cx="5309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latin typeface="Times New Roman" panose="02020603050405020304"/>
                  <a:ea typeface="微软雅黑" panose="020B0503020204020204" pitchFamily="34" charset="-122"/>
                  <a:cs typeface="Calibri Light" panose="020F0302020204030204" pitchFamily="34" charset="0"/>
                  <a:sym typeface="Times New Roman" panose="02020603050405020304"/>
                </a:rPr>
                <a:t>4</a:t>
              </a:r>
              <a:endParaRPr lang="zh-CN" altLang="en-US" sz="5400" dirty="0">
                <a:latin typeface="Times New Roman" panose="02020603050405020304"/>
                <a:ea typeface="微软雅黑" panose="020B0503020204020204" pitchFamily="34" charset="-122"/>
                <a:cs typeface="Calibri Light" panose="020F0302020204030204" pitchFamily="34" charset="0"/>
                <a:sym typeface="Times New Roman" panose="02020603050405020304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16"/>
              </p:custDataLst>
            </p:nvPr>
          </p:nvSpPr>
          <p:spPr>
            <a:xfrm>
              <a:off x="7154561" y="2318486"/>
              <a:ext cx="3116571" cy="735307"/>
            </a:xfrm>
            <a:custGeom>
              <a:avLst/>
              <a:gdLst>
                <a:gd name="connsiteX0" fmla="*/ 1029653 w 5248275"/>
                <a:gd name="connsiteY0" fmla="*/ 1244918 h 1238250"/>
                <a:gd name="connsiteX1" fmla="*/ 5251133 w 5248275"/>
                <a:gd name="connsiteY1" fmla="*/ 1244918 h 1238250"/>
                <a:gd name="connsiteX2" fmla="*/ 5251133 w 5248275"/>
                <a:gd name="connsiteY2" fmla="*/ 0 h 1238250"/>
                <a:gd name="connsiteX3" fmla="*/ 0 w 5248275"/>
                <a:gd name="connsiteY3" fmla="*/ 0 h 1238250"/>
                <a:gd name="connsiteX4" fmla="*/ 0 w 5248275"/>
                <a:gd name="connsiteY4" fmla="*/ 214313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8275" h="1238250">
                  <a:moveTo>
                    <a:pt x="1029653" y="1244918"/>
                  </a:moveTo>
                  <a:lnTo>
                    <a:pt x="5251133" y="1244918"/>
                  </a:lnTo>
                  <a:lnTo>
                    <a:pt x="5251133" y="0"/>
                  </a:lnTo>
                  <a:lnTo>
                    <a:pt x="0" y="0"/>
                  </a:lnTo>
                  <a:lnTo>
                    <a:pt x="0" y="214313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  <p:sp>
          <p:nvSpPr>
            <p:cNvPr id="46" name="文本框 45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 txBox="1"/>
            <p:nvPr>
              <p:custDataLst>
                <p:tags r:id="rId17"/>
              </p:custDataLst>
            </p:nvPr>
          </p:nvSpPr>
          <p:spPr>
            <a:xfrm>
              <a:off x="7431315" y="2505926"/>
              <a:ext cx="250271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LRU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算法和</a:t>
              </a:r>
              <a:r>
                <a:rPr lang="en-US" altLang="zh-CN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LFU</a:t>
              </a:r>
              <a:r>
                <a:rPr lang="zh-CN" altLang="en-US" sz="2000" dirty="0">
                  <a:latin typeface="Times New Roman" panose="02020603050405020304"/>
                  <a:ea typeface="微软雅黑" panose="020B0503020204020204" pitchFamily="34" charset="-122"/>
                  <a:sym typeface="Times New Roman" panose="02020603050405020304"/>
                </a:rPr>
                <a:t>算法</a:t>
              </a:r>
              <a:endPara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endParaRPr>
            </a:p>
          </p:txBody>
        </p:sp>
      </p:grpSp>
      <p:sp>
        <p:nvSpPr>
          <p:cNvPr id="22" name="TextBox 3"/>
          <p:cNvSpPr txBox="1"/>
          <p:nvPr/>
        </p:nvSpPr>
        <p:spPr>
          <a:xfrm>
            <a:off x="0" y="14955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87"/>
                            </p:stCondLst>
                            <p:childTnLst>
                              <p:par>
                                <p:cTn id="24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  <p:bldP spid="2" grpId="1"/>
      <p:bldP spid="2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9703955" y="121755"/>
            <a:ext cx="0" cy="5703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9645115" y="4849516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64631" y="4367617"/>
            <a:ext cx="322906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PART 01</a:t>
            </a:r>
            <a:endParaRPr lang="en-US" altLang="zh-CN" sz="5400" b="1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8445" y="1776730"/>
            <a:ext cx="6697980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ight" pitchFamily="18" charset="-122"/>
              </a:defRPr>
            </a:lvl1pPr>
          </a:lstStyle>
          <a:p>
            <a:r>
              <a:rPr lang="en-US" altLang="zh-CN" dirty="0">
                <a:latin typeface="Times New Roman" panose="02020603050405020304"/>
                <a:sym typeface="Times New Roman" panose="02020603050405020304"/>
              </a:rPr>
              <a:t>Redis</a:t>
            </a:r>
            <a:r>
              <a:rPr lang="zh-CN" altLang="en-US" dirty="0">
                <a:latin typeface="Times New Roman" panose="02020603050405020304"/>
                <a:sym typeface="Times New Roman" panose="02020603050405020304"/>
              </a:rPr>
              <a:t>过期删除策略</a:t>
            </a:r>
            <a:endParaRPr lang="zh-CN" altLang="en-US" dirty="0">
              <a:sym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6039" y="2733523"/>
            <a:ext cx="4265404" cy="554006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Chinese  companies  will no longer remain in the hard stage and they are also promoting a culture Chinese  companies  will no longer remain 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in the hard stage and they are also wang ling </a:t>
            </a:r>
            <a:r>
              <a:rPr lang="en-US" altLang="zh-CN" sz="10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yan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 a culture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75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7" grpId="1"/>
      <p:bldP spid="7" grpId="2"/>
      <p:bldP spid="6" grpId="0" bldLvl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780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过期删除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策略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740" y="1724660"/>
            <a:ext cx="9108440" cy="403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Redis </a:t>
            </a:r>
            <a:r>
              <a:rPr lang="zh-CN" altLang="en-US"/>
              <a:t>是可以对</a:t>
            </a:r>
            <a:r>
              <a:rPr lang="en-US" altLang="zh-CN"/>
              <a:t>key</a:t>
            </a:r>
            <a:r>
              <a:rPr lang="zh-CN" altLang="en-US"/>
              <a:t>设置过期时间的，因此需要有相应的机制将已过期的键值对删除，而做这个工作的就是过期键值删除</a:t>
            </a:r>
            <a:r>
              <a:rPr lang="zh-CN" altLang="en-US"/>
              <a:t>策略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</a:t>
            </a:r>
            <a:r>
              <a:rPr lang="zh-CN" altLang="en-US"/>
              <a:t>每当我们对一个</a:t>
            </a:r>
            <a:r>
              <a:rPr lang="en-US" altLang="zh-CN"/>
              <a:t>key</a:t>
            </a:r>
            <a:r>
              <a:rPr lang="zh-CN" altLang="en-US"/>
              <a:t>设置了过期时间时，</a:t>
            </a:r>
            <a:r>
              <a:rPr lang="en-US" altLang="zh-CN"/>
              <a:t>Redis</a:t>
            </a:r>
            <a:r>
              <a:rPr lang="zh-CN" altLang="en-US"/>
              <a:t>会把</a:t>
            </a:r>
            <a:r>
              <a:rPr lang="en-US" altLang="zh-CN"/>
              <a:t>key</a:t>
            </a:r>
            <a:r>
              <a:rPr lang="zh-CN" altLang="en-US"/>
              <a:t>带上过期时间存储到</a:t>
            </a:r>
            <a:r>
              <a:rPr lang="zh-CN" altLang="en-US" b="1">
                <a:solidFill>
                  <a:srgbClr val="FF0000"/>
                </a:solidFill>
              </a:rPr>
              <a:t>过期字典</a:t>
            </a:r>
            <a:r>
              <a:rPr lang="zh-CN" altLang="en-US"/>
              <a:t>中，也就是说过期字典保存了数据库中所有</a:t>
            </a:r>
            <a:r>
              <a:rPr lang="en-US" altLang="zh-CN"/>
              <a:t>key</a:t>
            </a:r>
            <a:r>
              <a:rPr lang="zh-CN" altLang="en-US"/>
              <a:t>的</a:t>
            </a:r>
            <a:r>
              <a:rPr lang="zh-CN" altLang="en-US"/>
              <a:t>过期时间。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当我们查询一个</a:t>
            </a:r>
            <a:r>
              <a:rPr lang="en-US" altLang="zh-CN"/>
              <a:t>key</a:t>
            </a:r>
            <a:r>
              <a:rPr lang="zh-CN" altLang="en-US"/>
              <a:t>时，</a:t>
            </a:r>
            <a:r>
              <a:rPr lang="en-US" altLang="zh-CN"/>
              <a:t>Redis</a:t>
            </a:r>
            <a:r>
              <a:rPr lang="zh-CN" altLang="en-US"/>
              <a:t>首先检查该</a:t>
            </a:r>
            <a:r>
              <a:rPr lang="en-US" altLang="zh-CN"/>
              <a:t>key</a:t>
            </a:r>
            <a:r>
              <a:rPr lang="zh-CN" altLang="en-US"/>
              <a:t>是否存在于过期字典</a:t>
            </a:r>
            <a:r>
              <a:rPr lang="zh-CN" altLang="en-US"/>
              <a:t>中：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如果不存在，则正常读取</a:t>
            </a:r>
            <a:r>
              <a:rPr lang="zh-CN" altLang="en-US"/>
              <a:t>键值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如果存在，则会获取该</a:t>
            </a:r>
            <a:r>
              <a:rPr lang="en-US" altLang="zh-CN"/>
              <a:t>key</a:t>
            </a:r>
            <a:r>
              <a:rPr lang="zh-CN" altLang="en-US"/>
              <a:t>的过期时间，然后和当前系统时间进行比对，如果比系统时间大，那就没有过期，否则判定该</a:t>
            </a:r>
            <a:r>
              <a:rPr lang="en-US" altLang="zh-CN"/>
              <a:t>key</a:t>
            </a:r>
            <a:r>
              <a:rPr lang="zh-CN" altLang="en-US"/>
              <a:t>已过期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3083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过期删除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策略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7580" y="148717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redis</a:t>
            </a:r>
            <a:r>
              <a:rPr lang="zh-CN" altLang="en-US"/>
              <a:t>的过期删除</a:t>
            </a:r>
            <a:r>
              <a:rPr lang="zh-CN" altLang="en-US"/>
              <a:t>策略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惰性</a:t>
            </a:r>
            <a:r>
              <a:rPr lang="zh-CN" altLang="en-US"/>
              <a:t>删除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定期</a:t>
            </a:r>
            <a:r>
              <a:rPr lang="zh-CN" altLang="en-US"/>
              <a:t>删除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惰性删除</a:t>
            </a:r>
            <a:r>
              <a:rPr lang="en-US" altLang="zh-CN"/>
              <a:t>+</a:t>
            </a:r>
            <a:r>
              <a:rPr lang="zh-CN" altLang="en-US"/>
              <a:t>定期</a:t>
            </a:r>
            <a:r>
              <a:rPr lang="zh-CN" altLang="en-US"/>
              <a:t>删除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660" y="477903"/>
            <a:ext cx="2077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惰性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删除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47420" y="15246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什么是惰性删除：</a:t>
            </a:r>
            <a:endParaRPr lang="zh-CN" altLang="en-US" sz="3200" b="1"/>
          </a:p>
        </p:txBody>
      </p:sp>
      <p:sp>
        <p:nvSpPr>
          <p:cNvPr id="26" name="文本框 25"/>
          <p:cNvSpPr txBox="1"/>
          <p:nvPr/>
        </p:nvSpPr>
        <p:spPr>
          <a:xfrm>
            <a:off x="1028700" y="2475230"/>
            <a:ext cx="5359400" cy="3773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不主动删除过期键，每次从数据库访问</a:t>
            </a:r>
            <a:r>
              <a:rPr lang="en-US" altLang="zh-CN"/>
              <a:t>key</a:t>
            </a:r>
            <a:r>
              <a:rPr lang="zh-CN" altLang="en-US"/>
              <a:t>时，都检测</a:t>
            </a:r>
            <a:r>
              <a:rPr lang="en-US" altLang="zh-CN"/>
              <a:t>key</a:t>
            </a:r>
            <a:r>
              <a:rPr lang="zh-CN" altLang="en-US"/>
              <a:t>是否过期，如果过期则删除</a:t>
            </a:r>
            <a:r>
              <a:rPr lang="en-US" altLang="zh-CN"/>
              <a:t>key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优点：</a:t>
            </a:r>
            <a:endParaRPr lang="zh-CN" altLang="en-US"/>
          </a:p>
          <a:p>
            <a:r>
              <a:rPr lang="zh-CN" altLang="en-US"/>
              <a:t>因为每次访问时，才会检查</a:t>
            </a:r>
            <a:r>
              <a:rPr lang="en-US" altLang="zh-CN"/>
              <a:t>key</a:t>
            </a:r>
            <a:r>
              <a:rPr lang="zh-CN" altLang="en-US"/>
              <a:t>是否过期，所以策略只会使用很少的系统资源，对</a:t>
            </a:r>
            <a:r>
              <a:rPr lang="en-US" altLang="zh-CN" b="1">
                <a:solidFill>
                  <a:srgbClr val="FF0000"/>
                </a:solidFill>
              </a:rPr>
              <a:t>cpu</a:t>
            </a:r>
            <a:r>
              <a:rPr lang="zh-CN" altLang="en-US"/>
              <a:t>时间最</a:t>
            </a:r>
            <a:r>
              <a:rPr lang="zh-CN" altLang="en-US"/>
              <a:t>友好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缺点：</a:t>
            </a:r>
            <a:endParaRPr lang="zh-CN" altLang="en-US"/>
          </a:p>
          <a:p>
            <a:r>
              <a:rPr lang="zh-CN" altLang="en-US"/>
              <a:t>如果一个</a:t>
            </a:r>
            <a:r>
              <a:rPr lang="en-US" altLang="zh-CN"/>
              <a:t>key</a:t>
            </a:r>
            <a:r>
              <a:rPr lang="zh-CN" altLang="en-US"/>
              <a:t>已经过期，而这个</a:t>
            </a:r>
            <a:r>
              <a:rPr lang="en-US" altLang="zh-CN"/>
              <a:t>key</a:t>
            </a:r>
            <a:r>
              <a:rPr lang="zh-CN" altLang="en-US"/>
              <a:t>又仍然保留在数据库中，那么只要这个过期</a:t>
            </a:r>
            <a:r>
              <a:rPr lang="en-US" altLang="zh-CN"/>
              <a:t>key</a:t>
            </a:r>
            <a:r>
              <a:rPr lang="zh-CN" altLang="en-US"/>
              <a:t>一直没有被访问，它所占用的内存就不会释放，造成一定的内存空间浪费。所以，惰性删除策略对</a:t>
            </a:r>
            <a:r>
              <a:rPr lang="zh-CN" altLang="en-US" b="1">
                <a:solidFill>
                  <a:srgbClr val="FF0000"/>
                </a:solidFill>
              </a:rPr>
              <a:t>内存</a:t>
            </a:r>
            <a:r>
              <a:rPr lang="zh-CN" altLang="en-US"/>
              <a:t>不友好</a:t>
            </a:r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130" y="718820"/>
            <a:ext cx="3409950" cy="565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660" y="477903"/>
            <a:ext cx="2077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定期删除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47420" y="15246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什么是</a:t>
            </a:r>
            <a:r>
              <a:rPr lang="zh-CN" altLang="en-US" sz="3200" b="1"/>
              <a:t>定期删除：</a:t>
            </a:r>
            <a:endParaRPr lang="zh-CN" altLang="en-US" sz="3200" b="1"/>
          </a:p>
        </p:txBody>
      </p:sp>
      <p:sp>
        <p:nvSpPr>
          <p:cNvPr id="26" name="文本框 25"/>
          <p:cNvSpPr txBox="1"/>
          <p:nvPr/>
        </p:nvSpPr>
        <p:spPr>
          <a:xfrm>
            <a:off x="1028700" y="2475230"/>
            <a:ext cx="5359400" cy="3773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每隔一段时间随机从数据库中取出一定数量的</a:t>
            </a:r>
            <a:r>
              <a:rPr lang="en-US" altLang="zh-CN"/>
              <a:t>key</a:t>
            </a:r>
            <a:r>
              <a:rPr lang="zh-CN" altLang="en-US"/>
              <a:t>进行检查，并删除其中的过期</a:t>
            </a:r>
            <a:r>
              <a:rPr lang="en-US" altLang="zh-CN"/>
              <a:t>key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Redis </a:t>
            </a:r>
            <a:r>
              <a:rPr lang="zh-CN" altLang="en-US"/>
              <a:t>的定期删除的流程:</a:t>
            </a:r>
            <a:endParaRPr lang="zh-CN" altLang="en-US"/>
          </a:p>
          <a:p>
            <a:r>
              <a:rPr lang="zh-CN" altLang="en-US"/>
              <a:t>1.从过期字典中随机抽取 20 个 </a:t>
            </a:r>
            <a:r>
              <a:rPr lang="en-US" altLang="zh-CN"/>
              <a:t>key;</a:t>
            </a:r>
            <a:endParaRPr lang="en-US" altLang="zh-CN"/>
          </a:p>
          <a:p>
            <a:r>
              <a:rPr lang="zh-CN" altLang="en-US"/>
              <a:t>2.检查这 20 个 </a:t>
            </a:r>
            <a:r>
              <a:rPr lang="en-US" altLang="zh-CN"/>
              <a:t>key </a:t>
            </a:r>
            <a:r>
              <a:rPr lang="zh-CN" altLang="en-US"/>
              <a:t>是否过期，并删除已过期的 </a:t>
            </a:r>
            <a:r>
              <a:rPr lang="en-US" altLang="zh-CN"/>
              <a:t>key;</a:t>
            </a:r>
            <a:endParaRPr lang="en-US" altLang="zh-CN"/>
          </a:p>
          <a:p>
            <a:r>
              <a:rPr lang="zh-CN" altLang="en-US"/>
              <a:t>3.如果本轮检查的已过期 </a:t>
            </a:r>
            <a:r>
              <a:rPr lang="en-US" altLang="zh-CN"/>
              <a:t>key </a:t>
            </a:r>
            <a:r>
              <a:rPr lang="zh-CN" altLang="en-US"/>
              <a:t>的数量，超过5个(20/4)，也就是「已过期 </a:t>
            </a:r>
            <a:r>
              <a:rPr lang="en-US" altLang="zh-CN"/>
              <a:t>key </a:t>
            </a:r>
            <a:r>
              <a:rPr lang="zh-CN" altLang="en-US"/>
              <a:t>的数量」占比「随机抽取</a:t>
            </a:r>
            <a:r>
              <a:rPr lang="en-US" altLang="zh-CN"/>
              <a:t>key </a:t>
            </a:r>
            <a:r>
              <a:rPr lang="zh-CN" altLang="en-US"/>
              <a:t>的数量」大于 25%，则继续重复步骤 1;如果已过期的 </a:t>
            </a:r>
            <a:r>
              <a:rPr lang="en-US" altLang="zh-CN"/>
              <a:t>key </a:t>
            </a:r>
            <a:r>
              <a:rPr lang="zh-CN" altLang="en-US"/>
              <a:t>比例小于 25%，则停止继续删除过期</a:t>
            </a:r>
            <a:r>
              <a:rPr lang="en-US" altLang="zh-CN"/>
              <a:t>key，</a:t>
            </a:r>
            <a:r>
              <a:rPr lang="zh-CN" altLang="en-US"/>
              <a:t>然后等待下一轮再检查。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2465" y="318770"/>
            <a:ext cx="2687955" cy="6056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660" y="477903"/>
            <a:ext cx="2077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定期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删除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6475" y="1687830"/>
            <a:ext cx="5774055" cy="377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定期删除策略的优点：</a:t>
            </a:r>
            <a:endParaRPr lang="zh-CN" altLang="en-US" sz="3200" b="1"/>
          </a:p>
          <a:p>
            <a:endParaRPr lang="zh-CN" altLang="en-US"/>
          </a:p>
          <a:p>
            <a:r>
              <a:rPr lang="zh-CN" altLang="en-US"/>
              <a:t>通过限制删除操作执行的时长和频率，来减少删除操作对 </a:t>
            </a:r>
            <a:r>
              <a:rPr lang="en-US" altLang="zh-CN"/>
              <a:t>CPU </a:t>
            </a:r>
            <a:r>
              <a:rPr lang="zh-CN" altLang="en-US"/>
              <a:t>的影响，同时也能删除一部分过期的数据减少了过期键对空间的无效占用。</a:t>
            </a:r>
            <a:endParaRPr lang="zh-CN" altLang="en-US"/>
          </a:p>
          <a:p>
            <a:endParaRPr lang="zh-CN" altLang="en-US"/>
          </a:p>
          <a:p>
            <a:r>
              <a:rPr lang="zh-CN" altLang="en-US" sz="3200"/>
              <a:t>定期删除策略的缺点：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/>
              <a:t>难以确定删除操作执行的时长和频率。如果执行的太频繁，就会对 </a:t>
            </a:r>
            <a:r>
              <a:rPr lang="en-US" altLang="zh-CN"/>
              <a:t>CPU </a:t>
            </a:r>
            <a:r>
              <a:rPr lang="zh-CN" altLang="en-US"/>
              <a:t>不友好;如果执行的太少，那又和惰性删除一样了，过期 </a:t>
            </a:r>
            <a:r>
              <a:rPr lang="en-US" altLang="zh-CN"/>
              <a:t>key </a:t>
            </a:r>
            <a:r>
              <a:rPr lang="zh-CN" altLang="en-US"/>
              <a:t>占用的内存不会及时得到释放。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9703955" y="121755"/>
            <a:ext cx="0" cy="5703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9645115" y="4849516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64631" y="4367617"/>
            <a:ext cx="322906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PART 02</a:t>
            </a:r>
            <a:endParaRPr lang="en-US" altLang="zh-CN" sz="5400" b="1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8445" y="1776730"/>
            <a:ext cx="6831330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ight" pitchFamily="18" charset="-122"/>
              </a:defRPr>
            </a:lvl1pPr>
          </a:lstStyle>
          <a:p>
            <a:r>
              <a:rPr lang="en-US" altLang="zh-CN" dirty="0">
                <a:latin typeface="Times New Roman" panose="02020603050405020304"/>
                <a:sym typeface="Times New Roman" panose="02020603050405020304"/>
              </a:rPr>
              <a:t>Redis</a:t>
            </a:r>
            <a:r>
              <a:rPr lang="zh-CN" altLang="en-US" dirty="0">
                <a:latin typeface="Times New Roman" panose="02020603050405020304"/>
                <a:sym typeface="Times New Roman" panose="02020603050405020304"/>
              </a:rPr>
              <a:t>对过期键处理</a:t>
            </a:r>
            <a:endParaRPr lang="zh-CN" altLang="en-US" dirty="0">
              <a:sym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6039" y="2733523"/>
            <a:ext cx="4265404" cy="554006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Chinese  companies  will no longer remain in the hard stage and they are also promoting a culture Chinese  companies  will no longer remain 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in the hard stage and they are also wang ling </a:t>
            </a:r>
            <a:r>
              <a:rPr lang="en-US" altLang="zh-CN" sz="10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yan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 a culture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75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7" grpId="1"/>
      <p:bldP spid="7" grpId="2"/>
      <p:bldP spid="6" grpId="0" bldLvl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17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对过期键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处理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32840" y="1465580"/>
            <a:ext cx="10300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Redis </a:t>
            </a:r>
            <a:r>
              <a:rPr lang="zh-CN" altLang="en-US"/>
              <a:t>持久化文件有两种格式:</a:t>
            </a:r>
            <a:r>
              <a:rPr lang="en-US" altLang="zh-CN"/>
              <a:t>RDB(Redis Database)</a:t>
            </a:r>
            <a:r>
              <a:rPr lang="zh-CN" altLang="en-US"/>
              <a:t>和 </a:t>
            </a:r>
            <a:r>
              <a:rPr lang="en-US" altLang="zh-CN"/>
              <a:t>AOF(Append Only file)，</a:t>
            </a:r>
            <a:r>
              <a:rPr lang="zh-CN" altLang="en-US"/>
              <a:t>下面我们分别来看</a:t>
            </a:r>
            <a:endParaRPr lang="zh-CN" altLang="en-US"/>
          </a:p>
          <a:p>
            <a:r>
              <a:rPr lang="zh-CN" altLang="en-US"/>
              <a:t>过期键在这两种格式中的呈现状态。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066165" y="2258060"/>
            <a:ext cx="10307955" cy="3735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RDB </a:t>
            </a:r>
            <a:r>
              <a:rPr lang="zh-CN" altLang="en-US"/>
              <a:t>文件分为两个阶段，</a:t>
            </a:r>
            <a:r>
              <a:rPr lang="en-US" altLang="zh-CN"/>
              <a:t>RDB </a:t>
            </a:r>
            <a:r>
              <a:rPr lang="zh-CN" altLang="en-US"/>
              <a:t>文件生成阶段和加载阶段。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RDB </a:t>
            </a:r>
            <a:r>
              <a:rPr lang="zh-CN" altLang="en-US"/>
              <a:t>文件生成阶段: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zh-CN" altLang="en-US"/>
              <a:t>从内存状态持久化成 </a:t>
            </a:r>
            <a:r>
              <a:rPr lang="en-US" altLang="zh-CN"/>
              <a:t>RDB(</a:t>
            </a:r>
            <a:r>
              <a:rPr lang="zh-CN" altLang="en-US"/>
              <a:t>文件)的时候，会对</a:t>
            </a:r>
            <a:r>
              <a:rPr lang="en-US" altLang="zh-CN"/>
              <a:t>key</a:t>
            </a:r>
            <a:r>
              <a:rPr lang="zh-CN" altLang="en-US"/>
              <a:t>进行过期检查，过期的键「不会」被保存到新的 </a:t>
            </a:r>
            <a:r>
              <a:rPr lang="en-US" altLang="zh-CN"/>
              <a:t>RDB </a:t>
            </a:r>
            <a:r>
              <a:rPr lang="zh-CN" altLang="en-US"/>
              <a:t>文件中，因此 </a:t>
            </a:r>
            <a:r>
              <a:rPr lang="en-US" altLang="zh-CN"/>
              <a:t>Redis </a:t>
            </a:r>
            <a:r>
              <a:rPr lang="zh-CN" altLang="en-US"/>
              <a:t>中的过期键不会对生成新 </a:t>
            </a:r>
            <a:r>
              <a:rPr lang="en-US" altLang="zh-CN"/>
              <a:t>RDB </a:t>
            </a:r>
            <a:r>
              <a:rPr lang="zh-CN" altLang="en-US"/>
              <a:t>文件产生任何影响。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RDB </a:t>
            </a:r>
            <a:r>
              <a:rPr lang="zh-CN" altLang="en-US"/>
              <a:t>加载阶段: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en-US" altLang="zh-CN"/>
              <a:t>RDB</a:t>
            </a:r>
            <a:r>
              <a:rPr lang="zh-CN" altLang="en-US"/>
              <a:t>加载阶段时，要看服务器是主服务器还是从服务器，分别对应以下两种情况:如果 </a:t>
            </a:r>
            <a:r>
              <a:rPr lang="en-US" altLang="zh-CN"/>
              <a:t>Redis </a:t>
            </a:r>
            <a:r>
              <a:rPr lang="zh-CN" altLang="en-US"/>
              <a:t>是</a:t>
            </a:r>
            <a:r>
              <a:rPr lang="zh-CN" altLang="en-US" b="1">
                <a:solidFill>
                  <a:srgbClr val="FF0000"/>
                </a:solidFill>
              </a:rPr>
              <a:t>主服务器</a:t>
            </a:r>
            <a:r>
              <a:rPr lang="zh-CN" altLang="en-US"/>
              <a:t>运行模式的话，在载入 </a:t>
            </a:r>
            <a:r>
              <a:rPr lang="en-US" altLang="zh-CN"/>
              <a:t>RDB </a:t>
            </a:r>
            <a:r>
              <a:rPr lang="zh-CN" altLang="en-US"/>
              <a:t>文件时，程序会对文件中保存的键进行检查，过期键不会被载入到数据库中。所以过期键不会对载入 </a:t>
            </a:r>
            <a:r>
              <a:rPr lang="en-US" altLang="zh-CN"/>
              <a:t>RDB </a:t>
            </a:r>
            <a:r>
              <a:rPr lang="zh-CN" altLang="en-US"/>
              <a:t>文件的主服务器造成影响;如果 </a:t>
            </a:r>
            <a:r>
              <a:rPr lang="en-US" altLang="zh-CN"/>
              <a:t>Redis </a:t>
            </a:r>
            <a:r>
              <a:rPr lang="zh-CN" altLang="en-US"/>
              <a:t>是</a:t>
            </a:r>
            <a:r>
              <a:rPr lang="zh-CN" altLang="en-US" b="1">
                <a:solidFill>
                  <a:srgbClr val="FF0000"/>
                </a:solidFill>
              </a:rPr>
              <a:t>从服务器</a:t>
            </a:r>
            <a:r>
              <a:rPr lang="zh-CN" altLang="en-US"/>
              <a:t>运行模式的话，在载入 </a:t>
            </a:r>
            <a:r>
              <a:rPr lang="en-US" altLang="zh-CN"/>
              <a:t>RDB </a:t>
            </a:r>
            <a:r>
              <a:rPr lang="zh-CN" altLang="en-US"/>
              <a:t>文件时，不论键是否过期都会被载入到数据库中。但由于主从服务器在进行数据同步时，从服务器的数据会被清空。所以一般来说，过期键对载入 </a:t>
            </a:r>
            <a:r>
              <a:rPr lang="en-US" altLang="zh-CN"/>
              <a:t>RDB </a:t>
            </a:r>
            <a:r>
              <a:rPr lang="zh-CN" altLang="en-US"/>
              <a:t>文件的从服务器也不会造成影响。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17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对过期键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处理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32840" y="1465580"/>
            <a:ext cx="103009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/>
              <a:t>AOF </a:t>
            </a:r>
            <a:r>
              <a:rPr lang="zh-CN" altLang="en-US"/>
              <a:t>文件分为两个阶段，</a:t>
            </a:r>
            <a:r>
              <a:rPr lang="en-US" altLang="zh-CN"/>
              <a:t>AOF </a:t>
            </a:r>
            <a:r>
              <a:rPr lang="zh-CN" altLang="en-US"/>
              <a:t>文件写入阶段和 </a:t>
            </a:r>
            <a:r>
              <a:rPr lang="en-US" altLang="zh-CN"/>
              <a:t>AOF </a:t>
            </a:r>
            <a:r>
              <a:rPr lang="zh-CN" altLang="en-US"/>
              <a:t>重写阶段。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AOF </a:t>
            </a:r>
            <a:r>
              <a:rPr lang="zh-CN" altLang="en-US"/>
              <a:t>文件写入阶段: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zh-CN" altLang="en-US"/>
              <a:t>当 </a:t>
            </a:r>
            <a:r>
              <a:rPr lang="en-US" altLang="zh-CN"/>
              <a:t>Redis </a:t>
            </a:r>
            <a:r>
              <a:rPr lang="zh-CN" altLang="en-US"/>
              <a:t>以 </a:t>
            </a:r>
            <a:r>
              <a:rPr lang="en-US" altLang="zh-CN"/>
              <a:t>AOF </a:t>
            </a:r>
            <a:r>
              <a:rPr lang="zh-CN" altLang="en-US"/>
              <a:t>模式持久化时，如果数据库某个过期键还没被删除，那么 </a:t>
            </a:r>
            <a:r>
              <a:rPr lang="en-US" altLang="zh-CN"/>
              <a:t>AOF </a:t>
            </a:r>
            <a:r>
              <a:rPr lang="zh-CN" altLang="en-US"/>
              <a:t>文件会保留此过期键，当此过期键被删除后，</a:t>
            </a:r>
            <a:r>
              <a:rPr lang="en-US" altLang="zh-CN"/>
              <a:t>Redis </a:t>
            </a:r>
            <a:r>
              <a:rPr lang="zh-CN" altLang="en-US"/>
              <a:t>会向 </a:t>
            </a:r>
            <a:r>
              <a:rPr lang="en-US" altLang="zh-CN"/>
              <a:t>AOF </a:t>
            </a:r>
            <a:r>
              <a:rPr lang="zh-CN" altLang="en-US"/>
              <a:t>文件追加一条 </a:t>
            </a:r>
            <a:r>
              <a:rPr lang="en-US" altLang="zh-CN"/>
              <a:t>DEL </a:t>
            </a:r>
            <a:r>
              <a:rPr lang="zh-CN" altLang="en-US"/>
              <a:t>命令来显式地删除该键值。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AOF </a:t>
            </a:r>
            <a:r>
              <a:rPr lang="zh-CN" altLang="en-US"/>
              <a:t>重写阶段:</a:t>
            </a:r>
            <a:endParaRPr lang="zh-CN" altLang="en-US"/>
          </a:p>
          <a:p>
            <a:pPr lvl="1" indent="0">
              <a:buFont typeface="Wingdings" panose="05000000000000000000" charset="0"/>
              <a:buNone/>
            </a:pPr>
            <a:r>
              <a:rPr lang="zh-CN" altLang="en-US"/>
              <a:t>执行 </a:t>
            </a:r>
            <a:r>
              <a:rPr lang="en-US" altLang="zh-CN"/>
              <a:t>AOF </a:t>
            </a:r>
            <a:r>
              <a:rPr lang="zh-CN" altLang="en-US"/>
              <a:t>重写时，会对 </a:t>
            </a:r>
            <a:r>
              <a:rPr lang="en-US" altLang="zh-CN"/>
              <a:t>Redis </a:t>
            </a:r>
            <a:r>
              <a:rPr lang="zh-CN" altLang="en-US"/>
              <a:t>中的键值对进行检查，已过期的键不会被保存到重写后的 </a:t>
            </a:r>
            <a:r>
              <a:rPr lang="en-US" altLang="zh-CN"/>
              <a:t>AOF </a:t>
            </a:r>
            <a:r>
              <a:rPr lang="zh-CN" altLang="en-US"/>
              <a:t>文件中，因此不会对 </a:t>
            </a:r>
            <a:r>
              <a:rPr lang="en-US" altLang="zh-CN"/>
              <a:t>AOF </a:t>
            </a:r>
            <a:r>
              <a:rPr lang="zh-CN" altLang="en-US"/>
              <a:t>重写造成任何影响。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17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对过期键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处理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32840" y="1465580"/>
            <a:ext cx="10300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/>
              <a:t>思考：</a:t>
            </a:r>
            <a:r>
              <a:rPr lang="en-US" altLang="zh-CN"/>
              <a:t>Redis</a:t>
            </a:r>
            <a:r>
              <a:rPr lang="zh-CN" altLang="en-US"/>
              <a:t>主从模式，对过期键会如何</a:t>
            </a:r>
            <a:r>
              <a:rPr lang="zh-CN" altLang="en-US"/>
              <a:t>处理？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32840" y="2324735"/>
            <a:ext cx="67233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 </a:t>
            </a:r>
            <a:r>
              <a:rPr lang="en-US" altLang="zh-CN"/>
              <a:t>Redis </a:t>
            </a:r>
            <a:r>
              <a:rPr lang="zh-CN" altLang="en-US"/>
              <a:t>运行在主从模式下时，从库不会进行过期扫描，从库对过期的处理是被动的。也就是即使从库中的 </a:t>
            </a:r>
            <a:r>
              <a:rPr lang="en-US" altLang="zh-CN"/>
              <a:t>key </a:t>
            </a:r>
            <a:r>
              <a:rPr lang="zh-CN" altLang="en-US"/>
              <a:t>过期了，如果有客户端访问从库时，依然可以得到 </a:t>
            </a:r>
            <a:r>
              <a:rPr lang="en-US" altLang="zh-CN"/>
              <a:t>key </a:t>
            </a:r>
            <a:r>
              <a:rPr lang="zh-CN" altLang="en-US"/>
              <a:t>对应的值，像未过期的键值对一样返回。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从库的过期键处理依靠主服务器控制，主库在 </a:t>
            </a:r>
            <a:r>
              <a:rPr lang="en-US" altLang="zh-CN"/>
              <a:t>key </a:t>
            </a:r>
            <a:r>
              <a:rPr lang="zh-CN" altLang="en-US"/>
              <a:t>到期时，会在 </a:t>
            </a:r>
            <a:r>
              <a:rPr lang="en-US" altLang="zh-CN"/>
              <a:t>AOF </a:t>
            </a:r>
            <a:r>
              <a:rPr lang="zh-CN" altLang="en-US"/>
              <a:t>文件里增加一条 </a:t>
            </a:r>
            <a:r>
              <a:rPr lang="en-US" altLang="zh-CN"/>
              <a:t>del</a:t>
            </a:r>
            <a:r>
              <a:rPr lang="zh-CN" altLang="en-US"/>
              <a:t>指令，同步到所有的从库，从库通过执行这条 </a:t>
            </a:r>
            <a:r>
              <a:rPr lang="en-US" altLang="zh-CN"/>
              <a:t>del </a:t>
            </a:r>
            <a:r>
              <a:rPr lang="zh-CN" altLang="en-US"/>
              <a:t>指令来删除过期的 </a:t>
            </a:r>
            <a:r>
              <a:rPr lang="en-US" altLang="zh-CN"/>
              <a:t>key。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9703955" y="121755"/>
            <a:ext cx="0" cy="5703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9645115" y="4849516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64631" y="4367617"/>
            <a:ext cx="322906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PART 03</a:t>
            </a:r>
            <a:endParaRPr lang="en-US" altLang="zh-CN" sz="5400" b="1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8445" y="1776730"/>
            <a:ext cx="6845300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ight" pitchFamily="18" charset="-122"/>
              </a:defRPr>
            </a:lvl1pPr>
          </a:lstStyle>
          <a:p>
            <a:r>
              <a:rPr lang="en-US" altLang="zh-CN" dirty="0">
                <a:latin typeface="Times New Roman" panose="02020603050405020304"/>
                <a:sym typeface="Times New Roman" panose="02020603050405020304"/>
              </a:rPr>
              <a:t>Redis</a:t>
            </a:r>
            <a:r>
              <a:rPr lang="zh-CN" altLang="en-US" dirty="0">
                <a:latin typeface="Times New Roman" panose="02020603050405020304"/>
                <a:sym typeface="Times New Roman" panose="02020603050405020304"/>
              </a:rPr>
              <a:t>内存淘汰策略</a:t>
            </a:r>
            <a:endParaRPr lang="zh-CN" altLang="en-US" dirty="0">
              <a:sym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6039" y="2733523"/>
            <a:ext cx="4265404" cy="554006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Chinese  companies  will no longer remain in the hard stage and they are also promoting a culture Chinese  companies  will no longer remain 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in the hard stage and they are also wang ling </a:t>
            </a:r>
            <a:r>
              <a:rPr lang="en-US" altLang="zh-CN" sz="10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yan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 a culture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75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7" grpId="1"/>
      <p:bldP spid="7" grpId="2"/>
      <p:bldP spid="6" grpId="0" bldLvl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403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内存淘汰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策略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40435" y="1605915"/>
            <a:ext cx="9329420" cy="3527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1、不进行数据淘汰的策略</a:t>
            </a:r>
            <a:endParaRPr lang="zh-CN" altLang="en-US"/>
          </a:p>
          <a:p>
            <a:r>
              <a:rPr lang="en-US" altLang="zh-CN"/>
              <a:t>noeviction(Redis3.0</a:t>
            </a:r>
            <a:r>
              <a:rPr lang="zh-CN" altLang="en-US"/>
              <a:t>之后，默认的内存淘汰策略):它表示当运行内存超过最大设置内存时，不淘汰任何数据，这时如果有新的数据写入，会报错通知禁止写入，不淘汰任何数据，但是如果没用数据写入的话，只是单纯的查询或者删除操作的话，还是可以正常工作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2、进行数据淘汰的策路</a:t>
            </a:r>
            <a:endParaRPr lang="zh-CN" altLang="en-US"/>
          </a:p>
          <a:p>
            <a:r>
              <a:rPr lang="zh-CN" altLang="en-US"/>
              <a:t>针对进行数据淘汰这一类策略，又可以细分为</a:t>
            </a:r>
            <a:r>
              <a:rPr lang="zh-CN" altLang="en-US" b="1">
                <a:solidFill>
                  <a:srgbClr val="FF0000"/>
                </a:solidFill>
              </a:rPr>
              <a:t>在设置了过期时间的数据中进行淘汰</a:t>
            </a:r>
            <a:r>
              <a:rPr lang="zh-CN" altLang="en-US"/>
              <a:t>和</a:t>
            </a:r>
            <a:r>
              <a:rPr lang="zh-CN" altLang="en-US" b="1">
                <a:solidFill>
                  <a:srgbClr val="FF0000"/>
                </a:solidFill>
              </a:rPr>
              <a:t>在所有数据范围内进行淘汰</a:t>
            </a:r>
            <a:r>
              <a:rPr lang="zh-CN" altLang="en-US"/>
              <a:t>策略。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403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内存淘汰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策略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40435" y="1605915"/>
            <a:ext cx="9329420" cy="4075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在设置了过期时间的数据中进行淘汰:</a:t>
            </a:r>
            <a:endParaRPr lang="zh-CN" altLang="en-US" sz="3200" b="1"/>
          </a:p>
          <a:p>
            <a:r>
              <a:rPr lang="en-US" altLang="zh-CN"/>
              <a:t>。volatile-random:</a:t>
            </a:r>
            <a:r>
              <a:rPr lang="zh-CN" altLang="en-US"/>
              <a:t>随机淘汰设置了过期时间的任意键值;</a:t>
            </a:r>
            <a:endParaRPr lang="zh-CN" altLang="en-US"/>
          </a:p>
          <a:p>
            <a:r>
              <a:rPr lang="en-US" altLang="zh-CN"/>
              <a:t>。volatile-ttl:</a:t>
            </a:r>
            <a:r>
              <a:rPr lang="zh-CN" altLang="en-US"/>
              <a:t>优先淘汰更早过期的键值。</a:t>
            </a:r>
            <a:endParaRPr lang="zh-CN" altLang="en-US"/>
          </a:p>
          <a:p>
            <a:r>
              <a:rPr lang="zh-CN" altLang="en-US"/>
              <a:t>。</a:t>
            </a:r>
            <a:r>
              <a:rPr lang="en-US" altLang="zh-CN"/>
              <a:t>volatile-lru(Redis3.0 </a:t>
            </a:r>
            <a:r>
              <a:rPr lang="zh-CN" altLang="en-US"/>
              <a:t>之前，默认的内存淘汰策略):淘汰所有设置了过期时间的键值中，最久未使用的键值;</a:t>
            </a:r>
            <a:endParaRPr lang="zh-CN" altLang="en-US"/>
          </a:p>
          <a:p>
            <a:r>
              <a:rPr lang="zh-CN" altLang="en-US"/>
              <a:t>。</a:t>
            </a:r>
            <a:r>
              <a:rPr lang="en-US" altLang="zh-CN"/>
              <a:t>volatile-lfu(Redis 4.0 </a:t>
            </a:r>
            <a:r>
              <a:rPr lang="zh-CN" altLang="en-US"/>
              <a:t>后新增的内存淘汰策略):淘汰所有设置了过期时间的键值中，最少使用的键值;</a:t>
            </a:r>
            <a:endParaRPr lang="zh-CN" altLang="en-US"/>
          </a:p>
          <a:p>
            <a:endParaRPr lang="zh-CN" altLang="en-US"/>
          </a:p>
          <a:p>
            <a:r>
              <a:rPr lang="zh-CN" altLang="en-US" sz="3200" b="1"/>
              <a:t>在所有数据范围内进行淘汰:</a:t>
            </a:r>
            <a:endParaRPr lang="zh-CN" altLang="en-US" sz="3200" b="1"/>
          </a:p>
          <a:p>
            <a:r>
              <a:rPr lang="zh-CN" altLang="en-US"/>
              <a:t>。</a:t>
            </a:r>
            <a:r>
              <a:rPr lang="en-US" altLang="zh-CN"/>
              <a:t>allkeys-random:</a:t>
            </a:r>
            <a:r>
              <a:rPr lang="zh-CN" altLang="en-US"/>
              <a:t>随机淘汰任意键值:</a:t>
            </a:r>
            <a:endParaRPr lang="zh-CN" altLang="en-US"/>
          </a:p>
          <a:p>
            <a:r>
              <a:rPr lang="zh-CN" altLang="en-US"/>
              <a:t>。</a:t>
            </a:r>
            <a:r>
              <a:rPr lang="en-US" altLang="zh-CN"/>
              <a:t>allkeys-lru:</a:t>
            </a:r>
            <a:r>
              <a:rPr lang="zh-CN" altLang="en-US"/>
              <a:t>淘汰整个键值中最久未使用的键值;</a:t>
            </a:r>
            <a:endParaRPr lang="zh-CN" altLang="en-US"/>
          </a:p>
          <a:p>
            <a:r>
              <a:rPr lang="zh-CN" altLang="en-US"/>
              <a:t>。</a:t>
            </a:r>
            <a:r>
              <a:rPr lang="en-US" altLang="zh-CN"/>
              <a:t>allkeys-lfu(Redis 4.0 </a:t>
            </a:r>
            <a:r>
              <a:rPr lang="zh-CN" altLang="en-US"/>
              <a:t>后新增的内存淘汰策略):淘汰整个键值中最少使用的键值。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403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Redis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内存淘汰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策略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50" y="1625600"/>
            <a:ext cx="5624195" cy="11537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0750" y="3020695"/>
            <a:ext cx="674497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可以看出，当前 </a:t>
            </a:r>
            <a:r>
              <a:rPr lang="en-US" altLang="zh-CN"/>
              <a:t>Redis </a:t>
            </a:r>
            <a:r>
              <a:rPr lang="zh-CN" altLang="en-US"/>
              <a:t>使用的是 </a:t>
            </a:r>
            <a:r>
              <a:rPr lang="en-US" altLang="zh-CN" b="1">
                <a:solidFill>
                  <a:srgbClr val="FF0000"/>
                </a:solidFill>
              </a:rPr>
              <a:t>noeviction </a:t>
            </a:r>
            <a:r>
              <a:rPr lang="zh-CN" altLang="en-US"/>
              <a:t>类型的内存淘汰策略，它是 </a:t>
            </a:r>
            <a:r>
              <a:rPr lang="en-US" altLang="zh-CN"/>
              <a:t>Redis 3.0 </a:t>
            </a:r>
            <a:r>
              <a:rPr lang="zh-CN" altLang="en-US"/>
              <a:t>之后默认使用的内存淘汰策略，表示当运行内存超过最大设置内存时，不淘汰任何数据，但</a:t>
            </a:r>
            <a:r>
              <a:rPr lang="zh-CN" altLang="en-US" b="1">
                <a:solidFill>
                  <a:srgbClr val="FF0000"/>
                </a:solidFill>
              </a:rPr>
              <a:t>新增操作</a:t>
            </a:r>
            <a:r>
              <a:rPr lang="zh-CN" altLang="en-US"/>
              <a:t>会报错。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设置内存淘汰策略有两种方法: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方式一:</a:t>
            </a:r>
            <a:r>
              <a:rPr lang="zh-CN" altLang="en-US"/>
              <a:t>通过”</a:t>
            </a:r>
            <a:r>
              <a:rPr lang="en-US" altLang="zh-CN"/>
              <a:t>config set maxmemory-policy〈</a:t>
            </a:r>
            <a:r>
              <a:rPr lang="zh-CN" altLang="en-US"/>
              <a:t>策略》"命令设置。它的优点是设置之后立即生效，不需要重启 </a:t>
            </a:r>
            <a:r>
              <a:rPr lang="en-US" altLang="zh-CN"/>
              <a:t>Redis </a:t>
            </a:r>
            <a:r>
              <a:rPr lang="zh-CN" altLang="en-US"/>
              <a:t>服务，缺点是重启 </a:t>
            </a:r>
            <a:r>
              <a:rPr lang="en-US" altLang="zh-CN"/>
              <a:t>Redis </a:t>
            </a:r>
            <a:r>
              <a:rPr lang="zh-CN" altLang="en-US"/>
              <a:t>之后，设置就会失效。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方式二:</a:t>
            </a:r>
            <a:r>
              <a:rPr lang="zh-CN" altLang="en-US"/>
              <a:t>通过修改 </a:t>
            </a:r>
            <a:r>
              <a:rPr lang="en-US" altLang="zh-CN"/>
              <a:t>Redis </a:t>
            </a:r>
            <a:r>
              <a:rPr lang="zh-CN" altLang="en-US"/>
              <a:t>配置文件修改，设置”</a:t>
            </a:r>
            <a:r>
              <a:rPr lang="en-US" altLang="zh-CN"/>
              <a:t>maxmemory-policy&lt;</a:t>
            </a:r>
            <a:r>
              <a:rPr lang="zh-CN" altLang="en-US"/>
              <a:t>策略&gt;"，它的优点是重启 </a:t>
            </a:r>
            <a:r>
              <a:rPr lang="en-US" altLang="zh-CN"/>
              <a:t>Redis </a:t>
            </a:r>
            <a:r>
              <a:rPr lang="zh-CN" altLang="en-US"/>
              <a:t>服务后配置不会丢失，缺点是必须重启 </a:t>
            </a:r>
            <a:r>
              <a:rPr lang="en-US" altLang="zh-CN"/>
              <a:t>Redis </a:t>
            </a:r>
            <a:r>
              <a:rPr lang="zh-CN" altLang="en-US"/>
              <a:t>服务，设置才能生效。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9703955" y="121755"/>
            <a:ext cx="0" cy="57038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9645115" y="4849516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64631" y="4367617"/>
            <a:ext cx="3229067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PART 04</a:t>
            </a:r>
            <a:endParaRPr lang="en-US" altLang="zh-CN" sz="5400" b="1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8445" y="1776730"/>
            <a:ext cx="7246620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Light" pitchFamily="18" charset="-122"/>
              </a:defRPr>
            </a:lvl1pPr>
          </a:lstStyle>
          <a:p>
            <a:r>
              <a:rPr lang="en-US" altLang="zh-CN" dirty="0">
                <a:latin typeface="Times New Roman" panose="02020603050405020304"/>
                <a:sym typeface="Times New Roman" panose="02020603050405020304"/>
              </a:rPr>
              <a:t>LRU</a:t>
            </a:r>
            <a:r>
              <a:rPr lang="zh-CN" altLang="en-US" dirty="0">
                <a:latin typeface="Times New Roman" panose="02020603050405020304"/>
                <a:sym typeface="Times New Roman" panose="02020603050405020304"/>
              </a:rPr>
              <a:t>算法和</a:t>
            </a:r>
            <a:r>
              <a:rPr lang="en-US" altLang="zh-CN" dirty="0">
                <a:latin typeface="Times New Roman" panose="02020603050405020304"/>
                <a:sym typeface="Times New Roman" panose="02020603050405020304"/>
              </a:rPr>
              <a:t>LFU</a:t>
            </a:r>
            <a:r>
              <a:rPr lang="zh-CN" altLang="en-US" dirty="0">
                <a:latin typeface="Times New Roman" panose="02020603050405020304"/>
                <a:sym typeface="Times New Roman" panose="02020603050405020304"/>
              </a:rPr>
              <a:t>算法</a:t>
            </a:r>
            <a:endParaRPr lang="zh-CN" altLang="en-US" dirty="0">
              <a:sym typeface="Times New Roman" panose="020206030504050203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86039" y="2733523"/>
            <a:ext cx="4265404" cy="554006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Chinese  companies  will no longer remain in the hard stage and they are also promoting a culture Chinese  companies  will no longer remain 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in the hard stage and they are also wang ling </a:t>
            </a:r>
            <a:r>
              <a:rPr lang="en-US" altLang="zh-CN" sz="10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yan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 a culture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786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8/9)*(#ppt_y-(#ppt_y+0.1)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 fmla="1+(8/9)*(1-0)*((1.5-1.5*$)^2-(1.5-1.5*$)^3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75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7" grpId="1"/>
      <p:bldP spid="7" grpId="2"/>
      <p:bldP spid="6" grpId="0" bldLvl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LRU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算法和</a:t>
            </a:r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LFU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9022080" cy="413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思考：</a:t>
            </a:r>
            <a:endParaRPr lang="zh-CN" altLang="en-US"/>
          </a:p>
          <a:p>
            <a:endParaRPr lang="zh-CN" altLang="en-US"/>
          </a:p>
          <a:p>
            <a:pPr indent="457200"/>
            <a:r>
              <a:rPr lang="en-US" altLang="zh-CN"/>
              <a:t>LFU </a:t>
            </a:r>
            <a:r>
              <a:rPr lang="zh-CN" altLang="en-US"/>
              <a:t>内存淘汰算法是 </a:t>
            </a:r>
            <a:r>
              <a:rPr lang="en-US" altLang="zh-CN"/>
              <a:t>Redis 4.0 </a:t>
            </a:r>
            <a:r>
              <a:rPr lang="zh-CN" altLang="en-US"/>
              <a:t>之后新增内存淘汰策略，那为什么要新增这个算法？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endParaRPr lang="zh-CN" altLang="en-US"/>
          </a:p>
          <a:p>
            <a:r>
              <a:rPr lang="en-US" altLang="zh-CN"/>
              <a:t>LRU </a:t>
            </a:r>
            <a:r>
              <a:rPr lang="zh-CN" altLang="en-US"/>
              <a:t>全称</a:t>
            </a:r>
            <a:r>
              <a:rPr lang="en-US" altLang="zh-CN"/>
              <a:t> Least Recently Used </a:t>
            </a:r>
            <a:r>
              <a:rPr lang="zh-CN" altLang="en-US"/>
              <a:t>翻译为最近最少</a:t>
            </a:r>
            <a:r>
              <a:rPr lang="zh-CN" altLang="en-US"/>
              <a:t>使用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LFU</a:t>
            </a:r>
            <a:r>
              <a:rPr lang="zh-CN" altLang="en-US"/>
              <a:t>全称</a:t>
            </a:r>
            <a:r>
              <a:rPr lang="en-US" altLang="zh-CN"/>
              <a:t> Least Frequently Used </a:t>
            </a:r>
            <a:r>
              <a:rPr lang="zh-CN" altLang="en-US"/>
              <a:t>翻译为最近最不常</a:t>
            </a:r>
            <a:r>
              <a:rPr lang="zh-CN" altLang="en-US"/>
              <a:t>使用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LRU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10022840" cy="474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原理 ：如果一个数据在最近一段时间没有被访问到，那么在将来它被访问的可能性也很低，当数据所占据的空间达到一定阈值时，这个最少被访问的数据将被淘汰掉。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向一个缓存空间依次插入三个数据</a:t>
            </a:r>
            <a:r>
              <a:rPr lang="en-US" altLang="zh-CN"/>
              <a:t>A/B/C，</a:t>
            </a:r>
            <a:r>
              <a:rPr lang="zh-CN" altLang="en-US"/>
              <a:t>填满了缓存空间；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读取数据</a:t>
            </a:r>
            <a:r>
              <a:rPr lang="en-US" altLang="zh-CN"/>
              <a:t>A</a:t>
            </a:r>
            <a:r>
              <a:rPr lang="zh-CN" altLang="en-US"/>
              <a:t>一次，按照访问时间排序，数据</a:t>
            </a:r>
            <a:r>
              <a:rPr lang="en-US" altLang="zh-CN"/>
              <a:t>A</a:t>
            </a:r>
            <a:r>
              <a:rPr lang="zh-CN" altLang="en-US"/>
              <a:t>被移动到缓存头部；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插入数据</a:t>
            </a:r>
            <a:r>
              <a:rPr lang="en-US" altLang="zh-CN"/>
              <a:t>D</a:t>
            </a:r>
            <a:r>
              <a:rPr lang="zh-CN" altLang="en-US"/>
              <a:t>的时候，由于缓存空间已满，触发了</a:t>
            </a:r>
            <a:r>
              <a:rPr lang="en-US" altLang="zh-CN"/>
              <a:t>LRU</a:t>
            </a:r>
            <a:r>
              <a:rPr lang="zh-CN" altLang="en-US"/>
              <a:t>的淘汰策略，数据</a:t>
            </a:r>
            <a:r>
              <a:rPr lang="en-US" altLang="zh-CN"/>
              <a:t>B</a:t>
            </a:r>
            <a:r>
              <a:rPr lang="zh-CN" altLang="en-US"/>
              <a:t>被移出，缓存空间只保留了</a:t>
            </a:r>
            <a:r>
              <a:rPr lang="en-US" altLang="zh-CN"/>
              <a:t>D/A/C。</a:t>
            </a:r>
            <a:endParaRPr lang="en-US" altLang="zh-CN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44880" y="3264535"/>
            <a:ext cx="9298940" cy="2693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LRU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10022840" cy="474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317490" y="1318895"/>
            <a:ext cx="5152390" cy="44818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00125" y="168846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一般而言，</a:t>
            </a:r>
            <a:r>
              <a:rPr lang="en-US" altLang="zh-CN"/>
              <a:t>LRU</a:t>
            </a:r>
            <a:r>
              <a:rPr lang="zh-CN" altLang="en-US"/>
              <a:t>算法的数据结构不会如</a:t>
            </a:r>
            <a:r>
              <a:rPr lang="zh-CN" altLang="en-US"/>
              <a:t>刚刚那样，仅使用简单的队列或链表去缓存数据，而是会采用</a:t>
            </a:r>
            <a:r>
              <a:rPr lang="en-US" altLang="zh-CN"/>
              <a:t>Hash</a:t>
            </a:r>
            <a:r>
              <a:rPr lang="zh-CN" altLang="en-US"/>
              <a:t>表 + 双向链表的结构，利用</a:t>
            </a:r>
            <a:r>
              <a:rPr lang="en-US" altLang="zh-CN"/>
              <a:t>Hash</a:t>
            </a:r>
            <a:r>
              <a:rPr lang="zh-CN" altLang="en-US"/>
              <a:t>表确保数据查找的时间复杂度是</a:t>
            </a:r>
            <a:r>
              <a:rPr lang="en-US" altLang="zh-CN"/>
              <a:t>O(1)，</a:t>
            </a:r>
            <a:r>
              <a:rPr lang="zh-CN" altLang="en-US"/>
              <a:t>双向链表又可以使数据插入/删除等操作也是</a:t>
            </a:r>
            <a:r>
              <a:rPr lang="en-US" altLang="zh-CN"/>
              <a:t>O(1)。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LRU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10022840" cy="2221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传统 </a:t>
            </a:r>
            <a:r>
              <a:rPr lang="en-US" altLang="zh-CN"/>
              <a:t>LRU </a:t>
            </a:r>
            <a:r>
              <a:rPr lang="zh-CN" altLang="en-US"/>
              <a:t>算法的实现是基于链表结构，链表中的元素按照操作顺序从前往后排列，最新操作的键会被移动到表头，当需要内存淘汰时，只需要删除链表尾部的元素即可，因为链表尾部的元素就代表最久未被使用的元素。</a:t>
            </a:r>
            <a:endParaRPr lang="zh-CN" altLang="en-US"/>
          </a:p>
          <a:p>
            <a:pPr indent="457200"/>
            <a:r>
              <a:rPr lang="en-US" altLang="zh-CN"/>
              <a:t>Redis </a:t>
            </a:r>
            <a:r>
              <a:rPr lang="zh-CN" altLang="en-US"/>
              <a:t>并没有使用这样的方式实现 </a:t>
            </a:r>
            <a:r>
              <a:rPr lang="en-US" altLang="zh-CN"/>
              <a:t>LRU </a:t>
            </a:r>
            <a:r>
              <a:rPr lang="zh-CN" altLang="en-US"/>
              <a:t>算法，因为传统的 </a:t>
            </a:r>
            <a:r>
              <a:rPr lang="en-US" altLang="zh-CN"/>
              <a:t>LRU </a:t>
            </a:r>
            <a:r>
              <a:rPr lang="zh-CN" altLang="en-US"/>
              <a:t>算法存在两个问题:</a:t>
            </a:r>
            <a:endParaRPr lang="zh-CN" altLang="en-US"/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/>
              <a:t>需要用链表管理所有的缓存数据，这会带来额外的空间开销;.</a:t>
            </a:r>
            <a:endParaRPr lang="zh-CN" altLang="en-US"/>
          </a:p>
          <a:p>
            <a:pPr marL="742950" lvl="1" indent="-285750">
              <a:buFont typeface="Wingdings" panose="05000000000000000000" charset="0"/>
              <a:buChar char="l"/>
            </a:pPr>
            <a:r>
              <a:rPr lang="zh-CN" altLang="en-US"/>
              <a:t>当有数据被访问时，需要在链表上把该数据移动到头端，如果有大量数据被访问，就会带来很多链表移动操作，会很耗时，进而会降低 </a:t>
            </a:r>
            <a:r>
              <a:rPr lang="en-US" altLang="zh-CN"/>
              <a:t>Redis </a:t>
            </a:r>
            <a:r>
              <a:rPr lang="zh-CN" altLang="en-US"/>
              <a:t>缓存性能。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LFU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10022840" cy="474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LFU </a:t>
            </a:r>
            <a:r>
              <a:rPr lang="zh-CN" altLang="en-US"/>
              <a:t>全称是 </a:t>
            </a:r>
            <a:r>
              <a:rPr lang="en-US" altLang="zh-CN"/>
              <a:t>Least Frequently Used </a:t>
            </a:r>
            <a:r>
              <a:rPr lang="zh-CN" altLang="en-US"/>
              <a:t>翻译为最近最不常用，</a:t>
            </a:r>
            <a:r>
              <a:rPr lang="en-US" altLang="zh-CN"/>
              <a:t>LFU </a:t>
            </a:r>
            <a:r>
              <a:rPr lang="zh-CN" altLang="en-US"/>
              <a:t>算法是根据数据访问次数来淘汰数据的，它的核心思想是“如果数据过去被访问多次，那么将来被访问的频率也更高”。</a:t>
            </a:r>
            <a:endParaRPr lang="zh-CN" altLang="en-US"/>
          </a:p>
          <a:p>
            <a:r>
              <a:rPr lang="zh-CN" altLang="en-US"/>
              <a:t>所以， </a:t>
            </a:r>
            <a:r>
              <a:rPr lang="en-US" altLang="zh-CN"/>
              <a:t>LFU </a:t>
            </a:r>
            <a:r>
              <a:rPr lang="zh-CN" altLang="en-US"/>
              <a:t>算法会记录每个数据的访问次数。当一个数据被再次访问时，就会增加该数据的访问次数。这样就解决了偶尔被访问一次之后，数据留存在缓存中很长一段时间的问题，相比于 </a:t>
            </a:r>
            <a:r>
              <a:rPr lang="en-US" altLang="zh-CN"/>
              <a:t>LRU </a:t>
            </a:r>
            <a:r>
              <a:rPr lang="zh-CN" altLang="en-US"/>
              <a:t>算法也更合理一些。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LFU</a:t>
            </a:r>
            <a:r>
              <a:rPr lang="zh-CN" altLang="en-US"/>
              <a:t>算法的实现没有使用额外的数据结构，复用了</a:t>
            </a:r>
            <a:r>
              <a:rPr lang="en-US" altLang="zh-CN"/>
              <a:t>redisObject</a:t>
            </a:r>
            <a:r>
              <a:rPr lang="zh-CN" altLang="en-US"/>
              <a:t>数据结构的</a:t>
            </a:r>
            <a:r>
              <a:rPr lang="en-US" altLang="zh-CN"/>
              <a:t>lru</a:t>
            </a:r>
            <a:r>
              <a:rPr lang="zh-CN" altLang="en-US"/>
              <a:t>字段，把这24</a:t>
            </a:r>
            <a:r>
              <a:rPr lang="en-US" altLang="zh-CN"/>
              <a:t>bit</a:t>
            </a:r>
            <a:r>
              <a:rPr lang="zh-CN" altLang="en-US"/>
              <a:t>空间拆分成两部分去使用。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LFU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10022840" cy="474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 </a:t>
            </a:r>
            <a:r>
              <a:rPr lang="en-US" altLang="zh-CN"/>
              <a:t>LRU </a:t>
            </a:r>
            <a:r>
              <a:rPr lang="zh-CN" altLang="en-US"/>
              <a:t>算法中，</a:t>
            </a:r>
            <a:r>
              <a:rPr lang="en-US" altLang="zh-CN"/>
              <a:t>Redis </a:t>
            </a:r>
            <a:r>
              <a:rPr lang="zh-CN" altLang="en-US"/>
              <a:t>对象头的 24 </a:t>
            </a:r>
            <a:r>
              <a:rPr lang="en-US" altLang="zh-CN"/>
              <a:t>bits </a:t>
            </a:r>
            <a:r>
              <a:rPr lang="zh-CN" altLang="en-US"/>
              <a:t>的 </a:t>
            </a:r>
            <a:r>
              <a:rPr lang="en-US" altLang="zh-CN"/>
              <a:t>lru </a:t>
            </a:r>
            <a:r>
              <a:rPr lang="zh-CN" altLang="en-US"/>
              <a:t>字段是用来记录 </a:t>
            </a:r>
            <a:r>
              <a:rPr lang="en-US" altLang="zh-CN"/>
              <a:t>key </a:t>
            </a:r>
            <a:r>
              <a:rPr lang="zh-CN" altLang="en-US"/>
              <a:t>的访问时间戳，因此在 </a:t>
            </a:r>
            <a:r>
              <a:rPr lang="en-US" altLang="zh-CN"/>
              <a:t>LRU </a:t>
            </a:r>
            <a:r>
              <a:rPr lang="zh-CN" altLang="en-US"/>
              <a:t>模式下</a:t>
            </a:r>
            <a:r>
              <a:rPr lang="en-US" altLang="zh-CN"/>
              <a:t>Redis</a:t>
            </a:r>
            <a:r>
              <a:rPr lang="zh-CN" altLang="en-US"/>
              <a:t>可以根据对象头中的 </a:t>
            </a:r>
            <a:r>
              <a:rPr lang="en-US" altLang="zh-CN"/>
              <a:t>lru </a:t>
            </a:r>
            <a:r>
              <a:rPr lang="zh-CN" altLang="en-US"/>
              <a:t>字段记录的值，来比较最后一次 </a:t>
            </a:r>
            <a:r>
              <a:rPr lang="en-US" altLang="zh-CN"/>
              <a:t>key </a:t>
            </a:r>
            <a:r>
              <a:rPr lang="zh-CN" altLang="en-US"/>
              <a:t>的访问时间长，从而淘汰最久未被使用的 </a:t>
            </a:r>
            <a:r>
              <a:rPr lang="en-US" altLang="zh-CN"/>
              <a:t>key。</a:t>
            </a:r>
            <a:endParaRPr lang="en-US" altLang="zh-CN"/>
          </a:p>
          <a:p>
            <a:r>
              <a:rPr lang="zh-CN" altLang="en-US"/>
              <a:t>在 </a:t>
            </a:r>
            <a:r>
              <a:rPr lang="en-US" altLang="zh-CN"/>
              <a:t>LFU </a:t>
            </a:r>
            <a:r>
              <a:rPr lang="zh-CN" altLang="en-US"/>
              <a:t>算法中，</a:t>
            </a:r>
            <a:r>
              <a:rPr lang="en-US" altLang="zh-CN"/>
              <a:t>Redis</a:t>
            </a:r>
            <a:r>
              <a:rPr lang="zh-CN" altLang="en-US"/>
              <a:t>对象头的 24 </a:t>
            </a:r>
            <a:r>
              <a:rPr lang="en-US" altLang="zh-CN"/>
              <a:t>bits </a:t>
            </a:r>
            <a:r>
              <a:rPr lang="zh-CN" altLang="en-US"/>
              <a:t>的</a:t>
            </a:r>
            <a:r>
              <a:rPr lang="en-US" altLang="zh-CN"/>
              <a:t>lru </a:t>
            </a:r>
            <a:r>
              <a:rPr lang="zh-CN" altLang="en-US"/>
              <a:t>字段被分成两段来存储，高 16</a:t>
            </a:r>
            <a:r>
              <a:rPr lang="en-US" altLang="zh-CN"/>
              <a:t>bit </a:t>
            </a:r>
            <a:r>
              <a:rPr lang="zh-CN" altLang="en-US"/>
              <a:t>存储 </a:t>
            </a:r>
            <a:r>
              <a:rPr lang="en-US" altLang="zh-CN"/>
              <a:t>ldt(Last DecrementTime)，</a:t>
            </a:r>
            <a:r>
              <a:rPr lang="zh-CN" altLang="en-US"/>
              <a:t>低 8</a:t>
            </a:r>
            <a:r>
              <a:rPr lang="en-US" altLang="zh-CN"/>
              <a:t>bit </a:t>
            </a:r>
            <a:r>
              <a:rPr lang="zh-CN" altLang="en-US"/>
              <a:t>存储 </a:t>
            </a:r>
            <a:r>
              <a:rPr lang="en-US" altLang="zh-CN"/>
              <a:t>logc(Logistic Counter)。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LFU</a:t>
            </a:r>
            <a:r>
              <a:rPr lang="zh-CN" altLang="en-US"/>
              <a:t>算法相比于</a:t>
            </a:r>
            <a:r>
              <a:rPr lang="en-US" altLang="zh-CN"/>
              <a:t>LRU</a:t>
            </a:r>
            <a:r>
              <a:rPr lang="zh-CN" altLang="en-US"/>
              <a:t>算法的实现，多记录了数据的访问频次的信息，</a:t>
            </a:r>
            <a:r>
              <a:rPr lang="en-US" altLang="zh-CN"/>
              <a:t>Redis </a:t>
            </a:r>
            <a:r>
              <a:rPr lang="zh-CN" altLang="en-US"/>
              <a:t>对象的结构如下：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320" y="4027805"/>
            <a:ext cx="6286500" cy="1295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35" y="4027805"/>
            <a:ext cx="3048000" cy="1657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11783" y="942554"/>
            <a:ext cx="2688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0619" y="423896"/>
            <a:ext cx="0" cy="732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 txBox="1"/>
          <p:nvPr/>
        </p:nvSpPr>
        <p:spPr>
          <a:xfrm>
            <a:off x="841375" y="478155"/>
            <a:ext cx="2898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LFU</a:t>
            </a:r>
            <a:r>
              <a:rPr lang="zh-CN" altLang="en-US" sz="2000" dirty="0">
                <a:latin typeface="Times New Roman" panose="02020603050405020304"/>
                <a:ea typeface="微软雅黑" panose="020B0503020204020204" pitchFamily="34" charset="-122"/>
                <a:sym typeface="Times New Roman" panose="02020603050405020304"/>
              </a:rPr>
              <a:t>算法</a:t>
            </a:r>
            <a:endParaRPr lang="zh-CN" altLang="en-US" sz="2000" dirty="0">
              <a:latin typeface="Times New Roman" panose="02020603050405020304"/>
              <a:ea typeface="微软雅黑" panose="020B0503020204020204" pitchFamily="34" charset="-122"/>
              <a:sym typeface="Times New Roman" panose="02020603050405020304"/>
            </a:endParaRPr>
          </a:p>
        </p:txBody>
      </p:sp>
      <p:sp>
        <p:nvSpPr>
          <p:cNvPr id="11" name="矩形 10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<p:cNvSpPr/>
          <p:nvPr/>
        </p:nvSpPr>
        <p:spPr>
          <a:xfrm>
            <a:off x="2684512" y="883714"/>
            <a:ext cx="117680" cy="117680"/>
          </a:xfrm>
          <a:prstGeom prst="rect">
            <a:avLst/>
          </a:prstGeom>
          <a:solidFill>
            <a:schemeClr val="tx1"/>
          </a:solidFill>
          <a:ln w="19050">
            <a:solidFill>
              <a:srgbClr val="1135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13556"/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0125" y="1541780"/>
            <a:ext cx="10022840" cy="474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LFU</a:t>
            </a:r>
            <a:r>
              <a:rPr lang="zh-CN" altLang="en-US" sz="2400" b="1"/>
              <a:t>算法为了解决</a:t>
            </a:r>
            <a:r>
              <a:rPr lang="en-US" altLang="zh-CN" sz="2400" b="1"/>
              <a:t>LRU</a:t>
            </a:r>
            <a:r>
              <a:rPr lang="zh-CN" altLang="en-US" sz="2400" b="1"/>
              <a:t>算法的短板：</a:t>
            </a:r>
            <a:endParaRPr lang="en-US" altLang="zh-CN"/>
          </a:p>
          <a:p>
            <a:r>
              <a:rPr lang="en-US" altLang="zh-CN"/>
              <a:t>LRU </a:t>
            </a:r>
            <a:r>
              <a:rPr lang="zh-CN" altLang="en-US"/>
              <a:t>只看最近访问时间，不关心访问频次，会出现两类不合理淘汰场景：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场景 1：冷门但长期偶尔访问的数据被误删</a:t>
            </a:r>
            <a:endParaRPr lang="zh-CN" altLang="en-US"/>
          </a:p>
          <a:p>
            <a:r>
              <a:rPr lang="zh-CN" altLang="en-US"/>
              <a:t>假设有两类 </a:t>
            </a:r>
            <a:r>
              <a:rPr lang="en-US" altLang="zh-CN"/>
              <a:t>key：</a:t>
            </a:r>
            <a:endParaRPr lang="en-US" altLang="zh-CN"/>
          </a:p>
          <a:p>
            <a:r>
              <a:rPr lang="en-US" altLang="zh-CN"/>
              <a:t>KeyA：</a:t>
            </a:r>
            <a:r>
              <a:rPr lang="zh-CN" altLang="en-US"/>
              <a:t>热点，每秒访问 1000 次，1 小时前刚访问过</a:t>
            </a:r>
            <a:endParaRPr lang="zh-CN" altLang="en-US"/>
          </a:p>
          <a:p>
            <a:r>
              <a:rPr lang="en-US" altLang="zh-CN"/>
              <a:t>KeyB：</a:t>
            </a:r>
            <a:r>
              <a:rPr lang="zh-CN" altLang="en-US"/>
              <a:t>冷数据，一天只访问 1 次，1 分钟前刚访问过</a:t>
            </a:r>
            <a:endParaRPr lang="zh-CN" altLang="en-US"/>
          </a:p>
          <a:p>
            <a:r>
              <a:rPr lang="zh-CN" altLang="en-US"/>
              <a:t>按照 </a:t>
            </a:r>
            <a:r>
              <a:rPr lang="en-US" altLang="zh-CN"/>
              <a:t>LRU </a:t>
            </a:r>
            <a:r>
              <a:rPr lang="zh-CN" altLang="en-US"/>
              <a:t>逻辑：</a:t>
            </a:r>
            <a:r>
              <a:rPr lang="en-US" altLang="zh-CN"/>
              <a:t>KeyB </a:t>
            </a:r>
            <a:r>
              <a:rPr lang="zh-CN" altLang="en-US"/>
              <a:t>更新时间更近，优先保留；内存不足时会把高频热点 </a:t>
            </a:r>
            <a:r>
              <a:rPr lang="en-US" altLang="zh-CN"/>
              <a:t>KeyA </a:t>
            </a:r>
            <a:r>
              <a:rPr lang="zh-CN" altLang="en-US"/>
              <a:t>淘汰。</a:t>
            </a:r>
            <a:endParaRPr lang="zh-CN" altLang="en-US"/>
          </a:p>
          <a:p>
            <a:r>
              <a:rPr lang="zh-CN" altLang="en-US"/>
              <a:t>业务上完全不合理：热点数据明明更有价值，却因为一小段时间没读写被清掉。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场景 2：一次性批量写入的短期热点污染缓存</a:t>
            </a:r>
            <a:endParaRPr lang="zh-CN" altLang="en-US"/>
          </a:p>
          <a:p>
            <a:r>
              <a:rPr lang="zh-CN" altLang="en-US"/>
              <a:t>批量导入一批临时数据，短时间疯狂访问，之后永久不再使用。</a:t>
            </a:r>
            <a:endParaRPr lang="zh-CN" altLang="en-US"/>
          </a:p>
          <a:p>
            <a:r>
              <a:rPr lang="en-US" altLang="zh-CN"/>
              <a:t>LRU </a:t>
            </a:r>
            <a:r>
              <a:rPr lang="zh-CN" altLang="en-US"/>
              <a:t>会把它们标记为 “最近访问”，长期占着缓存，把真正长期高频的业务 </a:t>
            </a:r>
            <a:r>
              <a:rPr lang="en-US" altLang="zh-CN"/>
              <a:t>key </a:t>
            </a:r>
            <a:r>
              <a:rPr lang="zh-CN" altLang="en-US"/>
              <a:t>挤出去，缓存命中率暴跌。</a:t>
            </a:r>
            <a:endParaRPr lang="zh-CN" altLang="en-US"/>
          </a:p>
          <a:p>
            <a:r>
              <a:rPr lang="zh-CN" altLang="en-US"/>
              <a:t>简单总结 </a:t>
            </a:r>
            <a:r>
              <a:rPr lang="en-US" altLang="zh-CN"/>
              <a:t>LRU </a:t>
            </a:r>
            <a:r>
              <a:rPr lang="zh-CN" altLang="en-US"/>
              <a:t>的缺陷：只看 “新不新”，不看 “火不火”。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014444" y="3133008"/>
            <a:ext cx="8163112" cy="117680"/>
            <a:chOff x="2445258" y="3544488"/>
            <a:chExt cx="8163112" cy="117680"/>
          </a:xfrm>
        </p:grpSpPr>
        <p:cxnSp>
          <p:nvCxnSpPr>
            <p:cNvPr id="4" name="直接连接符 3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CxnSpPr>
              <a:stCxn id="5" idx="3"/>
            </p:cNvCxnSpPr>
            <p:nvPr/>
          </p:nvCxnSpPr>
          <p:spPr>
            <a:xfrm>
              <a:off x="2562938" y="3603328"/>
              <a:ext cx="80454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 descr="e7d195523061f1c0e54b3b90bafc641a2c6a3468f1e1c48c196C252863776654156BCA400C374C1654BEED7D8BCC08FC1E667788D3926281AFF996C499852EA9603432850FCEF9F2176B30EAFBC4014F2DE0250BEE23B74C465669D789CCBE9E7560ADF01C6594699732AA7173D541DB259E862265450336B264C1248D2D4E88938D6931FBDCC0F0"/>
            <p:cNvSpPr/>
            <p:nvPr/>
          </p:nvSpPr>
          <p:spPr>
            <a:xfrm>
              <a:off x="2445258" y="3544488"/>
              <a:ext cx="117680" cy="1176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1135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13556"/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9357360" y="1828800"/>
            <a:ext cx="0" cy="3535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91341" y="363181"/>
            <a:ext cx="996817" cy="39571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28268" y="1776639"/>
            <a:ext cx="7105659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7200" dirty="0"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 panose="02020603050405020304"/>
              </a:rPr>
              <a:t>请</a:t>
            </a:r>
            <a:r>
              <a:rPr lang="zh-CN" altLang="en-US" sz="7200" dirty="0">
                <a:latin typeface="阿里巴巴普惠体 Light" pitchFamily="18" charset="-122"/>
                <a:ea typeface="阿里巴巴普惠体 Light" pitchFamily="18" charset="-122"/>
                <a:cs typeface="阿里巴巴普惠体 Light" pitchFamily="18" charset="-122"/>
                <a:sym typeface="Times New Roman" panose="02020603050405020304"/>
              </a:rPr>
              <a:t>批评指正</a:t>
            </a:r>
            <a:endParaRPr lang="zh-CN" altLang="en-US" sz="7200" dirty="0">
              <a:latin typeface="阿里巴巴普惠体 Light" pitchFamily="18" charset="-122"/>
              <a:ea typeface="阿里巴巴普惠体 Light" pitchFamily="18" charset="-122"/>
              <a:cs typeface="阿里巴巴普惠体 Light" pitchFamily="18" charset="-122"/>
              <a:sym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23185" y="3932538"/>
            <a:ext cx="4265404" cy="554006"/>
          </a:xfrm>
          <a:prstGeom prst="rect">
            <a:avLst/>
          </a:prstGeom>
        </p:spPr>
        <p:txBody>
          <a:bodyPr wrap="square" lIns="91448" tIns="45724" rIns="91448" bIns="45724">
            <a:spAutoFit/>
          </a:bodyPr>
          <a:lstStyle/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Chinese  companies  will no longer remain in the hard stage and they are also promoting a culture Chinese  companies  will no longer remain 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  <a:p>
            <a:pPr algn="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in the hard stage and they are also wang ling </a:t>
            </a:r>
            <a:r>
              <a:rPr lang="en-US" altLang="zh-CN" sz="100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yan</a:t>
            </a:r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 a culture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  <p:sp>
        <p:nvSpPr>
          <p:cNvPr id="17" name="PA-文本框 8"/>
          <p:cNvSpPr txBox="1"/>
          <p:nvPr>
            <p:custDataLst>
              <p:tags r:id="rId2"/>
            </p:custDataLst>
          </p:nvPr>
        </p:nvSpPr>
        <p:spPr>
          <a:xfrm>
            <a:off x="10041612" y="6002532"/>
            <a:ext cx="1909667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/>
                <a:ea typeface="微软雅黑" panose="020B0503020204020204" pitchFamily="34" charset="-122"/>
                <a:cs typeface="+mn-ea"/>
                <a:sym typeface="Times New Roman" panose="02020603050405020304"/>
              </a:rPr>
              <a:t>2026/06/26</a:t>
            </a:r>
            <a:endParaRPr lang="zh-CN" altLang="en-US" sz="1600" spc="3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/>
              <a:ea typeface="微软雅黑" panose="020B0503020204020204" pitchFamily="34" charset="-122"/>
              <a:cs typeface="+mn-ea"/>
              <a:sym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00"/>
                            </p:stCondLst>
                            <p:childTnLst>
                              <p:par>
                                <p:cTn id="2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6" grpId="0"/>
      <p:bldP spid="17" grpId="0"/>
    </p:bldLst>
  </p:timing>
</p:sld>
</file>

<file path=ppt/tags/tag1.xml><?xml version="1.0" encoding="utf-8"?>
<p:tagLst xmlns:p="http://schemas.openxmlformats.org/presentationml/2006/main">
  <p:tag name="PA" val="v4.3.3"/>
</p:tagLst>
</file>

<file path=ppt/tags/tag2.xml><?xml version="1.0" encoding="utf-8"?>
<p:tagLst xmlns:p="http://schemas.openxmlformats.org/presentationml/2006/main">
  <p:tag name="PA" val="v4.3.3"/>
</p:tagLst>
</file>

<file path=ppt/tags/tag3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4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5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6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7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8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9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0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1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2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3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4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5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6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7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8.xml><?xml version="1.0" encoding="utf-8"?>
<p:tagLst xmlns:p="http://schemas.openxmlformats.org/presentationml/2006/main">
  <p:tag name="KSO_WM_DIAGRAM_VIRTUALLY_FRAME" val="{&quot;height&quot;:344.3395275590551,&quot;left&quot;:543.9448031496063,&quot;top&quot;:112.29559055118109,&quot;width&quot;:266.6240157480314}"/>
</p:tagLst>
</file>

<file path=ppt/tags/tag19.xml><?xml version="1.0" encoding="utf-8"?>
<p:tagLst xmlns:p="http://schemas.openxmlformats.org/presentationml/2006/main">
  <p:tag name="PA" val="v4.3.3"/>
</p:tagLst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423jngt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5819</Words>
  <Application>WPS 演示</Application>
  <PresentationFormat>自定义</PresentationFormat>
  <Paragraphs>269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Times New Roman</vt:lpstr>
      <vt:lpstr>阿里巴巴普惠体 Light</vt:lpstr>
      <vt:lpstr>Calibri Light</vt:lpstr>
      <vt:lpstr>思源黑体</vt:lpstr>
      <vt:lpstr>黑体</vt:lpstr>
      <vt:lpstr>Arial Unicode MS</vt:lpstr>
      <vt:lpstr>KSOF4CF9F437</vt:lpstr>
      <vt:lpstr>Segoe Print</vt:lpstr>
      <vt:lpstr>Calibri</vt:lpstr>
      <vt:lpstr>Segoe UI Light</vt:lpstr>
      <vt:lpstr>Segoe UI</vt:lpstr>
      <vt:lpstr>Arial</vt:lpstr>
      <vt:lpstr>Open Sans</vt:lpstr>
      <vt:lpstr>Neris Thin</vt:lpstr>
      <vt:lpstr>汉仪中圆简</vt:lpstr>
      <vt:lpstr>Wingdings</vt:lpstr>
      <vt:lpstr>KSOF4CFA6896</vt:lpstr>
      <vt:lpstr>第一PPT，www.1ppt.com​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category>www.1ppt.com</cp:category>
  <cp:lastModifiedBy>魏正想</cp:lastModifiedBy>
  <cp:revision>51</cp:revision>
  <dcterms:created xsi:type="dcterms:W3CDTF">2023-03-12T12:35:00Z</dcterms:created>
  <dcterms:modified xsi:type="dcterms:W3CDTF">2026-06-24T14:05:30Z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B31F9207CB564F9683FA91C1993C75C6_12</vt:lpwstr>
  </property>
</Properties>
</file>